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custom-properties+xml" PartName="/docProps/custom.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custom-properties" Target="docProps/custom.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Lst>
  <p:sldSz cy="6858000" cx="12192000"/>
  <p:notesSz cx="6858000" cy="12192000"/>
  <p:embeddedFontLst>
    <p:embeddedFont>
      <p:font typeface="Liter"/>
      <p:regular r:id="rId18"/>
    </p:embeddedFont>
    <p:embeddedFont>
      <p:font typeface="EB Garamond"/>
      <p:regular r:id="rId19"/>
      <p:bold r:id="rId20"/>
      <p:italic r:id="rId21"/>
      <p:boldItalic r:id="rId22"/>
    </p:embeddedFont>
    <p:embeddedFont>
      <p:font typeface="Hedvig Letters Sans"/>
      <p:regular r:id="rId23"/>
    </p:embeddedFont>
    <p:embeddedFont>
      <p:font typeface="Quattrocento Sans"/>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iQxHhjSlST9ORNkLkwUKq3EkXE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EBGaramond-bold.fntdata"/><Relationship Id="rId22" Type="http://schemas.openxmlformats.org/officeDocument/2006/relationships/font" Target="fonts/EBGaramond-boldItalic.fntdata"/><Relationship Id="rId21" Type="http://schemas.openxmlformats.org/officeDocument/2006/relationships/font" Target="fonts/EBGaramond-italic.fntdata"/><Relationship Id="rId24" Type="http://schemas.openxmlformats.org/officeDocument/2006/relationships/font" Target="fonts/QuattrocentoSans-regular.fntdata"/><Relationship Id="rId23" Type="http://schemas.openxmlformats.org/officeDocument/2006/relationships/font" Target="fonts/HedvigLettersSans-regular.fntdata"/><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QuattrocentoSans-italic.fntdata"/><Relationship Id="rId25" Type="http://schemas.openxmlformats.org/officeDocument/2006/relationships/font" Target="fonts/QuattrocentoSans-bold.fntdata"/><Relationship Id="rId28" Type="http://customschemas.google.com/relationships/presentationmetadata" Target="metadata"/><Relationship Id="rId27" Type="http://schemas.openxmlformats.org/officeDocument/2006/relationships/font" Target="fonts/QuattrocentoSans-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font" Target="fonts/EBGaramond-regular.fntdata"/><Relationship Id="rId18" Type="http://schemas.openxmlformats.org/officeDocument/2006/relationships/font" Target="fonts/Liter-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914400"/>
            <a:ext cx="4572225" cy="4572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5791200"/>
            <a:ext cx="5486400" cy="54864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 name="Shape 8"/>
        <p:cNvGrpSpPr/>
        <p:nvPr/>
      </p:nvGrpSpPr>
      <p:grpSpPr>
        <a:xfrm>
          <a:off x="0" y="0"/>
          <a:ext cx="0" cy="0"/>
          <a:chOff x="0" y="0"/>
          <a:chExt cx="0" cy="0"/>
        </a:xfrm>
      </p:grpSpPr>
      <p:sp>
        <p:nvSpPr>
          <p:cNvPr id="9" name="Google Shape;9;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 name="Google Shape;10;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 name="Google Shape;11;p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b="0" i="0" lang="en-US" sz="1800" u="none" cap="none" strike="noStrike">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 name="Google Shape;27;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8" name="Google Shape;28;p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6" name="Google Shape;66;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67" name="Google Shape;67;p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7" name="Google Shape;117;p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18" name="Google Shape;118;p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 name="Google Shape;129;p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30" name="Google Shape;130;p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8" name="Google Shape;178;p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179" name="Google Shape;179;p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0" name="Shape 200"/>
        <p:cNvGrpSpPr/>
        <p:nvPr/>
      </p:nvGrpSpPr>
      <p:grpSpPr>
        <a:xfrm>
          <a:off x="0" y="0"/>
          <a:ext cx="0" cy="0"/>
          <a:chOff x="0" y="0"/>
          <a:chExt cx="0" cy="0"/>
        </a:xfrm>
      </p:grpSpPr>
      <p:sp>
        <p:nvSpPr>
          <p:cNvPr id="201" name="Google Shape;20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2" name="Google Shape;20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03" name="Google Shape;203;p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 name="Google Shape;214;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15" name="Google Shape;215;p8: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3" name="Shape 253"/>
        <p:cNvGrpSpPr/>
        <p:nvPr/>
      </p:nvGrpSpPr>
      <p:grpSpPr>
        <a:xfrm>
          <a:off x="0" y="0"/>
          <a:ext cx="0" cy="0"/>
          <a:chOff x="0" y="0"/>
          <a:chExt cx="0" cy="0"/>
        </a:xfrm>
      </p:grpSpPr>
      <p:sp>
        <p:nvSpPr>
          <p:cNvPr id="254" name="Google Shape;254;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55" name="Google Shape;255;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56" name="Google Shape;256;p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8" name="Shape 288"/>
        <p:cNvGrpSpPr/>
        <p:nvPr/>
      </p:nvGrpSpPr>
      <p:grpSpPr>
        <a:xfrm>
          <a:off x="0" y="0"/>
          <a:ext cx="0" cy="0"/>
          <a:chOff x="0" y="0"/>
          <a:chExt cx="0" cy="0"/>
        </a:xfrm>
      </p:grpSpPr>
      <p:sp>
        <p:nvSpPr>
          <p:cNvPr id="289" name="Google Shape;289;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0" name="Google Shape;290;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291" name="Google Shape;291;p10: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2" name="Google Shape;302;p1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03" name="Google Shape;303;p11: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0" name="Shape 360"/>
        <p:cNvGrpSpPr/>
        <p:nvPr/>
      </p:nvGrpSpPr>
      <p:grpSpPr>
        <a:xfrm>
          <a:off x="0" y="0"/>
          <a:ext cx="0" cy="0"/>
          <a:chOff x="0" y="0"/>
          <a:chExt cx="0" cy="0"/>
        </a:xfrm>
      </p:grpSpPr>
      <p:sp>
        <p:nvSpPr>
          <p:cNvPr id="361" name="Google Shape;361;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2" name="Google Shape;362;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63" name="Google Shape;363;p1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p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91" name="Google Shape;391;p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200">
              <a:solidFill>
                <a:schemeClr val="dk1"/>
              </a:solidFill>
              <a:latin typeface="Arial"/>
              <a:ea typeface="Arial"/>
              <a:cs typeface="Arial"/>
              <a:sym typeface="Arial"/>
            </a:endParaRPr>
          </a:p>
        </p:txBody>
      </p:sp>
      <p:sp>
        <p:nvSpPr>
          <p:cNvPr id="392" name="Google Shape;392;p1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fld id="{00000000-1234-1234-1234-123412341234}" type="slidenum">
              <a:rPr lang="en-US" sz="1800">
                <a:solidFill>
                  <a:schemeClr val="dk1"/>
                </a:solidFill>
                <a:latin typeface="Arial"/>
                <a:ea typeface="Arial"/>
                <a:cs typeface="Arial"/>
                <a:sym typeface="Arial"/>
              </a:rPr>
              <a:t>‹#›</a:t>
            </a:fld>
            <a:endParaRPr sz="1800">
              <a:solidFill>
                <a:schemeClr val="dk1"/>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6" name="Shape 6"/>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PTIST_MASTER">
  <p:cSld name="PPTIST_MASTER">
    <p:bg>
      <p:bgPr>
        <a:solidFill>
          <a:srgbClr val="FFFFFF"/>
        </a:solidFill>
      </p:bgPr>
    </p:bg>
    <p:spTree>
      <p:nvGrpSpPr>
        <p:cNvPr id="7" name="Shape 7"/>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 id="2147483650"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5.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6.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5EDF"/>
        </a:solidFill>
      </p:bgPr>
    </p:bg>
    <p:spTree>
      <p:nvGrpSpPr>
        <p:cNvPr id="12" name="Shape 12"/>
        <p:cNvGrpSpPr/>
        <p:nvPr/>
      </p:nvGrpSpPr>
      <p:grpSpPr>
        <a:xfrm>
          <a:off x="0" y="0"/>
          <a:ext cx="0" cy="0"/>
          <a:chOff x="0" y="0"/>
          <a:chExt cx="0" cy="0"/>
        </a:xfrm>
      </p:grpSpPr>
      <p:pic>
        <p:nvPicPr>
          <p:cNvPr descr="https://kimi-web-img.moonshot.cn/img/images.stockcake.com/b0a9adaadb95e124e55c56f772b8b1e23636bcbd.jpg" id="13" name="Google Shape;13;p1"/>
          <p:cNvPicPr preferRelativeResize="0"/>
          <p:nvPr/>
        </p:nvPicPr>
        <p:blipFill rotWithShape="1">
          <a:blip r:embed="rId3">
            <a:alphaModFix amt="30000"/>
          </a:blip>
          <a:srcRect b="21874" l="0" r="0" t="21875"/>
          <a:stretch/>
        </p:blipFill>
        <p:spPr>
          <a:xfrm>
            <a:off x="0" y="0"/>
            <a:ext cx="12192000" cy="6858000"/>
          </a:xfrm>
          <a:prstGeom prst="roundRect">
            <a:avLst>
              <a:gd fmla="val 0" name="adj"/>
            </a:avLst>
          </a:prstGeom>
          <a:noFill/>
          <a:ln>
            <a:noFill/>
          </a:ln>
        </p:spPr>
      </p:pic>
      <p:sp>
        <p:nvSpPr>
          <p:cNvPr id="14" name="Google Shape;14;p1"/>
          <p:cNvSpPr/>
          <p:nvPr/>
        </p:nvSpPr>
        <p:spPr>
          <a:xfrm>
            <a:off x="0" y="0"/>
            <a:ext cx="12192000" cy="6858000"/>
          </a:xfrm>
          <a:custGeom>
            <a:rect b="b" l="l" r="r" t="t"/>
            <a:pathLst>
              <a:path extrusionOk="0" h="6858000" w="12192000">
                <a:moveTo>
                  <a:pt x="0" y="0"/>
                </a:moveTo>
                <a:lnTo>
                  <a:pt x="12192000" y="0"/>
                </a:lnTo>
                <a:lnTo>
                  <a:pt x="12192000" y="6858000"/>
                </a:lnTo>
                <a:lnTo>
                  <a:pt x="0" y="6858000"/>
                </a:lnTo>
                <a:lnTo>
                  <a:pt x="0" y="0"/>
                </a:lnTo>
                <a:close/>
              </a:path>
            </a:pathLst>
          </a:custGeom>
          <a:gradFill>
            <a:gsLst>
              <a:gs pos="0">
                <a:srgbClr val="295EDF">
                  <a:alpha val="94901"/>
                </a:srgbClr>
              </a:gs>
              <a:gs pos="100000">
                <a:srgbClr val="0D1B4C">
                  <a:alpha val="97647"/>
                </a:srgbClr>
              </a:gs>
            </a:gsLst>
            <a:lin ang="2700000" scaled="0"/>
          </a:gradFill>
          <a:ln>
            <a:noFill/>
          </a:ln>
        </p:spPr>
      </p:sp>
      <p:sp>
        <p:nvSpPr>
          <p:cNvPr id="15" name="Google Shape;15;p1"/>
          <p:cNvSpPr/>
          <p:nvPr/>
        </p:nvSpPr>
        <p:spPr>
          <a:xfrm>
            <a:off x="5027712" y="476250"/>
            <a:ext cx="2133600" cy="504825"/>
          </a:xfrm>
          <a:custGeom>
            <a:rect b="b" l="l" r="r" t="t"/>
            <a:pathLst>
              <a:path extrusionOk="0" h="504825" w="2133600">
                <a:moveTo>
                  <a:pt x="252413" y="0"/>
                </a:moveTo>
                <a:lnTo>
                  <a:pt x="1881187" y="0"/>
                </a:lnTo>
                <a:cubicBezTo>
                  <a:pt x="2020498" y="0"/>
                  <a:pt x="2133600" y="113102"/>
                  <a:pt x="2133600" y="252413"/>
                </a:cubicBezTo>
                <a:lnTo>
                  <a:pt x="2133600" y="252413"/>
                </a:lnTo>
                <a:cubicBezTo>
                  <a:pt x="2133600" y="391723"/>
                  <a:pt x="2020498" y="504825"/>
                  <a:pt x="1881187" y="504825"/>
                </a:cubicBezTo>
                <a:lnTo>
                  <a:pt x="252413" y="504825"/>
                </a:lnTo>
                <a:cubicBezTo>
                  <a:pt x="113102" y="504825"/>
                  <a:pt x="0" y="391723"/>
                  <a:pt x="0" y="252413"/>
                </a:cubicBezTo>
                <a:lnTo>
                  <a:pt x="0" y="252413"/>
                </a:lnTo>
                <a:cubicBezTo>
                  <a:pt x="0" y="113102"/>
                  <a:pt x="113102" y="0"/>
                  <a:pt x="252412" y="0"/>
                </a:cubicBezTo>
                <a:close/>
              </a:path>
            </a:pathLst>
          </a:custGeom>
          <a:solidFill>
            <a:srgbClr val="FFFFFF">
              <a:alpha val="9803"/>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1"/>
          <p:cNvSpPr/>
          <p:nvPr/>
        </p:nvSpPr>
        <p:spPr>
          <a:xfrm>
            <a:off x="5218212" y="595313"/>
            <a:ext cx="1752600"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1" i="0" lang="en-US" sz="1350" u="none" cap="none" strike="noStrike">
                <a:solidFill>
                  <a:srgbClr val="FFFFFF"/>
                </a:solidFill>
                <a:latin typeface="Quattrocento Sans"/>
                <a:ea typeface="Quattrocento Sans"/>
                <a:cs typeface="Quattrocento Sans"/>
                <a:sym typeface="Quattrocento Sans"/>
              </a:rPr>
              <a:t>PROJECT PROPOSAL</a:t>
            </a:r>
            <a:endParaRPr b="0" i="0" sz="1600" u="none" cap="none" strike="noStrike">
              <a:solidFill>
                <a:schemeClr val="dk1"/>
              </a:solidFill>
              <a:latin typeface="Calibri"/>
              <a:ea typeface="Calibri"/>
              <a:cs typeface="Calibri"/>
              <a:sym typeface="Calibri"/>
            </a:endParaRPr>
          </a:p>
        </p:txBody>
      </p:sp>
      <p:sp>
        <p:nvSpPr>
          <p:cNvPr id="17" name="Google Shape;17;p1"/>
          <p:cNvSpPr/>
          <p:nvPr/>
        </p:nvSpPr>
        <p:spPr>
          <a:xfrm>
            <a:off x="2299681" y="1406421"/>
            <a:ext cx="7592637" cy="342900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en-US" sz="7200" u="none" cap="none" strike="noStrike">
                <a:solidFill>
                  <a:srgbClr val="FFFFFF"/>
                </a:solidFill>
                <a:latin typeface="Hedvig Letters Sans"/>
                <a:ea typeface="Hedvig Letters Sans"/>
                <a:cs typeface="Hedvig Letters Sans"/>
                <a:sym typeface="Hedvig Letters Sans"/>
              </a:rPr>
              <a:t>FPT</a:t>
            </a:r>
            <a:endParaRPr b="1" i="0" sz="1600" u="none" cap="none" strike="noStrike">
              <a:solidFill>
                <a:schemeClr val="dk1"/>
              </a:solidFill>
              <a:latin typeface="Calibri"/>
              <a:ea typeface="Calibri"/>
              <a:cs typeface="Calibri"/>
              <a:sym typeface="Calibri"/>
            </a:endParaRPr>
          </a:p>
          <a:p>
            <a:pPr indent="0" lvl="0" marL="0" marR="0" rtl="0" algn="ctr">
              <a:lnSpc>
                <a:spcPct val="100000"/>
              </a:lnSpc>
              <a:spcBef>
                <a:spcPts val="0"/>
              </a:spcBef>
              <a:spcAft>
                <a:spcPts val="0"/>
              </a:spcAft>
              <a:buNone/>
            </a:pPr>
            <a:r>
              <a:rPr b="1" i="0" lang="en-US" sz="7200" u="none" cap="none" strike="noStrike">
                <a:solidFill>
                  <a:srgbClr val="FFFFFF"/>
                </a:solidFill>
                <a:latin typeface="Hedvig Letters Sans"/>
                <a:ea typeface="Hedvig Letters Sans"/>
                <a:cs typeface="Hedvig Letters Sans"/>
                <a:sym typeface="Hedvig Letters Sans"/>
              </a:rPr>
              <a:t>STUDENT HUB</a:t>
            </a:r>
            <a:endParaRPr b="0" i="0" sz="1600" u="none" cap="none" strike="noStrike">
              <a:solidFill>
                <a:schemeClr val="dk1"/>
              </a:solidFill>
              <a:latin typeface="Calibri"/>
              <a:ea typeface="Calibri"/>
              <a:cs typeface="Calibri"/>
              <a:sym typeface="Calibri"/>
            </a:endParaRPr>
          </a:p>
        </p:txBody>
      </p:sp>
      <p:sp>
        <p:nvSpPr>
          <p:cNvPr id="18" name="Google Shape;18;p1"/>
          <p:cNvSpPr/>
          <p:nvPr/>
        </p:nvSpPr>
        <p:spPr>
          <a:xfrm>
            <a:off x="5486400" y="4948238"/>
            <a:ext cx="1219200" cy="38100"/>
          </a:xfrm>
          <a:custGeom>
            <a:rect b="b" l="l" r="r" t="t"/>
            <a:pathLst>
              <a:path extrusionOk="0" h="38100" w="1219200">
                <a:moveTo>
                  <a:pt x="19050" y="0"/>
                </a:moveTo>
                <a:lnTo>
                  <a:pt x="1200150" y="0"/>
                </a:lnTo>
                <a:cubicBezTo>
                  <a:pt x="1210664" y="0"/>
                  <a:pt x="1219200" y="8536"/>
                  <a:pt x="1219200" y="19050"/>
                </a:cubicBezTo>
                <a:lnTo>
                  <a:pt x="1219200" y="19050"/>
                </a:lnTo>
                <a:cubicBezTo>
                  <a:pt x="1219200" y="29564"/>
                  <a:pt x="1210664" y="38100"/>
                  <a:pt x="1200150" y="38100"/>
                </a:cubicBezTo>
                <a:lnTo>
                  <a:pt x="19050" y="38100"/>
                </a:lnTo>
                <a:cubicBezTo>
                  <a:pt x="8536" y="38100"/>
                  <a:pt x="0" y="29564"/>
                  <a:pt x="0" y="19050"/>
                </a:cubicBezTo>
                <a:lnTo>
                  <a:pt x="0" y="19050"/>
                </a:lnTo>
                <a:cubicBezTo>
                  <a:pt x="0" y="8536"/>
                  <a:pt x="8536" y="0"/>
                  <a:pt x="1905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2771924" y="5291138"/>
            <a:ext cx="6648450" cy="371475"/>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b="0" i="0" lang="en-US" sz="1800" u="none" cap="none" strike="noStrike">
                <a:solidFill>
                  <a:srgbClr val="FFFFFF"/>
                </a:solidFill>
                <a:latin typeface="Quattrocento Sans"/>
                <a:ea typeface="Quattrocento Sans"/>
                <a:cs typeface="Quattrocento Sans"/>
                <a:sym typeface="Quattrocento Sans"/>
              </a:rPr>
              <a:t>Dự án xây dựng cổng thông tin tích hợp cho sinh viên Đại học FPT</a:t>
            </a:r>
            <a:endParaRPr b="0" i="0" sz="1600" u="none" cap="none" strike="noStrike">
              <a:solidFill>
                <a:schemeClr val="dk1"/>
              </a:solidFill>
              <a:latin typeface="Calibri"/>
              <a:ea typeface="Calibri"/>
              <a:cs typeface="Calibri"/>
              <a:sym typeface="Calibri"/>
            </a:endParaRPr>
          </a:p>
        </p:txBody>
      </p:sp>
      <p:sp>
        <p:nvSpPr>
          <p:cNvPr id="20" name="Google Shape;20;p1"/>
          <p:cNvSpPr/>
          <p:nvPr/>
        </p:nvSpPr>
        <p:spPr>
          <a:xfrm>
            <a:off x="4902398" y="6176963"/>
            <a:ext cx="133350" cy="152400"/>
          </a:xfrm>
          <a:custGeom>
            <a:rect b="b" l="l" r="r" t="t"/>
            <a:pathLst>
              <a:path extrusionOk="0" h="152400" w="133350">
                <a:moveTo>
                  <a:pt x="38100" y="0"/>
                </a:moveTo>
                <a:cubicBezTo>
                  <a:pt x="32831" y="0"/>
                  <a:pt x="28575" y="4256"/>
                  <a:pt x="28575" y="9525"/>
                </a:cubicBezTo>
                <a:lnTo>
                  <a:pt x="28575" y="19050"/>
                </a:lnTo>
                <a:lnTo>
                  <a:pt x="19050" y="19050"/>
                </a:lnTo>
                <a:cubicBezTo>
                  <a:pt x="8543" y="19050"/>
                  <a:pt x="0" y="27593"/>
                  <a:pt x="0" y="38100"/>
                </a:cubicBezTo>
                <a:lnTo>
                  <a:pt x="0" y="52388"/>
                </a:lnTo>
                <a:lnTo>
                  <a:pt x="133350" y="52388"/>
                </a:lnTo>
                <a:lnTo>
                  <a:pt x="133350" y="38100"/>
                </a:lnTo>
                <a:cubicBezTo>
                  <a:pt x="133350" y="27593"/>
                  <a:pt x="124807" y="19050"/>
                  <a:pt x="114300" y="19050"/>
                </a:cubicBezTo>
                <a:lnTo>
                  <a:pt x="104775" y="19050"/>
                </a:lnTo>
                <a:lnTo>
                  <a:pt x="104775" y="9525"/>
                </a:lnTo>
                <a:cubicBezTo>
                  <a:pt x="104775" y="4256"/>
                  <a:pt x="100519" y="0"/>
                  <a:pt x="95250" y="0"/>
                </a:cubicBezTo>
                <a:cubicBezTo>
                  <a:pt x="89981" y="0"/>
                  <a:pt x="85725" y="4256"/>
                  <a:pt x="85725" y="9525"/>
                </a:cubicBezTo>
                <a:lnTo>
                  <a:pt x="85725" y="19050"/>
                </a:lnTo>
                <a:lnTo>
                  <a:pt x="47625" y="19050"/>
                </a:lnTo>
                <a:lnTo>
                  <a:pt x="47625" y="9525"/>
                </a:lnTo>
                <a:cubicBezTo>
                  <a:pt x="47625" y="4256"/>
                  <a:pt x="43369" y="0"/>
                  <a:pt x="38100" y="0"/>
                </a:cubicBezTo>
                <a:close/>
                <a:moveTo>
                  <a:pt x="0" y="66675"/>
                </a:moveTo>
                <a:lnTo>
                  <a:pt x="0" y="123825"/>
                </a:lnTo>
                <a:cubicBezTo>
                  <a:pt x="0" y="134332"/>
                  <a:pt x="8543" y="142875"/>
                  <a:pt x="19050" y="142875"/>
                </a:cubicBezTo>
                <a:lnTo>
                  <a:pt x="114300" y="142875"/>
                </a:lnTo>
                <a:cubicBezTo>
                  <a:pt x="124807" y="142875"/>
                  <a:pt x="133350" y="134332"/>
                  <a:pt x="133350" y="123825"/>
                </a:cubicBezTo>
                <a:lnTo>
                  <a:pt x="133350" y="66675"/>
                </a:lnTo>
                <a:lnTo>
                  <a:pt x="0" y="66675"/>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5097661" y="6119813"/>
            <a:ext cx="1066800"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January 2026</a:t>
            </a:r>
            <a:endParaRPr b="0" i="0" sz="1600" u="none" cap="none" strike="noStrike">
              <a:solidFill>
                <a:schemeClr val="dk1"/>
              </a:solidFill>
              <a:latin typeface="Calibri"/>
              <a:ea typeface="Calibri"/>
              <a:cs typeface="Calibri"/>
              <a:sym typeface="Calibri"/>
            </a:endParaRPr>
          </a:p>
        </p:txBody>
      </p:sp>
      <p:sp>
        <p:nvSpPr>
          <p:cNvPr id="22" name="Google Shape;22;p1"/>
          <p:cNvSpPr/>
          <p:nvPr/>
        </p:nvSpPr>
        <p:spPr>
          <a:xfrm>
            <a:off x="6269534" y="6138863"/>
            <a:ext cx="38100" cy="228600"/>
          </a:xfrm>
          <a:custGeom>
            <a:rect b="b" l="l" r="r" t="t"/>
            <a:pathLst>
              <a:path extrusionOk="0" h="228600" w="38100">
                <a:moveTo>
                  <a:pt x="19050" y="0"/>
                </a:moveTo>
                <a:lnTo>
                  <a:pt x="19050" y="0"/>
                </a:lnTo>
                <a:cubicBezTo>
                  <a:pt x="29564" y="0"/>
                  <a:pt x="38100" y="8536"/>
                  <a:pt x="38100" y="19050"/>
                </a:cubicBezTo>
                <a:lnTo>
                  <a:pt x="38100" y="209550"/>
                </a:lnTo>
                <a:cubicBezTo>
                  <a:pt x="38100" y="220064"/>
                  <a:pt x="29564" y="228600"/>
                  <a:pt x="19050" y="228600"/>
                </a:cubicBezTo>
                <a:lnTo>
                  <a:pt x="19050" y="228600"/>
                </a:lnTo>
                <a:cubicBezTo>
                  <a:pt x="8536" y="228600"/>
                  <a:pt x="0" y="220064"/>
                  <a:pt x="0" y="209550"/>
                </a:cubicBezTo>
                <a:lnTo>
                  <a:pt x="0" y="19050"/>
                </a:lnTo>
                <a:cubicBezTo>
                  <a:pt x="0" y="8536"/>
                  <a:pt x="8536" y="0"/>
                  <a:pt x="19050" y="0"/>
                </a:cubicBezTo>
                <a:close/>
              </a:path>
            </a:pathLst>
          </a:custGeom>
          <a:solidFill>
            <a:srgbClr val="FFFFFF">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 name="Google Shape;23;p1"/>
          <p:cNvSpPr/>
          <p:nvPr/>
        </p:nvSpPr>
        <p:spPr>
          <a:xfrm>
            <a:off x="6460034" y="6176963"/>
            <a:ext cx="190500" cy="152400"/>
          </a:xfrm>
          <a:custGeom>
            <a:rect b="b" l="l" r="r" t="t"/>
            <a:pathLst>
              <a:path extrusionOk="0" h="152400" w="190500">
                <a:moveTo>
                  <a:pt x="95250" y="4763"/>
                </a:moveTo>
                <a:cubicBezTo>
                  <a:pt x="112335" y="4763"/>
                  <a:pt x="126206" y="18634"/>
                  <a:pt x="126206" y="35719"/>
                </a:cubicBezTo>
                <a:cubicBezTo>
                  <a:pt x="126206" y="52804"/>
                  <a:pt x="112335" y="66675"/>
                  <a:pt x="95250" y="66675"/>
                </a:cubicBezTo>
                <a:cubicBezTo>
                  <a:pt x="78165" y="66675"/>
                  <a:pt x="64294" y="52804"/>
                  <a:pt x="64294" y="35719"/>
                </a:cubicBezTo>
                <a:cubicBezTo>
                  <a:pt x="64294" y="18634"/>
                  <a:pt x="78165" y="4763"/>
                  <a:pt x="95250" y="4763"/>
                </a:cubicBezTo>
                <a:close/>
                <a:moveTo>
                  <a:pt x="28575" y="26194"/>
                </a:moveTo>
                <a:cubicBezTo>
                  <a:pt x="40403" y="26194"/>
                  <a:pt x="50006" y="35797"/>
                  <a:pt x="50006" y="47625"/>
                </a:cubicBezTo>
                <a:cubicBezTo>
                  <a:pt x="50006" y="59453"/>
                  <a:pt x="40403" y="69056"/>
                  <a:pt x="28575" y="69056"/>
                </a:cubicBezTo>
                <a:cubicBezTo>
                  <a:pt x="16747" y="69056"/>
                  <a:pt x="7144" y="59453"/>
                  <a:pt x="7144" y="47625"/>
                </a:cubicBezTo>
                <a:cubicBezTo>
                  <a:pt x="7144" y="35797"/>
                  <a:pt x="16747" y="26194"/>
                  <a:pt x="28575" y="26194"/>
                </a:cubicBezTo>
                <a:close/>
                <a:moveTo>
                  <a:pt x="0" y="123825"/>
                </a:moveTo>
                <a:cubicBezTo>
                  <a:pt x="0" y="102781"/>
                  <a:pt x="17056" y="85725"/>
                  <a:pt x="38100" y="85725"/>
                </a:cubicBezTo>
                <a:cubicBezTo>
                  <a:pt x="41910" y="85725"/>
                  <a:pt x="45601" y="86291"/>
                  <a:pt x="49084" y="87332"/>
                </a:cubicBezTo>
                <a:cubicBezTo>
                  <a:pt x="39291" y="98286"/>
                  <a:pt x="33338" y="112752"/>
                  <a:pt x="33338" y="128588"/>
                </a:cubicBezTo>
                <a:lnTo>
                  <a:pt x="33338" y="133350"/>
                </a:lnTo>
                <a:cubicBezTo>
                  <a:pt x="33338" y="136743"/>
                  <a:pt x="34052" y="139958"/>
                  <a:pt x="35332" y="142875"/>
                </a:cubicBezTo>
                <a:lnTo>
                  <a:pt x="9525" y="142875"/>
                </a:lnTo>
                <a:cubicBezTo>
                  <a:pt x="4256" y="142875"/>
                  <a:pt x="0" y="138619"/>
                  <a:pt x="0" y="133350"/>
                </a:cubicBezTo>
                <a:lnTo>
                  <a:pt x="0" y="123825"/>
                </a:lnTo>
                <a:close/>
                <a:moveTo>
                  <a:pt x="155168" y="142875"/>
                </a:moveTo>
                <a:cubicBezTo>
                  <a:pt x="156448" y="139958"/>
                  <a:pt x="157163" y="136743"/>
                  <a:pt x="157163" y="133350"/>
                </a:cubicBezTo>
                <a:lnTo>
                  <a:pt x="157163" y="128588"/>
                </a:lnTo>
                <a:cubicBezTo>
                  <a:pt x="157163" y="112752"/>
                  <a:pt x="151209" y="98286"/>
                  <a:pt x="141416" y="87332"/>
                </a:cubicBezTo>
                <a:cubicBezTo>
                  <a:pt x="144899" y="86291"/>
                  <a:pt x="148590" y="85725"/>
                  <a:pt x="152400" y="85725"/>
                </a:cubicBezTo>
                <a:cubicBezTo>
                  <a:pt x="173444" y="85725"/>
                  <a:pt x="190500" y="102781"/>
                  <a:pt x="190500" y="123825"/>
                </a:cubicBezTo>
                <a:lnTo>
                  <a:pt x="190500" y="133350"/>
                </a:lnTo>
                <a:cubicBezTo>
                  <a:pt x="190500" y="138619"/>
                  <a:pt x="186244" y="142875"/>
                  <a:pt x="180975" y="142875"/>
                </a:cubicBezTo>
                <a:lnTo>
                  <a:pt x="155168" y="142875"/>
                </a:lnTo>
                <a:close/>
                <a:moveTo>
                  <a:pt x="140494" y="47625"/>
                </a:moveTo>
                <a:cubicBezTo>
                  <a:pt x="140494" y="35797"/>
                  <a:pt x="150097" y="26194"/>
                  <a:pt x="161925" y="26194"/>
                </a:cubicBezTo>
                <a:cubicBezTo>
                  <a:pt x="173753" y="26194"/>
                  <a:pt x="183356" y="35797"/>
                  <a:pt x="183356" y="47625"/>
                </a:cubicBezTo>
                <a:cubicBezTo>
                  <a:pt x="183356" y="59453"/>
                  <a:pt x="173753" y="69056"/>
                  <a:pt x="161925" y="69056"/>
                </a:cubicBezTo>
                <a:cubicBezTo>
                  <a:pt x="150097" y="69056"/>
                  <a:pt x="140494" y="59453"/>
                  <a:pt x="140494" y="47625"/>
                </a:cubicBezTo>
                <a:close/>
                <a:moveTo>
                  <a:pt x="47625" y="128588"/>
                </a:moveTo>
                <a:cubicBezTo>
                  <a:pt x="47625" y="102275"/>
                  <a:pt x="68937" y="80962"/>
                  <a:pt x="95250" y="80962"/>
                </a:cubicBezTo>
                <a:cubicBezTo>
                  <a:pt x="121563" y="80962"/>
                  <a:pt x="142875" y="102275"/>
                  <a:pt x="142875" y="128588"/>
                </a:cubicBezTo>
                <a:lnTo>
                  <a:pt x="142875" y="133350"/>
                </a:lnTo>
                <a:cubicBezTo>
                  <a:pt x="142875" y="138619"/>
                  <a:pt x="138619" y="142875"/>
                  <a:pt x="133350" y="142875"/>
                </a:cubicBezTo>
                <a:lnTo>
                  <a:pt x="57150" y="142875"/>
                </a:lnTo>
                <a:cubicBezTo>
                  <a:pt x="51881" y="142875"/>
                  <a:pt x="47625" y="138619"/>
                  <a:pt x="47625" y="133350"/>
                </a:cubicBezTo>
                <a:lnTo>
                  <a:pt x="47625" y="128588"/>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1"/>
          <p:cNvSpPr/>
          <p:nvPr/>
        </p:nvSpPr>
        <p:spPr>
          <a:xfrm>
            <a:off x="6683871" y="6119813"/>
            <a:ext cx="676275" cy="2667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b="0" i="0" lang="en-US" sz="1350" u="none" cap="none" strike="noStrike">
                <a:solidFill>
                  <a:srgbClr val="FFFFFF"/>
                </a:solidFill>
                <a:latin typeface="Quattrocento Sans"/>
                <a:ea typeface="Quattrocento Sans"/>
                <a:cs typeface="Quattrocento Sans"/>
                <a:sym typeface="Quattrocento Sans"/>
              </a:rPr>
              <a:t>Nhóm 3</a:t>
            </a:r>
            <a:endParaRPr b="0" i="0" sz="1600" u="none" cap="none" strike="noStrike">
              <a:solidFill>
                <a:schemeClr val="dk1"/>
              </a:solidFill>
              <a:latin typeface="Calibri"/>
              <a:ea typeface="Calibri"/>
              <a:cs typeface="Calibri"/>
              <a:sym typeface="Calibri"/>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9" name="Shape 29"/>
        <p:cNvGrpSpPr/>
        <p:nvPr/>
      </p:nvGrpSpPr>
      <p:grpSpPr>
        <a:xfrm>
          <a:off x="0" y="0"/>
          <a:ext cx="0" cy="0"/>
          <a:chOff x="0" y="0"/>
          <a:chExt cx="0" cy="0"/>
        </a:xfrm>
      </p:grpSpPr>
      <p:sp>
        <p:nvSpPr>
          <p:cNvPr id="30" name="Google Shape;30;p2"/>
          <p:cNvSpPr/>
          <p:nvPr/>
        </p:nvSpPr>
        <p:spPr>
          <a:xfrm>
            <a:off x="381000" y="1354931"/>
            <a:ext cx="44672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295EDF"/>
                </a:solidFill>
                <a:latin typeface="EB Garamond"/>
                <a:ea typeface="EB Garamond"/>
                <a:cs typeface="EB Garamond"/>
                <a:sym typeface="EB Garamond"/>
              </a:rPr>
              <a:t>OVERVIEW</a:t>
            </a:r>
            <a:endParaRPr sz="1600">
              <a:solidFill>
                <a:schemeClr val="dk1"/>
              </a:solidFill>
              <a:latin typeface="EB Garamond"/>
              <a:ea typeface="EB Garamond"/>
              <a:cs typeface="EB Garamond"/>
              <a:sym typeface="EB Garamond"/>
            </a:endParaRPr>
          </a:p>
        </p:txBody>
      </p:sp>
      <p:sp>
        <p:nvSpPr>
          <p:cNvPr id="31" name="Google Shape;31;p2"/>
          <p:cNvSpPr/>
          <p:nvPr/>
        </p:nvSpPr>
        <p:spPr>
          <a:xfrm>
            <a:off x="381000" y="1697831"/>
            <a:ext cx="4848225" cy="22860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7200">
                <a:solidFill>
                  <a:srgbClr val="0D1B4C"/>
                </a:solidFill>
                <a:latin typeface="EB Garamond"/>
                <a:ea typeface="EB Garamond"/>
                <a:cs typeface="EB Garamond"/>
                <a:sym typeface="EB Garamond"/>
              </a:rPr>
              <a:t>Nội</a:t>
            </a:r>
            <a:endParaRPr sz="1600">
              <a:solidFill>
                <a:schemeClr val="dk1"/>
              </a:solidFill>
              <a:latin typeface="EB Garamond"/>
              <a:ea typeface="EB Garamond"/>
              <a:cs typeface="EB Garamond"/>
              <a:sym typeface="EB Garamond"/>
            </a:endParaRPr>
          </a:p>
          <a:p>
            <a:pPr indent="0" lvl="0" marL="0" marR="0" rtl="0" algn="l">
              <a:lnSpc>
                <a:spcPct val="100000"/>
              </a:lnSpc>
              <a:spcBef>
                <a:spcPts val="0"/>
              </a:spcBef>
              <a:spcAft>
                <a:spcPts val="0"/>
              </a:spcAft>
              <a:buNone/>
            </a:pPr>
            <a:r>
              <a:rPr b="1" lang="en-US" sz="7200">
                <a:solidFill>
                  <a:srgbClr val="0D1B4C"/>
                </a:solidFill>
                <a:latin typeface="EB Garamond"/>
                <a:ea typeface="EB Garamond"/>
                <a:cs typeface="EB Garamond"/>
                <a:sym typeface="EB Garamond"/>
              </a:rPr>
              <a:t>dung</a:t>
            </a:r>
            <a:endParaRPr sz="1600">
              <a:solidFill>
                <a:schemeClr val="dk1"/>
              </a:solidFill>
              <a:latin typeface="EB Garamond"/>
              <a:ea typeface="EB Garamond"/>
              <a:cs typeface="EB Garamond"/>
              <a:sym typeface="EB Garamond"/>
            </a:endParaRPr>
          </a:p>
        </p:txBody>
      </p:sp>
      <p:sp>
        <p:nvSpPr>
          <p:cNvPr id="32" name="Google Shape;32;p2"/>
          <p:cNvSpPr/>
          <p:nvPr/>
        </p:nvSpPr>
        <p:spPr>
          <a:xfrm>
            <a:off x="381000" y="4212431"/>
            <a:ext cx="914400" cy="57150"/>
          </a:xfrm>
          <a:custGeom>
            <a:rect b="b" l="l" r="r" t="t"/>
            <a:pathLst>
              <a:path extrusionOk="0" h="57150" w="914400">
                <a:moveTo>
                  <a:pt x="28575" y="0"/>
                </a:moveTo>
                <a:lnTo>
                  <a:pt x="885825" y="0"/>
                </a:lnTo>
                <a:cubicBezTo>
                  <a:pt x="901596" y="0"/>
                  <a:pt x="914400" y="12804"/>
                  <a:pt x="914400" y="28575"/>
                </a:cubicBezTo>
                <a:lnTo>
                  <a:pt x="914400" y="28575"/>
                </a:lnTo>
                <a:cubicBezTo>
                  <a:pt x="914400" y="44346"/>
                  <a:pt x="901596" y="57150"/>
                  <a:pt x="885825" y="57150"/>
                </a:cubicBezTo>
                <a:lnTo>
                  <a:pt x="28575" y="57150"/>
                </a:lnTo>
                <a:cubicBezTo>
                  <a:pt x="12804" y="57150"/>
                  <a:pt x="0" y="44346"/>
                  <a:pt x="0" y="28575"/>
                </a:cubicBezTo>
                <a:lnTo>
                  <a:pt x="0" y="28575"/>
                </a:lnTo>
                <a:cubicBezTo>
                  <a:pt x="0" y="12804"/>
                  <a:pt x="12804" y="0"/>
                  <a:pt x="28575"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3" name="Google Shape;33;p2"/>
          <p:cNvSpPr/>
          <p:nvPr/>
        </p:nvSpPr>
        <p:spPr>
          <a:xfrm>
            <a:off x="381000" y="4726781"/>
            <a:ext cx="4533900" cy="9334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2250">
                <a:solidFill>
                  <a:srgbClr val="1C2026"/>
                </a:solidFill>
                <a:latin typeface="EB Garamond"/>
                <a:ea typeface="EB Garamond"/>
                <a:cs typeface="EB Garamond"/>
                <a:sym typeface="EB Garamond"/>
              </a:rPr>
              <a:t>Khám phá hành trình xây dựng cổng thông tin sinh viên toàn diện</a:t>
            </a:r>
            <a:endParaRPr sz="1600">
              <a:solidFill>
                <a:schemeClr val="dk1"/>
              </a:solidFill>
              <a:latin typeface="EB Garamond"/>
              <a:ea typeface="EB Garamond"/>
              <a:cs typeface="EB Garamond"/>
              <a:sym typeface="EB Garamond"/>
            </a:endParaRPr>
          </a:p>
        </p:txBody>
      </p:sp>
      <p:sp>
        <p:nvSpPr>
          <p:cNvPr id="34" name="Google Shape;34;p2"/>
          <p:cNvSpPr/>
          <p:nvPr/>
        </p:nvSpPr>
        <p:spPr>
          <a:xfrm>
            <a:off x="5093940" y="381000"/>
            <a:ext cx="6715125" cy="1066800"/>
          </a:xfrm>
          <a:custGeom>
            <a:rect b="b" l="l" r="r" t="t"/>
            <a:pathLst>
              <a:path extrusionOk="0" h="1066800" w="6715125">
                <a:moveTo>
                  <a:pt x="38100" y="0"/>
                </a:moveTo>
                <a:lnTo>
                  <a:pt x="6562722" y="0"/>
                </a:lnTo>
                <a:cubicBezTo>
                  <a:pt x="6646892" y="0"/>
                  <a:pt x="6715125" y="68233"/>
                  <a:pt x="6715125" y="152403"/>
                </a:cubicBezTo>
                <a:lnTo>
                  <a:pt x="6715125" y="914397"/>
                </a:lnTo>
                <a:cubicBezTo>
                  <a:pt x="6715125" y="998567"/>
                  <a:pt x="6646892" y="1066800"/>
                  <a:pt x="6562722" y="1066800"/>
                </a:cubicBezTo>
                <a:lnTo>
                  <a:pt x="38100" y="1066800"/>
                </a:lnTo>
                <a:cubicBezTo>
                  <a:pt x="17072" y="1066800"/>
                  <a:pt x="0" y="1049728"/>
                  <a:pt x="0" y="1028700"/>
                </a:cubicBezTo>
                <a:lnTo>
                  <a:pt x="0" y="38100"/>
                </a:lnTo>
                <a:cubicBezTo>
                  <a:pt x="0" y="17072"/>
                  <a:pt x="17072" y="0"/>
                  <a:pt x="38100"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5" name="Google Shape;35;p2"/>
          <p:cNvSpPr/>
          <p:nvPr/>
        </p:nvSpPr>
        <p:spPr>
          <a:xfrm>
            <a:off x="5093940" y="381000"/>
            <a:ext cx="38100" cy="1066800"/>
          </a:xfrm>
          <a:custGeom>
            <a:rect b="b" l="l" r="r" t="t"/>
            <a:pathLst>
              <a:path extrusionOk="0" h="1066800" w="38100">
                <a:moveTo>
                  <a:pt x="38100" y="0"/>
                </a:moveTo>
                <a:lnTo>
                  <a:pt x="38100" y="0"/>
                </a:lnTo>
                <a:lnTo>
                  <a:pt x="38100" y="1066800"/>
                </a:lnTo>
                <a:lnTo>
                  <a:pt x="38100" y="1066800"/>
                </a:lnTo>
                <a:cubicBezTo>
                  <a:pt x="17072" y="1066800"/>
                  <a:pt x="0" y="1049728"/>
                  <a:pt x="0" y="1028700"/>
                </a:cubicBezTo>
                <a:lnTo>
                  <a:pt x="0" y="38100"/>
                </a:lnTo>
                <a:cubicBezTo>
                  <a:pt x="0" y="17072"/>
                  <a:pt x="17072" y="0"/>
                  <a:pt x="381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6" name="Google Shape;36;p2"/>
          <p:cNvSpPr/>
          <p:nvPr/>
        </p:nvSpPr>
        <p:spPr>
          <a:xfrm>
            <a:off x="5341590" y="609600"/>
            <a:ext cx="609600" cy="6096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7" name="Google Shape;37;p2"/>
          <p:cNvSpPr/>
          <p:nvPr/>
        </p:nvSpPr>
        <p:spPr>
          <a:xfrm>
            <a:off x="5284440" y="609600"/>
            <a:ext cx="723900" cy="6096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01</a:t>
            </a:r>
            <a:endParaRPr sz="1600">
              <a:solidFill>
                <a:schemeClr val="dk1"/>
              </a:solidFill>
              <a:latin typeface="EB Garamond"/>
              <a:ea typeface="EB Garamond"/>
              <a:cs typeface="EB Garamond"/>
              <a:sym typeface="EB Garamond"/>
            </a:endParaRPr>
          </a:p>
        </p:txBody>
      </p:sp>
      <p:sp>
        <p:nvSpPr>
          <p:cNvPr id="38" name="Google Shape;38;p2"/>
          <p:cNvSpPr/>
          <p:nvPr/>
        </p:nvSpPr>
        <p:spPr>
          <a:xfrm>
            <a:off x="6141690" y="628650"/>
            <a:ext cx="2924175"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Giới thiệu dự án</a:t>
            </a:r>
            <a:endParaRPr sz="1600">
              <a:solidFill>
                <a:schemeClr val="dk1"/>
              </a:solidFill>
              <a:latin typeface="EB Garamond"/>
              <a:ea typeface="EB Garamond"/>
              <a:cs typeface="EB Garamond"/>
              <a:sym typeface="EB Garamond"/>
            </a:endParaRPr>
          </a:p>
        </p:txBody>
      </p:sp>
      <p:sp>
        <p:nvSpPr>
          <p:cNvPr id="39" name="Google Shape;39;p2"/>
          <p:cNvSpPr/>
          <p:nvPr/>
        </p:nvSpPr>
        <p:spPr>
          <a:xfrm>
            <a:off x="6141690" y="971550"/>
            <a:ext cx="28860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Về nhóm thực hiện và bối cảnh hình thành</a:t>
            </a:r>
            <a:endParaRPr sz="1600">
              <a:solidFill>
                <a:schemeClr val="dk1"/>
              </a:solidFill>
              <a:latin typeface="EB Garamond"/>
              <a:ea typeface="EB Garamond"/>
              <a:cs typeface="EB Garamond"/>
              <a:sym typeface="EB Garamond"/>
            </a:endParaRPr>
          </a:p>
        </p:txBody>
      </p:sp>
      <p:sp>
        <p:nvSpPr>
          <p:cNvPr id="40" name="Google Shape;40;p2"/>
          <p:cNvSpPr/>
          <p:nvPr/>
        </p:nvSpPr>
        <p:spPr>
          <a:xfrm>
            <a:off x="5093940" y="1676400"/>
            <a:ext cx="6715125" cy="1066800"/>
          </a:xfrm>
          <a:custGeom>
            <a:rect b="b" l="l" r="r" t="t"/>
            <a:pathLst>
              <a:path extrusionOk="0" h="1066800" w="6715125">
                <a:moveTo>
                  <a:pt x="38100" y="0"/>
                </a:moveTo>
                <a:lnTo>
                  <a:pt x="6562722" y="0"/>
                </a:lnTo>
                <a:cubicBezTo>
                  <a:pt x="6646892" y="0"/>
                  <a:pt x="6715125" y="68233"/>
                  <a:pt x="6715125" y="152403"/>
                </a:cubicBezTo>
                <a:lnTo>
                  <a:pt x="6715125" y="914397"/>
                </a:lnTo>
                <a:cubicBezTo>
                  <a:pt x="6715125" y="998567"/>
                  <a:pt x="6646892" y="1066800"/>
                  <a:pt x="6562722" y="1066800"/>
                </a:cubicBezTo>
                <a:lnTo>
                  <a:pt x="38100" y="1066800"/>
                </a:lnTo>
                <a:cubicBezTo>
                  <a:pt x="17072" y="1066800"/>
                  <a:pt x="0" y="1049728"/>
                  <a:pt x="0" y="1028700"/>
                </a:cubicBezTo>
                <a:lnTo>
                  <a:pt x="0" y="38100"/>
                </a:lnTo>
                <a:cubicBezTo>
                  <a:pt x="0" y="17072"/>
                  <a:pt x="17072" y="0"/>
                  <a:pt x="38100"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41" name="Google Shape;41;p2"/>
          <p:cNvSpPr/>
          <p:nvPr/>
        </p:nvSpPr>
        <p:spPr>
          <a:xfrm>
            <a:off x="5093940" y="1676400"/>
            <a:ext cx="38100" cy="1066800"/>
          </a:xfrm>
          <a:custGeom>
            <a:rect b="b" l="l" r="r" t="t"/>
            <a:pathLst>
              <a:path extrusionOk="0" h="1066800" w="38100">
                <a:moveTo>
                  <a:pt x="38100" y="0"/>
                </a:moveTo>
                <a:lnTo>
                  <a:pt x="38100" y="0"/>
                </a:lnTo>
                <a:lnTo>
                  <a:pt x="38100" y="1066800"/>
                </a:lnTo>
                <a:lnTo>
                  <a:pt x="38100" y="1066800"/>
                </a:lnTo>
                <a:cubicBezTo>
                  <a:pt x="17072" y="1066800"/>
                  <a:pt x="0" y="1049728"/>
                  <a:pt x="0" y="1028700"/>
                </a:cubicBezTo>
                <a:lnTo>
                  <a:pt x="0" y="38100"/>
                </a:lnTo>
                <a:cubicBezTo>
                  <a:pt x="0" y="17072"/>
                  <a:pt x="17072" y="0"/>
                  <a:pt x="381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42" name="Google Shape;42;p2"/>
          <p:cNvSpPr/>
          <p:nvPr/>
        </p:nvSpPr>
        <p:spPr>
          <a:xfrm>
            <a:off x="5341590" y="1905000"/>
            <a:ext cx="609600" cy="6096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43" name="Google Shape;43;p2"/>
          <p:cNvSpPr/>
          <p:nvPr/>
        </p:nvSpPr>
        <p:spPr>
          <a:xfrm>
            <a:off x="5284440" y="1905000"/>
            <a:ext cx="723900" cy="6096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02</a:t>
            </a:r>
            <a:endParaRPr sz="1600">
              <a:solidFill>
                <a:schemeClr val="dk1"/>
              </a:solidFill>
              <a:latin typeface="EB Garamond"/>
              <a:ea typeface="EB Garamond"/>
              <a:cs typeface="EB Garamond"/>
              <a:sym typeface="EB Garamond"/>
            </a:endParaRPr>
          </a:p>
        </p:txBody>
      </p:sp>
      <p:sp>
        <p:nvSpPr>
          <p:cNvPr id="44" name="Google Shape;44;p2"/>
          <p:cNvSpPr/>
          <p:nvPr/>
        </p:nvSpPr>
        <p:spPr>
          <a:xfrm>
            <a:off x="6141690" y="1924050"/>
            <a:ext cx="310515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Bối cảnh vấn đề</a:t>
            </a:r>
            <a:endParaRPr sz="1600">
              <a:solidFill>
                <a:schemeClr val="dk1"/>
              </a:solidFill>
              <a:latin typeface="EB Garamond"/>
              <a:ea typeface="EB Garamond"/>
              <a:cs typeface="EB Garamond"/>
              <a:sym typeface="EB Garamond"/>
            </a:endParaRPr>
          </a:p>
        </p:txBody>
      </p:sp>
      <p:sp>
        <p:nvSpPr>
          <p:cNvPr id="45" name="Google Shape;45;p2"/>
          <p:cNvSpPr/>
          <p:nvPr/>
        </p:nvSpPr>
        <p:spPr>
          <a:xfrm>
            <a:off x="6141690" y="2266950"/>
            <a:ext cx="30670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Thách thức trong hệ sinh thái học tập hiện tại</a:t>
            </a:r>
            <a:endParaRPr sz="1600">
              <a:solidFill>
                <a:schemeClr val="dk1"/>
              </a:solidFill>
              <a:latin typeface="EB Garamond"/>
              <a:ea typeface="EB Garamond"/>
              <a:cs typeface="EB Garamond"/>
              <a:sym typeface="EB Garamond"/>
            </a:endParaRPr>
          </a:p>
        </p:txBody>
      </p:sp>
      <p:sp>
        <p:nvSpPr>
          <p:cNvPr id="46" name="Google Shape;46;p2"/>
          <p:cNvSpPr/>
          <p:nvPr/>
        </p:nvSpPr>
        <p:spPr>
          <a:xfrm>
            <a:off x="5093940" y="2971800"/>
            <a:ext cx="6715125" cy="1066800"/>
          </a:xfrm>
          <a:custGeom>
            <a:rect b="b" l="l" r="r" t="t"/>
            <a:pathLst>
              <a:path extrusionOk="0" h="1066800" w="6715125">
                <a:moveTo>
                  <a:pt x="38100" y="0"/>
                </a:moveTo>
                <a:lnTo>
                  <a:pt x="6562722" y="0"/>
                </a:lnTo>
                <a:cubicBezTo>
                  <a:pt x="6646892" y="0"/>
                  <a:pt x="6715125" y="68233"/>
                  <a:pt x="6715125" y="152403"/>
                </a:cubicBezTo>
                <a:lnTo>
                  <a:pt x="6715125" y="914397"/>
                </a:lnTo>
                <a:cubicBezTo>
                  <a:pt x="6715125" y="998567"/>
                  <a:pt x="6646892" y="1066800"/>
                  <a:pt x="6562722" y="1066800"/>
                </a:cubicBezTo>
                <a:lnTo>
                  <a:pt x="38100" y="1066800"/>
                </a:lnTo>
                <a:cubicBezTo>
                  <a:pt x="17072" y="1066800"/>
                  <a:pt x="0" y="1049728"/>
                  <a:pt x="0" y="1028700"/>
                </a:cubicBezTo>
                <a:lnTo>
                  <a:pt x="0" y="38100"/>
                </a:lnTo>
                <a:cubicBezTo>
                  <a:pt x="0" y="17072"/>
                  <a:pt x="17072" y="0"/>
                  <a:pt x="38100"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47" name="Google Shape;47;p2"/>
          <p:cNvSpPr/>
          <p:nvPr/>
        </p:nvSpPr>
        <p:spPr>
          <a:xfrm>
            <a:off x="5093940" y="2971800"/>
            <a:ext cx="38100" cy="1066800"/>
          </a:xfrm>
          <a:custGeom>
            <a:rect b="b" l="l" r="r" t="t"/>
            <a:pathLst>
              <a:path extrusionOk="0" h="1066800" w="38100">
                <a:moveTo>
                  <a:pt x="38100" y="0"/>
                </a:moveTo>
                <a:lnTo>
                  <a:pt x="38100" y="0"/>
                </a:lnTo>
                <a:lnTo>
                  <a:pt x="38100" y="1066800"/>
                </a:lnTo>
                <a:lnTo>
                  <a:pt x="38100" y="1066800"/>
                </a:lnTo>
                <a:cubicBezTo>
                  <a:pt x="17072" y="1066800"/>
                  <a:pt x="0" y="1049728"/>
                  <a:pt x="0" y="1028700"/>
                </a:cubicBezTo>
                <a:lnTo>
                  <a:pt x="0" y="38100"/>
                </a:lnTo>
                <a:cubicBezTo>
                  <a:pt x="0" y="17072"/>
                  <a:pt x="17072" y="0"/>
                  <a:pt x="381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48" name="Google Shape;48;p2"/>
          <p:cNvSpPr/>
          <p:nvPr/>
        </p:nvSpPr>
        <p:spPr>
          <a:xfrm>
            <a:off x="5341590" y="3200400"/>
            <a:ext cx="609600" cy="6096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49" name="Google Shape;49;p2"/>
          <p:cNvSpPr/>
          <p:nvPr/>
        </p:nvSpPr>
        <p:spPr>
          <a:xfrm>
            <a:off x="5284440" y="3200400"/>
            <a:ext cx="723900" cy="6096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03</a:t>
            </a:r>
            <a:endParaRPr sz="1600">
              <a:solidFill>
                <a:schemeClr val="dk1"/>
              </a:solidFill>
              <a:latin typeface="EB Garamond"/>
              <a:ea typeface="EB Garamond"/>
              <a:cs typeface="EB Garamond"/>
              <a:sym typeface="EB Garamond"/>
            </a:endParaRPr>
          </a:p>
        </p:txBody>
      </p:sp>
      <p:sp>
        <p:nvSpPr>
          <p:cNvPr id="50" name="Google Shape;50;p2"/>
          <p:cNvSpPr/>
          <p:nvPr/>
        </p:nvSpPr>
        <p:spPr>
          <a:xfrm>
            <a:off x="6141690" y="3219450"/>
            <a:ext cx="1971675"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Giải pháp đề xuất</a:t>
            </a:r>
            <a:endParaRPr sz="1600">
              <a:solidFill>
                <a:schemeClr val="dk1"/>
              </a:solidFill>
              <a:latin typeface="EB Garamond"/>
              <a:ea typeface="EB Garamond"/>
              <a:cs typeface="EB Garamond"/>
              <a:sym typeface="EB Garamond"/>
            </a:endParaRPr>
          </a:p>
        </p:txBody>
      </p:sp>
      <p:sp>
        <p:nvSpPr>
          <p:cNvPr id="51" name="Google Shape;51;p2"/>
          <p:cNvSpPr/>
          <p:nvPr/>
        </p:nvSpPr>
        <p:spPr>
          <a:xfrm>
            <a:off x="6141690" y="3562350"/>
            <a:ext cx="19335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Mục tiêu và tính năng cốt lõi</a:t>
            </a:r>
            <a:endParaRPr sz="1600">
              <a:solidFill>
                <a:schemeClr val="dk1"/>
              </a:solidFill>
              <a:latin typeface="EB Garamond"/>
              <a:ea typeface="EB Garamond"/>
              <a:cs typeface="EB Garamond"/>
              <a:sym typeface="EB Garamond"/>
            </a:endParaRPr>
          </a:p>
        </p:txBody>
      </p:sp>
      <p:sp>
        <p:nvSpPr>
          <p:cNvPr id="52" name="Google Shape;52;p2"/>
          <p:cNvSpPr/>
          <p:nvPr/>
        </p:nvSpPr>
        <p:spPr>
          <a:xfrm>
            <a:off x="5093940" y="4267200"/>
            <a:ext cx="6715125" cy="1066800"/>
          </a:xfrm>
          <a:custGeom>
            <a:rect b="b" l="l" r="r" t="t"/>
            <a:pathLst>
              <a:path extrusionOk="0" h="1066800" w="6715125">
                <a:moveTo>
                  <a:pt x="38100" y="0"/>
                </a:moveTo>
                <a:lnTo>
                  <a:pt x="6562722" y="0"/>
                </a:lnTo>
                <a:cubicBezTo>
                  <a:pt x="6646892" y="0"/>
                  <a:pt x="6715125" y="68233"/>
                  <a:pt x="6715125" y="152403"/>
                </a:cubicBezTo>
                <a:lnTo>
                  <a:pt x="6715125" y="914397"/>
                </a:lnTo>
                <a:cubicBezTo>
                  <a:pt x="6715125" y="998567"/>
                  <a:pt x="6646892" y="1066800"/>
                  <a:pt x="6562722" y="1066800"/>
                </a:cubicBezTo>
                <a:lnTo>
                  <a:pt x="38100" y="1066800"/>
                </a:lnTo>
                <a:cubicBezTo>
                  <a:pt x="17072" y="1066800"/>
                  <a:pt x="0" y="1049728"/>
                  <a:pt x="0" y="1028700"/>
                </a:cubicBezTo>
                <a:lnTo>
                  <a:pt x="0" y="38100"/>
                </a:lnTo>
                <a:cubicBezTo>
                  <a:pt x="0" y="17072"/>
                  <a:pt x="17072" y="0"/>
                  <a:pt x="38100"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53" name="Google Shape;53;p2"/>
          <p:cNvSpPr/>
          <p:nvPr/>
        </p:nvSpPr>
        <p:spPr>
          <a:xfrm>
            <a:off x="5093940" y="4267200"/>
            <a:ext cx="38100" cy="1066800"/>
          </a:xfrm>
          <a:custGeom>
            <a:rect b="b" l="l" r="r" t="t"/>
            <a:pathLst>
              <a:path extrusionOk="0" h="1066800" w="38100">
                <a:moveTo>
                  <a:pt x="38100" y="0"/>
                </a:moveTo>
                <a:lnTo>
                  <a:pt x="38100" y="0"/>
                </a:lnTo>
                <a:lnTo>
                  <a:pt x="38100" y="1066800"/>
                </a:lnTo>
                <a:lnTo>
                  <a:pt x="38100" y="1066800"/>
                </a:lnTo>
                <a:cubicBezTo>
                  <a:pt x="17072" y="1066800"/>
                  <a:pt x="0" y="1049728"/>
                  <a:pt x="0" y="1028700"/>
                </a:cubicBezTo>
                <a:lnTo>
                  <a:pt x="0" y="38100"/>
                </a:lnTo>
                <a:cubicBezTo>
                  <a:pt x="0" y="17072"/>
                  <a:pt x="17072" y="0"/>
                  <a:pt x="381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54" name="Google Shape;54;p2"/>
          <p:cNvSpPr/>
          <p:nvPr/>
        </p:nvSpPr>
        <p:spPr>
          <a:xfrm>
            <a:off x="5341590" y="4495800"/>
            <a:ext cx="609600" cy="6096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55" name="Google Shape;55;p2"/>
          <p:cNvSpPr/>
          <p:nvPr/>
        </p:nvSpPr>
        <p:spPr>
          <a:xfrm>
            <a:off x="5284440" y="4495800"/>
            <a:ext cx="723900" cy="6096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04</a:t>
            </a:r>
            <a:endParaRPr sz="1600">
              <a:solidFill>
                <a:schemeClr val="dk1"/>
              </a:solidFill>
              <a:latin typeface="EB Garamond"/>
              <a:ea typeface="EB Garamond"/>
              <a:cs typeface="EB Garamond"/>
              <a:sym typeface="EB Garamond"/>
            </a:endParaRPr>
          </a:p>
        </p:txBody>
      </p:sp>
      <p:sp>
        <p:nvSpPr>
          <p:cNvPr id="56" name="Google Shape;56;p2"/>
          <p:cNvSpPr/>
          <p:nvPr/>
        </p:nvSpPr>
        <p:spPr>
          <a:xfrm>
            <a:off x="6141690" y="4514850"/>
            <a:ext cx="200025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Lợi ích dự án</a:t>
            </a:r>
            <a:endParaRPr sz="1600">
              <a:solidFill>
                <a:schemeClr val="dk1"/>
              </a:solidFill>
              <a:latin typeface="EB Garamond"/>
              <a:ea typeface="EB Garamond"/>
              <a:cs typeface="EB Garamond"/>
              <a:sym typeface="EB Garamond"/>
            </a:endParaRPr>
          </a:p>
        </p:txBody>
      </p:sp>
      <p:sp>
        <p:nvSpPr>
          <p:cNvPr id="57" name="Google Shape;57;p2"/>
          <p:cNvSpPr/>
          <p:nvPr/>
        </p:nvSpPr>
        <p:spPr>
          <a:xfrm>
            <a:off x="6141690" y="4857750"/>
            <a:ext cx="19621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Giá trị mang lại cho sinh viên</a:t>
            </a:r>
            <a:endParaRPr sz="1600">
              <a:solidFill>
                <a:schemeClr val="dk1"/>
              </a:solidFill>
              <a:latin typeface="EB Garamond"/>
              <a:ea typeface="EB Garamond"/>
              <a:cs typeface="EB Garamond"/>
              <a:sym typeface="EB Garamond"/>
            </a:endParaRPr>
          </a:p>
        </p:txBody>
      </p:sp>
      <p:sp>
        <p:nvSpPr>
          <p:cNvPr id="58" name="Google Shape;58;p2"/>
          <p:cNvSpPr/>
          <p:nvPr/>
        </p:nvSpPr>
        <p:spPr>
          <a:xfrm>
            <a:off x="5093940" y="5562600"/>
            <a:ext cx="6715125" cy="1066800"/>
          </a:xfrm>
          <a:custGeom>
            <a:rect b="b" l="l" r="r" t="t"/>
            <a:pathLst>
              <a:path extrusionOk="0" h="1066800" w="6715125">
                <a:moveTo>
                  <a:pt x="38100" y="0"/>
                </a:moveTo>
                <a:lnTo>
                  <a:pt x="6562722" y="0"/>
                </a:lnTo>
                <a:cubicBezTo>
                  <a:pt x="6646892" y="0"/>
                  <a:pt x="6715125" y="68233"/>
                  <a:pt x="6715125" y="152403"/>
                </a:cubicBezTo>
                <a:lnTo>
                  <a:pt x="6715125" y="914397"/>
                </a:lnTo>
                <a:cubicBezTo>
                  <a:pt x="6715125" y="998567"/>
                  <a:pt x="6646892" y="1066800"/>
                  <a:pt x="6562722" y="1066800"/>
                </a:cubicBezTo>
                <a:lnTo>
                  <a:pt x="38100" y="1066800"/>
                </a:lnTo>
                <a:cubicBezTo>
                  <a:pt x="17072" y="1066800"/>
                  <a:pt x="0" y="1049728"/>
                  <a:pt x="0" y="1028700"/>
                </a:cubicBezTo>
                <a:lnTo>
                  <a:pt x="0" y="38100"/>
                </a:lnTo>
                <a:cubicBezTo>
                  <a:pt x="0" y="17072"/>
                  <a:pt x="17072" y="0"/>
                  <a:pt x="38100"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59" name="Google Shape;59;p2"/>
          <p:cNvSpPr/>
          <p:nvPr/>
        </p:nvSpPr>
        <p:spPr>
          <a:xfrm>
            <a:off x="5093940" y="5562600"/>
            <a:ext cx="38100" cy="1066800"/>
          </a:xfrm>
          <a:custGeom>
            <a:rect b="b" l="l" r="r" t="t"/>
            <a:pathLst>
              <a:path extrusionOk="0" h="1066800" w="38100">
                <a:moveTo>
                  <a:pt x="38100" y="0"/>
                </a:moveTo>
                <a:lnTo>
                  <a:pt x="38100" y="0"/>
                </a:lnTo>
                <a:lnTo>
                  <a:pt x="38100" y="1066800"/>
                </a:lnTo>
                <a:lnTo>
                  <a:pt x="38100" y="1066800"/>
                </a:lnTo>
                <a:cubicBezTo>
                  <a:pt x="17072" y="1066800"/>
                  <a:pt x="0" y="1049728"/>
                  <a:pt x="0" y="1028700"/>
                </a:cubicBezTo>
                <a:lnTo>
                  <a:pt x="0" y="38100"/>
                </a:lnTo>
                <a:cubicBezTo>
                  <a:pt x="0" y="17072"/>
                  <a:pt x="17072" y="0"/>
                  <a:pt x="38100" y="0"/>
                </a:cubicBezTo>
                <a:close/>
              </a:path>
            </a:pathLst>
          </a:custGeom>
          <a:solidFill>
            <a:srgbClr val="0D1B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60" name="Google Shape;60;p2"/>
          <p:cNvSpPr/>
          <p:nvPr/>
        </p:nvSpPr>
        <p:spPr>
          <a:xfrm>
            <a:off x="5341590" y="5791200"/>
            <a:ext cx="609600" cy="6096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0D1B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61" name="Google Shape;61;p2"/>
          <p:cNvSpPr/>
          <p:nvPr/>
        </p:nvSpPr>
        <p:spPr>
          <a:xfrm>
            <a:off x="5284440" y="5791200"/>
            <a:ext cx="723900" cy="6096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05</a:t>
            </a:r>
            <a:endParaRPr sz="1600">
              <a:solidFill>
                <a:schemeClr val="dk1"/>
              </a:solidFill>
              <a:latin typeface="EB Garamond"/>
              <a:ea typeface="EB Garamond"/>
              <a:cs typeface="EB Garamond"/>
              <a:sym typeface="EB Garamond"/>
            </a:endParaRPr>
          </a:p>
        </p:txBody>
      </p:sp>
      <p:sp>
        <p:nvSpPr>
          <p:cNvPr id="62" name="Google Shape;62;p2"/>
          <p:cNvSpPr/>
          <p:nvPr/>
        </p:nvSpPr>
        <p:spPr>
          <a:xfrm>
            <a:off x="6141690" y="5810250"/>
            <a:ext cx="312420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Kế hoạch triển khai</a:t>
            </a:r>
            <a:endParaRPr sz="1600">
              <a:solidFill>
                <a:schemeClr val="dk1"/>
              </a:solidFill>
              <a:latin typeface="EB Garamond"/>
              <a:ea typeface="EB Garamond"/>
              <a:cs typeface="EB Garamond"/>
              <a:sym typeface="EB Garamond"/>
            </a:endParaRPr>
          </a:p>
        </p:txBody>
      </p:sp>
      <p:sp>
        <p:nvSpPr>
          <p:cNvPr id="63" name="Google Shape;63;p2"/>
          <p:cNvSpPr/>
          <p:nvPr/>
        </p:nvSpPr>
        <p:spPr>
          <a:xfrm>
            <a:off x="6141690" y="6153150"/>
            <a:ext cx="30861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Lộ trình phát triển và chiến lược truyền thông</a:t>
            </a:r>
            <a:endParaRPr sz="1600">
              <a:solidFill>
                <a:schemeClr val="dk1"/>
              </a:solidFill>
              <a:latin typeface="EB Garamond"/>
              <a:ea typeface="EB Garamond"/>
              <a:cs typeface="EB Garamond"/>
              <a:sym typeface="EB Garamond"/>
            </a:endParaRP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68" name="Shape 68"/>
        <p:cNvGrpSpPr/>
        <p:nvPr/>
      </p:nvGrpSpPr>
      <p:grpSpPr>
        <a:xfrm>
          <a:off x="0" y="0"/>
          <a:ext cx="0" cy="0"/>
          <a:chOff x="0" y="0"/>
          <a:chExt cx="0" cy="0"/>
        </a:xfrm>
      </p:grpSpPr>
      <p:sp>
        <p:nvSpPr>
          <p:cNvPr id="69" name="Google Shape;69;p3"/>
          <p:cNvSpPr/>
          <p:nvPr/>
        </p:nvSpPr>
        <p:spPr>
          <a:xfrm>
            <a:off x="381000" y="381000"/>
            <a:ext cx="115062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295EDF"/>
                </a:solidFill>
                <a:latin typeface="EB Garamond"/>
                <a:ea typeface="EB Garamond"/>
                <a:cs typeface="EB Garamond"/>
                <a:sym typeface="EB Garamond"/>
              </a:rPr>
              <a:t>PROJECT TEAM</a:t>
            </a:r>
            <a:endParaRPr sz="1600">
              <a:solidFill>
                <a:schemeClr val="dk1"/>
              </a:solidFill>
              <a:latin typeface="EB Garamond"/>
              <a:ea typeface="EB Garamond"/>
              <a:cs typeface="EB Garamond"/>
              <a:sym typeface="EB Garamond"/>
            </a:endParaRPr>
          </a:p>
        </p:txBody>
      </p:sp>
      <p:sp>
        <p:nvSpPr>
          <p:cNvPr id="70" name="Google Shape;70;p3"/>
          <p:cNvSpPr/>
          <p:nvPr/>
        </p:nvSpPr>
        <p:spPr>
          <a:xfrm>
            <a:off x="380999" y="1440656"/>
            <a:ext cx="11658600" cy="4572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US" sz="3600">
                <a:solidFill>
                  <a:srgbClr val="0D1B4C"/>
                </a:solidFill>
                <a:latin typeface="EB Garamond"/>
                <a:ea typeface="EB Garamond"/>
                <a:cs typeface="EB Garamond"/>
                <a:sym typeface="EB Garamond"/>
              </a:rPr>
              <a:t>Về nhóm dự án</a:t>
            </a:r>
            <a:endParaRPr sz="1600">
              <a:solidFill>
                <a:schemeClr val="dk1"/>
              </a:solidFill>
              <a:latin typeface="EB Garamond"/>
              <a:ea typeface="EB Garamond"/>
              <a:cs typeface="EB Garamond"/>
              <a:sym typeface="EB Garamond"/>
            </a:endParaRPr>
          </a:p>
        </p:txBody>
      </p:sp>
      <p:sp>
        <p:nvSpPr>
          <p:cNvPr id="71" name="Google Shape;71;p3"/>
          <p:cNvSpPr/>
          <p:nvPr/>
        </p:nvSpPr>
        <p:spPr>
          <a:xfrm>
            <a:off x="392907" y="2219325"/>
            <a:ext cx="609600" cy="6096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72" name="Google Shape;72;p3"/>
          <p:cNvSpPr/>
          <p:nvPr/>
        </p:nvSpPr>
        <p:spPr>
          <a:xfrm>
            <a:off x="521494" y="2381250"/>
            <a:ext cx="357188" cy="285750"/>
          </a:xfrm>
          <a:custGeom>
            <a:rect b="b" l="l" r="r" t="t"/>
            <a:pathLst>
              <a:path extrusionOk="0" h="285750" w="357188">
                <a:moveTo>
                  <a:pt x="178594" y="8930"/>
                </a:moveTo>
                <a:cubicBezTo>
                  <a:pt x="210629" y="8930"/>
                  <a:pt x="236637" y="34938"/>
                  <a:pt x="236637" y="66973"/>
                </a:cubicBezTo>
                <a:cubicBezTo>
                  <a:pt x="236637" y="99007"/>
                  <a:pt x="210629" y="125016"/>
                  <a:pt x="178594" y="125016"/>
                </a:cubicBezTo>
                <a:cubicBezTo>
                  <a:pt x="146559" y="125016"/>
                  <a:pt x="120551" y="99007"/>
                  <a:pt x="120551" y="66973"/>
                </a:cubicBezTo>
                <a:cubicBezTo>
                  <a:pt x="120551" y="34938"/>
                  <a:pt x="146559" y="8930"/>
                  <a:pt x="178594" y="8930"/>
                </a:cubicBezTo>
                <a:close/>
                <a:moveTo>
                  <a:pt x="53578" y="49113"/>
                </a:moveTo>
                <a:cubicBezTo>
                  <a:pt x="75756" y="49113"/>
                  <a:pt x="93762" y="67119"/>
                  <a:pt x="93762" y="89297"/>
                </a:cubicBezTo>
                <a:cubicBezTo>
                  <a:pt x="93762" y="111475"/>
                  <a:pt x="75756" y="129480"/>
                  <a:pt x="53578" y="129480"/>
                </a:cubicBezTo>
                <a:cubicBezTo>
                  <a:pt x="31400" y="129480"/>
                  <a:pt x="13395" y="111475"/>
                  <a:pt x="13395" y="89297"/>
                </a:cubicBezTo>
                <a:cubicBezTo>
                  <a:pt x="13395" y="67119"/>
                  <a:pt x="31400" y="49113"/>
                  <a:pt x="53578" y="49113"/>
                </a:cubicBezTo>
                <a:close/>
                <a:moveTo>
                  <a:pt x="0" y="232172"/>
                </a:moveTo>
                <a:cubicBezTo>
                  <a:pt x="0" y="192714"/>
                  <a:pt x="31979" y="160734"/>
                  <a:pt x="71438" y="160734"/>
                </a:cubicBezTo>
                <a:cubicBezTo>
                  <a:pt x="78581" y="160734"/>
                  <a:pt x="85502" y="161795"/>
                  <a:pt x="92032" y="163748"/>
                </a:cubicBezTo>
                <a:cubicBezTo>
                  <a:pt x="73670" y="184286"/>
                  <a:pt x="62508" y="211410"/>
                  <a:pt x="62508" y="241102"/>
                </a:cubicBezTo>
                <a:lnTo>
                  <a:pt x="62508" y="250031"/>
                </a:lnTo>
                <a:cubicBezTo>
                  <a:pt x="62508" y="256394"/>
                  <a:pt x="63847" y="262421"/>
                  <a:pt x="66247" y="267891"/>
                </a:cubicBezTo>
                <a:lnTo>
                  <a:pt x="17859" y="267891"/>
                </a:lnTo>
                <a:cubicBezTo>
                  <a:pt x="7981" y="267891"/>
                  <a:pt x="0" y="259910"/>
                  <a:pt x="0" y="250031"/>
                </a:cubicBezTo>
                <a:lnTo>
                  <a:pt x="0" y="232172"/>
                </a:lnTo>
                <a:close/>
                <a:moveTo>
                  <a:pt x="290940" y="267891"/>
                </a:moveTo>
                <a:cubicBezTo>
                  <a:pt x="293340" y="262421"/>
                  <a:pt x="294680" y="256394"/>
                  <a:pt x="294680" y="250031"/>
                </a:cubicBezTo>
                <a:lnTo>
                  <a:pt x="294680" y="241102"/>
                </a:lnTo>
                <a:cubicBezTo>
                  <a:pt x="294680" y="211410"/>
                  <a:pt x="283518" y="184286"/>
                  <a:pt x="265156" y="163748"/>
                </a:cubicBezTo>
                <a:cubicBezTo>
                  <a:pt x="271686" y="161795"/>
                  <a:pt x="278606" y="160734"/>
                  <a:pt x="285750" y="160734"/>
                </a:cubicBezTo>
                <a:cubicBezTo>
                  <a:pt x="325208" y="160734"/>
                  <a:pt x="357188" y="192714"/>
                  <a:pt x="357188" y="232172"/>
                </a:cubicBezTo>
                <a:lnTo>
                  <a:pt x="357188" y="250031"/>
                </a:lnTo>
                <a:cubicBezTo>
                  <a:pt x="357188" y="259910"/>
                  <a:pt x="349207" y="267891"/>
                  <a:pt x="339328" y="267891"/>
                </a:cubicBezTo>
                <a:lnTo>
                  <a:pt x="290940" y="267891"/>
                </a:lnTo>
                <a:close/>
                <a:moveTo>
                  <a:pt x="263426" y="89297"/>
                </a:moveTo>
                <a:cubicBezTo>
                  <a:pt x="263426" y="67119"/>
                  <a:pt x="281431" y="49113"/>
                  <a:pt x="303609" y="49113"/>
                </a:cubicBezTo>
                <a:cubicBezTo>
                  <a:pt x="325787" y="49113"/>
                  <a:pt x="343793" y="67119"/>
                  <a:pt x="343793" y="89297"/>
                </a:cubicBezTo>
                <a:cubicBezTo>
                  <a:pt x="343793" y="111475"/>
                  <a:pt x="325787" y="129480"/>
                  <a:pt x="303609" y="129480"/>
                </a:cubicBezTo>
                <a:cubicBezTo>
                  <a:pt x="281431" y="129480"/>
                  <a:pt x="263426" y="111475"/>
                  <a:pt x="263426" y="89297"/>
                </a:cubicBezTo>
                <a:close/>
                <a:moveTo>
                  <a:pt x="89297" y="241102"/>
                </a:moveTo>
                <a:cubicBezTo>
                  <a:pt x="89297" y="191765"/>
                  <a:pt x="129257" y="151805"/>
                  <a:pt x="178594" y="151805"/>
                </a:cubicBezTo>
                <a:cubicBezTo>
                  <a:pt x="227930" y="151805"/>
                  <a:pt x="267891" y="191765"/>
                  <a:pt x="267891" y="241102"/>
                </a:cubicBezTo>
                <a:lnTo>
                  <a:pt x="267891" y="250031"/>
                </a:lnTo>
                <a:cubicBezTo>
                  <a:pt x="267891" y="259910"/>
                  <a:pt x="259910" y="267891"/>
                  <a:pt x="250031" y="267891"/>
                </a:cubicBezTo>
                <a:lnTo>
                  <a:pt x="107156" y="267891"/>
                </a:lnTo>
                <a:cubicBezTo>
                  <a:pt x="97278" y="267891"/>
                  <a:pt x="89297" y="259910"/>
                  <a:pt x="89297" y="250031"/>
                </a:cubicBezTo>
                <a:lnTo>
                  <a:pt x="89297" y="241102"/>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73" name="Google Shape;73;p3"/>
          <p:cNvSpPr/>
          <p:nvPr/>
        </p:nvSpPr>
        <p:spPr>
          <a:xfrm>
            <a:off x="1154907" y="2200275"/>
            <a:ext cx="18573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Nhóm thực hiện</a:t>
            </a:r>
            <a:endParaRPr sz="1600">
              <a:solidFill>
                <a:schemeClr val="dk1"/>
              </a:solidFill>
              <a:latin typeface="EB Garamond"/>
              <a:ea typeface="EB Garamond"/>
              <a:cs typeface="EB Garamond"/>
              <a:sym typeface="EB Garamond"/>
            </a:endParaRPr>
          </a:p>
        </p:txBody>
      </p:sp>
      <p:sp>
        <p:nvSpPr>
          <p:cNvPr id="74" name="Google Shape;74;p3"/>
          <p:cNvSpPr/>
          <p:nvPr/>
        </p:nvSpPr>
        <p:spPr>
          <a:xfrm>
            <a:off x="1154907" y="2466975"/>
            <a:ext cx="1952625" cy="381000"/>
          </a:xfrm>
          <a:prstGeom prst="rect">
            <a:avLst/>
          </a:prstGeom>
          <a:noFill/>
          <a:ln>
            <a:noFill/>
          </a:ln>
        </p:spPr>
        <p:txBody>
          <a:bodyPr anchorCtr="0" anchor="ctr" bIns="0" lIns="0" spcFirstLastPara="1" rIns="0" wrap="square" tIns="0">
            <a:noAutofit/>
          </a:bodyPr>
          <a:lstStyle/>
          <a:p>
            <a:pPr indent="0" lvl="0" marL="0" marR="0" rtl="0" algn="l">
              <a:lnSpc>
                <a:spcPct val="90000"/>
              </a:lnSpc>
              <a:spcBef>
                <a:spcPts val="0"/>
              </a:spcBef>
              <a:spcAft>
                <a:spcPts val="0"/>
              </a:spcAft>
              <a:buNone/>
            </a:pPr>
            <a:r>
              <a:rPr b="1" lang="en-US" sz="2700">
                <a:solidFill>
                  <a:srgbClr val="295EDF"/>
                </a:solidFill>
                <a:latin typeface="EB Garamond"/>
                <a:ea typeface="EB Garamond"/>
                <a:cs typeface="EB Garamond"/>
                <a:sym typeface="EB Garamond"/>
              </a:rPr>
              <a:t>7 thành viên</a:t>
            </a:r>
            <a:endParaRPr sz="1600">
              <a:solidFill>
                <a:schemeClr val="dk1"/>
              </a:solidFill>
              <a:latin typeface="EB Garamond"/>
              <a:ea typeface="EB Garamond"/>
              <a:cs typeface="EB Garamond"/>
              <a:sym typeface="EB Garamond"/>
            </a:endParaRPr>
          </a:p>
        </p:txBody>
      </p:sp>
      <p:sp>
        <p:nvSpPr>
          <p:cNvPr id="75" name="Google Shape;75;p3"/>
          <p:cNvSpPr/>
          <p:nvPr/>
        </p:nvSpPr>
        <p:spPr>
          <a:xfrm>
            <a:off x="392907" y="3076575"/>
            <a:ext cx="4657725" cy="8382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350">
                <a:solidFill>
                  <a:srgbClr val="1C2026"/>
                </a:solidFill>
                <a:latin typeface="EB Garamond"/>
                <a:ea typeface="EB Garamond"/>
                <a:cs typeface="EB Garamond"/>
                <a:sym typeface="EB Garamond"/>
              </a:rPr>
              <a:t>Đều là sinh viên chuyên ngành </a:t>
            </a:r>
            <a:r>
              <a:rPr b="1" lang="en-US" sz="1350">
                <a:solidFill>
                  <a:srgbClr val="295EDF"/>
                </a:solidFill>
                <a:latin typeface="EB Garamond"/>
                <a:ea typeface="EB Garamond"/>
                <a:cs typeface="EB Garamond"/>
                <a:sym typeface="EB Garamond"/>
              </a:rPr>
              <a:t>Công nghệ thông tin</a:t>
            </a:r>
            <a:r>
              <a:rPr lang="en-US" sz="1350">
                <a:solidFill>
                  <a:srgbClr val="1C2026"/>
                </a:solidFill>
                <a:latin typeface="EB Garamond"/>
                <a:ea typeface="EB Garamond"/>
                <a:cs typeface="EB Garamond"/>
                <a:sym typeface="EB Garamond"/>
              </a:rPr>
              <a:t> của Trường Đại học FPT, được gắn kết bởi mong muốn áp dụng kiến thức chuyên môn vào thực tiễn.</a:t>
            </a:r>
            <a:endParaRPr sz="1600">
              <a:solidFill>
                <a:schemeClr val="dk1"/>
              </a:solidFill>
              <a:latin typeface="EB Garamond"/>
              <a:ea typeface="EB Garamond"/>
              <a:cs typeface="EB Garamond"/>
              <a:sym typeface="EB Garamond"/>
            </a:endParaRPr>
          </a:p>
        </p:txBody>
      </p:sp>
      <p:sp>
        <p:nvSpPr>
          <p:cNvPr id="76" name="Google Shape;76;p3"/>
          <p:cNvSpPr/>
          <p:nvPr/>
        </p:nvSpPr>
        <p:spPr>
          <a:xfrm>
            <a:off x="385763" y="4919663"/>
            <a:ext cx="4562475" cy="1552575"/>
          </a:xfrm>
          <a:custGeom>
            <a:rect b="b" l="l" r="r" t="t"/>
            <a:pathLst>
              <a:path extrusionOk="0" h="1552575" w="4562475">
                <a:moveTo>
                  <a:pt x="152401" y="0"/>
                </a:moveTo>
                <a:lnTo>
                  <a:pt x="4410074" y="0"/>
                </a:lnTo>
                <a:cubicBezTo>
                  <a:pt x="4494243" y="0"/>
                  <a:pt x="4562475" y="68232"/>
                  <a:pt x="4562475" y="152401"/>
                </a:cubicBezTo>
                <a:lnTo>
                  <a:pt x="4562475" y="1400174"/>
                </a:lnTo>
                <a:cubicBezTo>
                  <a:pt x="4562475" y="1484343"/>
                  <a:pt x="4494243" y="1552575"/>
                  <a:pt x="4410074" y="1552575"/>
                </a:cubicBezTo>
                <a:lnTo>
                  <a:pt x="152401" y="1552575"/>
                </a:lnTo>
                <a:cubicBezTo>
                  <a:pt x="68232" y="1552575"/>
                  <a:pt x="0" y="1484343"/>
                  <a:pt x="0" y="1400174"/>
                </a:cubicBezTo>
                <a:lnTo>
                  <a:pt x="0" y="152401"/>
                </a:lnTo>
                <a:cubicBezTo>
                  <a:pt x="0" y="68288"/>
                  <a:pt x="68288" y="0"/>
                  <a:pt x="152401" y="0"/>
                </a:cubicBezTo>
                <a:close/>
              </a:path>
            </a:pathLst>
          </a:custGeom>
          <a:gradFill>
            <a:gsLst>
              <a:gs pos="0">
                <a:srgbClr val="295EDF">
                  <a:alpha val="9803"/>
                </a:srgbClr>
              </a:gs>
              <a:gs pos="100000">
                <a:srgbClr val="FF9045">
                  <a:alpha val="9803"/>
                </a:srgbClr>
              </a:gs>
            </a:gsLst>
            <a:lin ang="2700000" scaled="0"/>
          </a:gradFill>
          <a:ln cap="flat" cmpd="sng" w="12700">
            <a:solidFill>
              <a:srgbClr val="295ED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77" name="Google Shape;77;p3"/>
          <p:cNvSpPr/>
          <p:nvPr/>
        </p:nvSpPr>
        <p:spPr>
          <a:xfrm>
            <a:off x="621506" y="5191125"/>
            <a:ext cx="214313" cy="285750"/>
          </a:xfrm>
          <a:custGeom>
            <a:rect b="b" l="l" r="r" t="t"/>
            <a:pathLst>
              <a:path extrusionOk="0" h="285750" w="214313">
                <a:moveTo>
                  <a:pt x="163469" y="214313"/>
                </a:moveTo>
                <a:cubicBezTo>
                  <a:pt x="167543" y="201867"/>
                  <a:pt x="175692" y="190593"/>
                  <a:pt x="184900" y="180882"/>
                </a:cubicBezTo>
                <a:cubicBezTo>
                  <a:pt x="203150" y="161683"/>
                  <a:pt x="214312" y="135731"/>
                  <a:pt x="214312" y="107156"/>
                </a:cubicBezTo>
                <a:cubicBezTo>
                  <a:pt x="214312" y="47997"/>
                  <a:pt x="166315" y="0"/>
                  <a:pt x="107156" y="0"/>
                </a:cubicBezTo>
                <a:cubicBezTo>
                  <a:pt x="47997" y="0"/>
                  <a:pt x="0" y="47997"/>
                  <a:pt x="0" y="107156"/>
                </a:cubicBezTo>
                <a:cubicBezTo>
                  <a:pt x="0" y="135731"/>
                  <a:pt x="11162" y="161683"/>
                  <a:pt x="29412" y="180882"/>
                </a:cubicBezTo>
                <a:cubicBezTo>
                  <a:pt x="38621" y="190593"/>
                  <a:pt x="46825" y="201867"/>
                  <a:pt x="50843" y="214313"/>
                </a:cubicBezTo>
                <a:lnTo>
                  <a:pt x="163413" y="214313"/>
                </a:lnTo>
                <a:close/>
                <a:moveTo>
                  <a:pt x="160734" y="241102"/>
                </a:moveTo>
                <a:lnTo>
                  <a:pt x="53578" y="241102"/>
                </a:lnTo>
                <a:lnTo>
                  <a:pt x="53578" y="250031"/>
                </a:lnTo>
                <a:cubicBezTo>
                  <a:pt x="53578" y="274700"/>
                  <a:pt x="73558" y="294680"/>
                  <a:pt x="98227" y="294680"/>
                </a:cubicBezTo>
                <a:lnTo>
                  <a:pt x="116086" y="294680"/>
                </a:lnTo>
                <a:cubicBezTo>
                  <a:pt x="140754" y="294680"/>
                  <a:pt x="160734" y="274700"/>
                  <a:pt x="160734" y="250031"/>
                </a:cubicBezTo>
                <a:lnTo>
                  <a:pt x="160734" y="241102"/>
                </a:lnTo>
                <a:close/>
                <a:moveTo>
                  <a:pt x="102691" y="62508"/>
                </a:moveTo>
                <a:cubicBezTo>
                  <a:pt x="80479" y="62508"/>
                  <a:pt x="62508" y="80479"/>
                  <a:pt x="62508" y="102691"/>
                </a:cubicBezTo>
                <a:cubicBezTo>
                  <a:pt x="62508" y="110114"/>
                  <a:pt x="56536" y="116086"/>
                  <a:pt x="49113" y="116086"/>
                </a:cubicBezTo>
                <a:cubicBezTo>
                  <a:pt x="41690" y="116086"/>
                  <a:pt x="35719" y="110114"/>
                  <a:pt x="35719" y="102691"/>
                </a:cubicBezTo>
                <a:cubicBezTo>
                  <a:pt x="35719" y="65689"/>
                  <a:pt x="65689" y="35719"/>
                  <a:pt x="102691" y="35719"/>
                </a:cubicBezTo>
                <a:cubicBezTo>
                  <a:pt x="110114" y="35719"/>
                  <a:pt x="116086" y="41690"/>
                  <a:pt x="116086" y="49113"/>
                </a:cubicBezTo>
                <a:cubicBezTo>
                  <a:pt x="116086" y="56536"/>
                  <a:pt x="110114" y="62508"/>
                  <a:pt x="102691" y="62508"/>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78" name="Google Shape;78;p3"/>
          <p:cNvSpPr/>
          <p:nvPr/>
        </p:nvSpPr>
        <p:spPr>
          <a:xfrm>
            <a:off x="955774" y="5153025"/>
            <a:ext cx="3848100"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50">
                <a:solidFill>
                  <a:srgbClr val="0D1B4C"/>
                </a:solidFill>
                <a:latin typeface="EB Garamond"/>
                <a:ea typeface="EB Garamond"/>
                <a:cs typeface="EB Garamond"/>
                <a:sym typeface="EB Garamond"/>
              </a:rPr>
              <a:t>Tầm nhìn</a:t>
            </a:r>
            <a:endParaRPr sz="1600">
              <a:solidFill>
                <a:schemeClr val="dk1"/>
              </a:solidFill>
              <a:latin typeface="EB Garamond"/>
              <a:ea typeface="EB Garamond"/>
              <a:cs typeface="EB Garamond"/>
              <a:sym typeface="EB Garamond"/>
            </a:endParaRPr>
          </a:p>
        </p:txBody>
      </p:sp>
      <p:sp>
        <p:nvSpPr>
          <p:cNvPr id="79" name="Google Shape;79;p3"/>
          <p:cNvSpPr/>
          <p:nvPr/>
        </p:nvSpPr>
        <p:spPr>
          <a:xfrm>
            <a:off x="955774" y="5495925"/>
            <a:ext cx="3838575" cy="7429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1C2026"/>
                </a:solidFill>
                <a:latin typeface="EB Garamond"/>
                <a:ea typeface="EB Garamond"/>
                <a:cs typeface="EB Garamond"/>
                <a:sym typeface="EB Garamond"/>
              </a:rPr>
              <a:t>Xây dựng giải pháp tối ưu hóa trải nghiệm số cho cộng đồng sinh viên FPT, giúp việc học tập và sinh hoạt trở nên thuận tiện hơn bao giờ hết.</a:t>
            </a:r>
            <a:endParaRPr sz="1600">
              <a:solidFill>
                <a:schemeClr val="dk1"/>
              </a:solidFill>
              <a:latin typeface="EB Garamond"/>
              <a:ea typeface="EB Garamond"/>
              <a:cs typeface="EB Garamond"/>
              <a:sym typeface="EB Garamond"/>
            </a:endParaRPr>
          </a:p>
        </p:txBody>
      </p:sp>
      <p:sp>
        <p:nvSpPr>
          <p:cNvPr id="80" name="Google Shape;80;p3"/>
          <p:cNvSpPr/>
          <p:nvPr/>
        </p:nvSpPr>
        <p:spPr>
          <a:xfrm>
            <a:off x="5195888" y="1371600"/>
            <a:ext cx="3224213" cy="1276350"/>
          </a:xfrm>
          <a:custGeom>
            <a:rect b="b" l="l" r="r" t="t"/>
            <a:pathLst>
              <a:path extrusionOk="0" h="1276350" w="3224213">
                <a:moveTo>
                  <a:pt x="28575" y="0"/>
                </a:moveTo>
                <a:lnTo>
                  <a:pt x="3109915" y="0"/>
                </a:lnTo>
                <a:cubicBezTo>
                  <a:pt x="3172998" y="0"/>
                  <a:pt x="3224213" y="51215"/>
                  <a:pt x="3224213" y="114297"/>
                </a:cubicBezTo>
                <a:lnTo>
                  <a:pt x="3224213" y="1162053"/>
                </a:lnTo>
                <a:cubicBezTo>
                  <a:pt x="3224213" y="1225135"/>
                  <a:pt x="3172998" y="1276350"/>
                  <a:pt x="3109915" y="1276350"/>
                </a:cubicBezTo>
                <a:lnTo>
                  <a:pt x="28575" y="1276350"/>
                </a:lnTo>
                <a:cubicBezTo>
                  <a:pt x="12793" y="1276350"/>
                  <a:pt x="0" y="1263557"/>
                  <a:pt x="0" y="1247775"/>
                </a:cubicBezTo>
                <a:lnTo>
                  <a:pt x="0" y="28575"/>
                </a:lnTo>
                <a:cubicBezTo>
                  <a:pt x="0" y="12793"/>
                  <a:pt x="12793" y="0"/>
                  <a:pt x="28575"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81" name="Google Shape;81;p3"/>
          <p:cNvSpPr/>
          <p:nvPr/>
        </p:nvSpPr>
        <p:spPr>
          <a:xfrm>
            <a:off x="5195888" y="1371600"/>
            <a:ext cx="28575" cy="1276350"/>
          </a:xfrm>
          <a:custGeom>
            <a:rect b="b" l="l" r="r" t="t"/>
            <a:pathLst>
              <a:path extrusionOk="0" h="1276350" w="28575">
                <a:moveTo>
                  <a:pt x="28575" y="0"/>
                </a:moveTo>
                <a:lnTo>
                  <a:pt x="28575" y="0"/>
                </a:lnTo>
                <a:lnTo>
                  <a:pt x="28575" y="1276350"/>
                </a:lnTo>
                <a:lnTo>
                  <a:pt x="28575" y="1276350"/>
                </a:lnTo>
                <a:cubicBezTo>
                  <a:pt x="12804" y="1276350"/>
                  <a:pt x="0" y="1263546"/>
                  <a:pt x="0" y="1247775"/>
                </a:cubicBezTo>
                <a:lnTo>
                  <a:pt x="0" y="28575"/>
                </a:lnTo>
                <a:cubicBezTo>
                  <a:pt x="0" y="12804"/>
                  <a:pt x="12804" y="0"/>
                  <a:pt x="28575"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82" name="Google Shape;82;p3"/>
          <p:cNvSpPr/>
          <p:nvPr/>
        </p:nvSpPr>
        <p:spPr>
          <a:xfrm>
            <a:off x="5400675" y="1762125"/>
            <a:ext cx="381000" cy="381000"/>
          </a:xfrm>
          <a:custGeom>
            <a:rect b="b" l="l" r="r" t="t"/>
            <a:pathLst>
              <a:path extrusionOk="0" h="381000" w="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95ED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83" name="Google Shape;83;p3"/>
          <p:cNvSpPr/>
          <p:nvPr/>
        </p:nvSpPr>
        <p:spPr>
          <a:xfrm>
            <a:off x="5524500" y="1876425"/>
            <a:ext cx="133350" cy="152400"/>
          </a:xfrm>
          <a:custGeom>
            <a:rect b="b" l="l" r="r" t="t"/>
            <a:pathLst>
              <a:path extrusionOk="0" h="152400" w="13335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84" name="Google Shape;84;p3"/>
          <p:cNvSpPr/>
          <p:nvPr/>
        </p:nvSpPr>
        <p:spPr>
          <a:xfrm>
            <a:off x="5895975" y="1819275"/>
            <a:ext cx="148590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Phạm Hoàng Hải</a:t>
            </a:r>
            <a:endParaRPr sz="1600">
              <a:solidFill>
                <a:schemeClr val="dk1"/>
              </a:solidFill>
              <a:latin typeface="EB Garamond"/>
              <a:ea typeface="EB Garamond"/>
              <a:cs typeface="EB Garamond"/>
              <a:sym typeface="EB Garamond"/>
            </a:endParaRPr>
          </a:p>
        </p:txBody>
      </p:sp>
      <p:sp>
        <p:nvSpPr>
          <p:cNvPr id="85" name="Google Shape;85;p3"/>
          <p:cNvSpPr/>
          <p:nvPr/>
        </p:nvSpPr>
        <p:spPr>
          <a:xfrm>
            <a:off x="8586788" y="1371600"/>
            <a:ext cx="3224213" cy="1276350"/>
          </a:xfrm>
          <a:custGeom>
            <a:rect b="b" l="l" r="r" t="t"/>
            <a:pathLst>
              <a:path extrusionOk="0" h="1276350" w="3224213">
                <a:moveTo>
                  <a:pt x="28575" y="0"/>
                </a:moveTo>
                <a:lnTo>
                  <a:pt x="3109915" y="0"/>
                </a:lnTo>
                <a:cubicBezTo>
                  <a:pt x="3172998" y="0"/>
                  <a:pt x="3224213" y="51215"/>
                  <a:pt x="3224213" y="114297"/>
                </a:cubicBezTo>
                <a:lnTo>
                  <a:pt x="3224213" y="1162053"/>
                </a:lnTo>
                <a:cubicBezTo>
                  <a:pt x="3224213" y="1225135"/>
                  <a:pt x="3172998" y="1276350"/>
                  <a:pt x="3109915" y="1276350"/>
                </a:cubicBezTo>
                <a:lnTo>
                  <a:pt x="28575" y="1276350"/>
                </a:lnTo>
                <a:cubicBezTo>
                  <a:pt x="12793" y="1276350"/>
                  <a:pt x="0" y="1263557"/>
                  <a:pt x="0" y="1247775"/>
                </a:cubicBezTo>
                <a:lnTo>
                  <a:pt x="0" y="28575"/>
                </a:lnTo>
                <a:cubicBezTo>
                  <a:pt x="0" y="12793"/>
                  <a:pt x="12793" y="0"/>
                  <a:pt x="28575"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86" name="Google Shape;86;p3"/>
          <p:cNvSpPr/>
          <p:nvPr/>
        </p:nvSpPr>
        <p:spPr>
          <a:xfrm>
            <a:off x="8586788" y="1371600"/>
            <a:ext cx="28575" cy="1276350"/>
          </a:xfrm>
          <a:custGeom>
            <a:rect b="b" l="l" r="r" t="t"/>
            <a:pathLst>
              <a:path extrusionOk="0" h="1276350" w="28575">
                <a:moveTo>
                  <a:pt x="28575" y="0"/>
                </a:moveTo>
                <a:lnTo>
                  <a:pt x="28575" y="0"/>
                </a:lnTo>
                <a:lnTo>
                  <a:pt x="28575" y="1276350"/>
                </a:lnTo>
                <a:lnTo>
                  <a:pt x="28575" y="1276350"/>
                </a:lnTo>
                <a:cubicBezTo>
                  <a:pt x="12804" y="1276350"/>
                  <a:pt x="0" y="1263546"/>
                  <a:pt x="0" y="1247775"/>
                </a:cubicBezTo>
                <a:lnTo>
                  <a:pt x="0" y="28575"/>
                </a:lnTo>
                <a:cubicBezTo>
                  <a:pt x="0" y="12804"/>
                  <a:pt x="12804" y="0"/>
                  <a:pt x="28575"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87" name="Google Shape;87;p3"/>
          <p:cNvSpPr/>
          <p:nvPr/>
        </p:nvSpPr>
        <p:spPr>
          <a:xfrm>
            <a:off x="8791575" y="1762125"/>
            <a:ext cx="371475" cy="381000"/>
          </a:xfrm>
          <a:custGeom>
            <a:rect b="b" l="l" r="r" t="t"/>
            <a:pathLst>
              <a:path extrusionOk="0" h="381000" w="371475">
                <a:moveTo>
                  <a:pt x="185738" y="0"/>
                </a:moveTo>
                <a:lnTo>
                  <a:pt x="185738" y="0"/>
                </a:lnTo>
                <a:cubicBezTo>
                  <a:pt x="288249" y="0"/>
                  <a:pt x="371475" y="83226"/>
                  <a:pt x="371475" y="185738"/>
                </a:cubicBezTo>
                <a:lnTo>
                  <a:pt x="371475" y="195263"/>
                </a:lnTo>
                <a:cubicBezTo>
                  <a:pt x="371475" y="297774"/>
                  <a:pt x="288249" y="381000"/>
                  <a:pt x="185738" y="381000"/>
                </a:cubicBezTo>
                <a:lnTo>
                  <a:pt x="185738" y="381000"/>
                </a:lnTo>
                <a:cubicBezTo>
                  <a:pt x="83226" y="381000"/>
                  <a:pt x="0" y="297774"/>
                  <a:pt x="0" y="195263"/>
                </a:cubicBezTo>
                <a:lnTo>
                  <a:pt x="0" y="185738"/>
                </a:lnTo>
                <a:cubicBezTo>
                  <a:pt x="0" y="83226"/>
                  <a:pt x="83226" y="0"/>
                  <a:pt x="185737" y="0"/>
                </a:cubicBezTo>
                <a:close/>
              </a:path>
            </a:pathLst>
          </a:custGeom>
          <a:solidFill>
            <a:srgbClr val="FF9045">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88" name="Google Shape;88;p3"/>
          <p:cNvSpPr/>
          <p:nvPr/>
        </p:nvSpPr>
        <p:spPr>
          <a:xfrm>
            <a:off x="8912275" y="1876425"/>
            <a:ext cx="133350" cy="152400"/>
          </a:xfrm>
          <a:custGeom>
            <a:rect b="b" l="l" r="r" t="t"/>
            <a:pathLst>
              <a:path extrusionOk="0" h="152400" w="13335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89" name="Google Shape;89;p3"/>
          <p:cNvSpPr/>
          <p:nvPr/>
        </p:nvSpPr>
        <p:spPr>
          <a:xfrm>
            <a:off x="9280773" y="1685925"/>
            <a:ext cx="2438400" cy="533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Nguyễn Khắc Hoàng Dương</a:t>
            </a:r>
            <a:endParaRPr sz="1600">
              <a:solidFill>
                <a:schemeClr val="dk1"/>
              </a:solidFill>
              <a:latin typeface="EB Garamond"/>
              <a:ea typeface="EB Garamond"/>
              <a:cs typeface="EB Garamond"/>
              <a:sym typeface="EB Garamond"/>
            </a:endParaRPr>
          </a:p>
        </p:txBody>
      </p:sp>
      <p:sp>
        <p:nvSpPr>
          <p:cNvPr id="90" name="Google Shape;90;p3"/>
          <p:cNvSpPr/>
          <p:nvPr/>
        </p:nvSpPr>
        <p:spPr>
          <a:xfrm>
            <a:off x="5195888" y="2800350"/>
            <a:ext cx="3224213" cy="1123950"/>
          </a:xfrm>
          <a:custGeom>
            <a:rect b="b" l="l" r="r" t="t"/>
            <a:pathLst>
              <a:path extrusionOk="0" h="1123950" w="3224213">
                <a:moveTo>
                  <a:pt x="28575" y="0"/>
                </a:moveTo>
                <a:lnTo>
                  <a:pt x="3109918" y="0"/>
                </a:lnTo>
                <a:cubicBezTo>
                  <a:pt x="3173041" y="0"/>
                  <a:pt x="3224213" y="51171"/>
                  <a:pt x="3224213" y="114294"/>
                </a:cubicBezTo>
                <a:lnTo>
                  <a:pt x="3224213" y="1009656"/>
                </a:lnTo>
                <a:cubicBezTo>
                  <a:pt x="3224213" y="1072779"/>
                  <a:pt x="3173041" y="1123950"/>
                  <a:pt x="3109918" y="1123950"/>
                </a:cubicBezTo>
                <a:lnTo>
                  <a:pt x="28575" y="1123950"/>
                </a:lnTo>
                <a:cubicBezTo>
                  <a:pt x="12804" y="1123950"/>
                  <a:pt x="0" y="1111146"/>
                  <a:pt x="0" y="1095375"/>
                </a:cubicBezTo>
                <a:lnTo>
                  <a:pt x="0" y="28575"/>
                </a:lnTo>
                <a:cubicBezTo>
                  <a:pt x="0" y="12804"/>
                  <a:pt x="12804" y="0"/>
                  <a:pt x="28575"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91" name="Google Shape;91;p3"/>
          <p:cNvSpPr/>
          <p:nvPr/>
        </p:nvSpPr>
        <p:spPr>
          <a:xfrm>
            <a:off x="5195888" y="2800350"/>
            <a:ext cx="28575" cy="1123950"/>
          </a:xfrm>
          <a:custGeom>
            <a:rect b="b" l="l" r="r" t="t"/>
            <a:pathLst>
              <a:path extrusionOk="0" h="1123950" w="28575">
                <a:moveTo>
                  <a:pt x="28575" y="0"/>
                </a:moveTo>
                <a:lnTo>
                  <a:pt x="28575" y="0"/>
                </a:lnTo>
                <a:lnTo>
                  <a:pt x="28575" y="1123950"/>
                </a:lnTo>
                <a:lnTo>
                  <a:pt x="28575" y="1123950"/>
                </a:lnTo>
                <a:cubicBezTo>
                  <a:pt x="12804" y="1123950"/>
                  <a:pt x="0" y="1111146"/>
                  <a:pt x="0" y="1095375"/>
                </a:cubicBezTo>
                <a:lnTo>
                  <a:pt x="0" y="28575"/>
                </a:lnTo>
                <a:cubicBezTo>
                  <a:pt x="0" y="12804"/>
                  <a:pt x="12804" y="0"/>
                  <a:pt x="28575"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92" name="Google Shape;92;p3"/>
          <p:cNvSpPr/>
          <p:nvPr/>
        </p:nvSpPr>
        <p:spPr>
          <a:xfrm>
            <a:off x="5400675" y="3114675"/>
            <a:ext cx="381000" cy="381000"/>
          </a:xfrm>
          <a:custGeom>
            <a:rect b="b" l="l" r="r" t="t"/>
            <a:pathLst>
              <a:path extrusionOk="0" h="381000" w="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95ED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93" name="Google Shape;93;p3"/>
          <p:cNvSpPr/>
          <p:nvPr/>
        </p:nvSpPr>
        <p:spPr>
          <a:xfrm>
            <a:off x="5524500" y="3228975"/>
            <a:ext cx="133350" cy="152400"/>
          </a:xfrm>
          <a:custGeom>
            <a:rect b="b" l="l" r="r" t="t"/>
            <a:pathLst>
              <a:path extrusionOk="0" h="152400" w="13335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94" name="Google Shape;94;p3"/>
          <p:cNvSpPr/>
          <p:nvPr/>
        </p:nvSpPr>
        <p:spPr>
          <a:xfrm>
            <a:off x="5895975" y="3171825"/>
            <a:ext cx="153352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Đinh Quang Minh</a:t>
            </a:r>
            <a:endParaRPr sz="1600">
              <a:solidFill>
                <a:schemeClr val="dk1"/>
              </a:solidFill>
              <a:latin typeface="EB Garamond"/>
              <a:ea typeface="EB Garamond"/>
              <a:cs typeface="EB Garamond"/>
              <a:sym typeface="EB Garamond"/>
            </a:endParaRPr>
          </a:p>
        </p:txBody>
      </p:sp>
      <p:sp>
        <p:nvSpPr>
          <p:cNvPr id="95" name="Google Shape;95;p3"/>
          <p:cNvSpPr/>
          <p:nvPr/>
        </p:nvSpPr>
        <p:spPr>
          <a:xfrm>
            <a:off x="8586788" y="2800350"/>
            <a:ext cx="3224213" cy="1123950"/>
          </a:xfrm>
          <a:custGeom>
            <a:rect b="b" l="l" r="r" t="t"/>
            <a:pathLst>
              <a:path extrusionOk="0" h="1123950" w="3224213">
                <a:moveTo>
                  <a:pt x="28575" y="0"/>
                </a:moveTo>
                <a:lnTo>
                  <a:pt x="3109918" y="0"/>
                </a:lnTo>
                <a:cubicBezTo>
                  <a:pt x="3173041" y="0"/>
                  <a:pt x="3224213" y="51171"/>
                  <a:pt x="3224213" y="114294"/>
                </a:cubicBezTo>
                <a:lnTo>
                  <a:pt x="3224213" y="1009656"/>
                </a:lnTo>
                <a:cubicBezTo>
                  <a:pt x="3224213" y="1072779"/>
                  <a:pt x="3173041" y="1123950"/>
                  <a:pt x="3109918" y="1123950"/>
                </a:cubicBezTo>
                <a:lnTo>
                  <a:pt x="28575" y="1123950"/>
                </a:lnTo>
                <a:cubicBezTo>
                  <a:pt x="12804" y="1123950"/>
                  <a:pt x="0" y="1111146"/>
                  <a:pt x="0" y="1095375"/>
                </a:cubicBezTo>
                <a:lnTo>
                  <a:pt x="0" y="28575"/>
                </a:lnTo>
                <a:cubicBezTo>
                  <a:pt x="0" y="12804"/>
                  <a:pt x="12804" y="0"/>
                  <a:pt x="28575"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96" name="Google Shape;96;p3"/>
          <p:cNvSpPr/>
          <p:nvPr/>
        </p:nvSpPr>
        <p:spPr>
          <a:xfrm>
            <a:off x="8586788" y="2800350"/>
            <a:ext cx="28575" cy="1123950"/>
          </a:xfrm>
          <a:custGeom>
            <a:rect b="b" l="l" r="r" t="t"/>
            <a:pathLst>
              <a:path extrusionOk="0" h="1123950" w="28575">
                <a:moveTo>
                  <a:pt x="28575" y="0"/>
                </a:moveTo>
                <a:lnTo>
                  <a:pt x="28575" y="0"/>
                </a:lnTo>
                <a:lnTo>
                  <a:pt x="28575" y="1123950"/>
                </a:lnTo>
                <a:lnTo>
                  <a:pt x="28575" y="1123950"/>
                </a:lnTo>
                <a:cubicBezTo>
                  <a:pt x="12804" y="1123950"/>
                  <a:pt x="0" y="1111146"/>
                  <a:pt x="0" y="1095375"/>
                </a:cubicBezTo>
                <a:lnTo>
                  <a:pt x="0" y="28575"/>
                </a:lnTo>
                <a:cubicBezTo>
                  <a:pt x="0" y="12804"/>
                  <a:pt x="12804" y="0"/>
                  <a:pt x="28575"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97" name="Google Shape;97;p3"/>
          <p:cNvSpPr/>
          <p:nvPr/>
        </p:nvSpPr>
        <p:spPr>
          <a:xfrm>
            <a:off x="8791575" y="3114675"/>
            <a:ext cx="381000" cy="381000"/>
          </a:xfrm>
          <a:custGeom>
            <a:rect b="b" l="l" r="r" t="t"/>
            <a:pathLst>
              <a:path extrusionOk="0" h="381000" w="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9045">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98" name="Google Shape;98;p3"/>
          <p:cNvSpPr/>
          <p:nvPr/>
        </p:nvSpPr>
        <p:spPr>
          <a:xfrm>
            <a:off x="8915400" y="3228975"/>
            <a:ext cx="133350" cy="152400"/>
          </a:xfrm>
          <a:custGeom>
            <a:rect b="b" l="l" r="r" t="t"/>
            <a:pathLst>
              <a:path extrusionOk="0" h="152400" w="13335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99" name="Google Shape;99;p3"/>
          <p:cNvSpPr/>
          <p:nvPr/>
        </p:nvSpPr>
        <p:spPr>
          <a:xfrm>
            <a:off x="9286875" y="3171825"/>
            <a:ext cx="160020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Nguyễn Sơn Tùng</a:t>
            </a:r>
            <a:endParaRPr sz="1600">
              <a:solidFill>
                <a:schemeClr val="dk1"/>
              </a:solidFill>
              <a:latin typeface="EB Garamond"/>
              <a:ea typeface="EB Garamond"/>
              <a:cs typeface="EB Garamond"/>
              <a:sym typeface="EB Garamond"/>
            </a:endParaRPr>
          </a:p>
        </p:txBody>
      </p:sp>
      <p:sp>
        <p:nvSpPr>
          <p:cNvPr id="100" name="Google Shape;100;p3"/>
          <p:cNvSpPr/>
          <p:nvPr/>
        </p:nvSpPr>
        <p:spPr>
          <a:xfrm>
            <a:off x="5195888" y="4076700"/>
            <a:ext cx="3224213" cy="1123950"/>
          </a:xfrm>
          <a:custGeom>
            <a:rect b="b" l="l" r="r" t="t"/>
            <a:pathLst>
              <a:path extrusionOk="0" h="1123950" w="3224213">
                <a:moveTo>
                  <a:pt x="28575" y="0"/>
                </a:moveTo>
                <a:lnTo>
                  <a:pt x="3109918" y="0"/>
                </a:lnTo>
                <a:cubicBezTo>
                  <a:pt x="3173041" y="0"/>
                  <a:pt x="3224213" y="51171"/>
                  <a:pt x="3224213" y="114294"/>
                </a:cubicBezTo>
                <a:lnTo>
                  <a:pt x="3224213" y="1009656"/>
                </a:lnTo>
                <a:cubicBezTo>
                  <a:pt x="3224213" y="1072779"/>
                  <a:pt x="3173041" y="1123950"/>
                  <a:pt x="3109918" y="1123950"/>
                </a:cubicBezTo>
                <a:lnTo>
                  <a:pt x="28575" y="1123950"/>
                </a:lnTo>
                <a:cubicBezTo>
                  <a:pt x="12804" y="1123950"/>
                  <a:pt x="0" y="1111146"/>
                  <a:pt x="0" y="1095375"/>
                </a:cubicBezTo>
                <a:lnTo>
                  <a:pt x="0" y="28575"/>
                </a:lnTo>
                <a:cubicBezTo>
                  <a:pt x="0" y="12804"/>
                  <a:pt x="12804" y="0"/>
                  <a:pt x="28575"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01" name="Google Shape;101;p3"/>
          <p:cNvSpPr/>
          <p:nvPr/>
        </p:nvSpPr>
        <p:spPr>
          <a:xfrm>
            <a:off x="5195888" y="4076700"/>
            <a:ext cx="28575" cy="1123950"/>
          </a:xfrm>
          <a:custGeom>
            <a:rect b="b" l="l" r="r" t="t"/>
            <a:pathLst>
              <a:path extrusionOk="0" h="1123950" w="28575">
                <a:moveTo>
                  <a:pt x="28575" y="0"/>
                </a:moveTo>
                <a:lnTo>
                  <a:pt x="28575" y="0"/>
                </a:lnTo>
                <a:lnTo>
                  <a:pt x="28575" y="1123950"/>
                </a:lnTo>
                <a:lnTo>
                  <a:pt x="28575" y="1123950"/>
                </a:lnTo>
                <a:cubicBezTo>
                  <a:pt x="12804" y="1123950"/>
                  <a:pt x="0" y="1111146"/>
                  <a:pt x="0" y="1095375"/>
                </a:cubicBezTo>
                <a:lnTo>
                  <a:pt x="0" y="28575"/>
                </a:lnTo>
                <a:cubicBezTo>
                  <a:pt x="0" y="12804"/>
                  <a:pt x="12804" y="0"/>
                  <a:pt x="28575"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02" name="Google Shape;102;p3"/>
          <p:cNvSpPr/>
          <p:nvPr/>
        </p:nvSpPr>
        <p:spPr>
          <a:xfrm>
            <a:off x="5400675" y="4391025"/>
            <a:ext cx="381000" cy="381000"/>
          </a:xfrm>
          <a:custGeom>
            <a:rect b="b" l="l" r="r" t="t"/>
            <a:pathLst>
              <a:path extrusionOk="0" h="381000" w="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95ED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03" name="Google Shape;103;p3"/>
          <p:cNvSpPr/>
          <p:nvPr/>
        </p:nvSpPr>
        <p:spPr>
          <a:xfrm>
            <a:off x="5524500" y="4505325"/>
            <a:ext cx="133350" cy="152400"/>
          </a:xfrm>
          <a:custGeom>
            <a:rect b="b" l="l" r="r" t="t"/>
            <a:pathLst>
              <a:path extrusionOk="0" h="152400" w="13335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04" name="Google Shape;104;p3"/>
          <p:cNvSpPr/>
          <p:nvPr/>
        </p:nvSpPr>
        <p:spPr>
          <a:xfrm>
            <a:off x="5895975" y="4448175"/>
            <a:ext cx="148590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Hoàng Trung Hải</a:t>
            </a:r>
            <a:endParaRPr sz="1600">
              <a:solidFill>
                <a:schemeClr val="dk1"/>
              </a:solidFill>
              <a:latin typeface="EB Garamond"/>
              <a:ea typeface="EB Garamond"/>
              <a:cs typeface="EB Garamond"/>
              <a:sym typeface="EB Garamond"/>
            </a:endParaRPr>
          </a:p>
        </p:txBody>
      </p:sp>
      <p:sp>
        <p:nvSpPr>
          <p:cNvPr id="105" name="Google Shape;105;p3"/>
          <p:cNvSpPr/>
          <p:nvPr/>
        </p:nvSpPr>
        <p:spPr>
          <a:xfrm>
            <a:off x="8586788" y="4076700"/>
            <a:ext cx="3224213" cy="1123950"/>
          </a:xfrm>
          <a:custGeom>
            <a:rect b="b" l="l" r="r" t="t"/>
            <a:pathLst>
              <a:path extrusionOk="0" h="1123950" w="3224213">
                <a:moveTo>
                  <a:pt x="28575" y="0"/>
                </a:moveTo>
                <a:lnTo>
                  <a:pt x="3109918" y="0"/>
                </a:lnTo>
                <a:cubicBezTo>
                  <a:pt x="3173041" y="0"/>
                  <a:pt x="3224213" y="51171"/>
                  <a:pt x="3224213" y="114294"/>
                </a:cubicBezTo>
                <a:lnTo>
                  <a:pt x="3224213" y="1009656"/>
                </a:lnTo>
                <a:cubicBezTo>
                  <a:pt x="3224213" y="1072779"/>
                  <a:pt x="3173041" y="1123950"/>
                  <a:pt x="3109918" y="1123950"/>
                </a:cubicBezTo>
                <a:lnTo>
                  <a:pt x="28575" y="1123950"/>
                </a:lnTo>
                <a:cubicBezTo>
                  <a:pt x="12804" y="1123950"/>
                  <a:pt x="0" y="1111146"/>
                  <a:pt x="0" y="1095375"/>
                </a:cubicBezTo>
                <a:lnTo>
                  <a:pt x="0" y="28575"/>
                </a:lnTo>
                <a:cubicBezTo>
                  <a:pt x="0" y="12804"/>
                  <a:pt x="12804" y="0"/>
                  <a:pt x="28575"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06" name="Google Shape;106;p3"/>
          <p:cNvSpPr/>
          <p:nvPr/>
        </p:nvSpPr>
        <p:spPr>
          <a:xfrm>
            <a:off x="8586788" y="4076700"/>
            <a:ext cx="28575" cy="1123950"/>
          </a:xfrm>
          <a:custGeom>
            <a:rect b="b" l="l" r="r" t="t"/>
            <a:pathLst>
              <a:path extrusionOk="0" h="1123950" w="28575">
                <a:moveTo>
                  <a:pt x="28575" y="0"/>
                </a:moveTo>
                <a:lnTo>
                  <a:pt x="28575" y="0"/>
                </a:lnTo>
                <a:lnTo>
                  <a:pt x="28575" y="1123950"/>
                </a:lnTo>
                <a:lnTo>
                  <a:pt x="28575" y="1123950"/>
                </a:lnTo>
                <a:cubicBezTo>
                  <a:pt x="12804" y="1123950"/>
                  <a:pt x="0" y="1111146"/>
                  <a:pt x="0" y="1095375"/>
                </a:cubicBezTo>
                <a:lnTo>
                  <a:pt x="0" y="28575"/>
                </a:lnTo>
                <a:cubicBezTo>
                  <a:pt x="0" y="12804"/>
                  <a:pt x="12804" y="0"/>
                  <a:pt x="28575"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07" name="Google Shape;107;p3"/>
          <p:cNvSpPr/>
          <p:nvPr/>
        </p:nvSpPr>
        <p:spPr>
          <a:xfrm>
            <a:off x="8791575" y="4391025"/>
            <a:ext cx="381000" cy="381000"/>
          </a:xfrm>
          <a:custGeom>
            <a:rect b="b" l="l" r="r" t="t"/>
            <a:pathLst>
              <a:path extrusionOk="0" h="381000" w="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FF9045">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08" name="Google Shape;108;p3"/>
          <p:cNvSpPr/>
          <p:nvPr/>
        </p:nvSpPr>
        <p:spPr>
          <a:xfrm>
            <a:off x="8915400" y="4505325"/>
            <a:ext cx="133350" cy="152400"/>
          </a:xfrm>
          <a:custGeom>
            <a:rect b="b" l="l" r="r" t="t"/>
            <a:pathLst>
              <a:path extrusionOk="0" h="152400" w="13335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09" name="Google Shape;109;p3"/>
          <p:cNvSpPr/>
          <p:nvPr/>
        </p:nvSpPr>
        <p:spPr>
          <a:xfrm>
            <a:off x="9286875" y="4448175"/>
            <a:ext cx="144780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Đỗ Mạnh Chung</a:t>
            </a:r>
            <a:endParaRPr sz="1600">
              <a:solidFill>
                <a:schemeClr val="dk1"/>
              </a:solidFill>
              <a:latin typeface="EB Garamond"/>
              <a:ea typeface="EB Garamond"/>
              <a:cs typeface="EB Garamond"/>
              <a:sym typeface="EB Garamond"/>
            </a:endParaRPr>
          </a:p>
        </p:txBody>
      </p:sp>
      <p:sp>
        <p:nvSpPr>
          <p:cNvPr id="110" name="Google Shape;110;p3"/>
          <p:cNvSpPr/>
          <p:nvPr/>
        </p:nvSpPr>
        <p:spPr>
          <a:xfrm>
            <a:off x="5195888" y="5353050"/>
            <a:ext cx="6615113" cy="1123950"/>
          </a:xfrm>
          <a:custGeom>
            <a:rect b="b" l="l" r="r" t="t"/>
            <a:pathLst>
              <a:path extrusionOk="0" h="1123950" w="6615113">
                <a:moveTo>
                  <a:pt x="28575" y="0"/>
                </a:moveTo>
                <a:lnTo>
                  <a:pt x="6500818" y="0"/>
                </a:lnTo>
                <a:cubicBezTo>
                  <a:pt x="6563941" y="0"/>
                  <a:pt x="6615113" y="51171"/>
                  <a:pt x="6615113" y="114294"/>
                </a:cubicBezTo>
                <a:lnTo>
                  <a:pt x="6615113" y="1009656"/>
                </a:lnTo>
                <a:cubicBezTo>
                  <a:pt x="6615113" y="1072779"/>
                  <a:pt x="6563941" y="1123950"/>
                  <a:pt x="6500818" y="1123950"/>
                </a:cubicBezTo>
                <a:lnTo>
                  <a:pt x="28575" y="1123950"/>
                </a:lnTo>
                <a:cubicBezTo>
                  <a:pt x="12804" y="1123950"/>
                  <a:pt x="0" y="1111146"/>
                  <a:pt x="0" y="1095375"/>
                </a:cubicBezTo>
                <a:lnTo>
                  <a:pt x="0" y="28575"/>
                </a:lnTo>
                <a:cubicBezTo>
                  <a:pt x="0" y="12804"/>
                  <a:pt x="12804" y="0"/>
                  <a:pt x="28575" y="0"/>
                </a:cubicBezTo>
                <a:close/>
              </a:path>
            </a:pathLst>
          </a:custGeom>
          <a:solidFill>
            <a:srgbClr val="FFFFFF"/>
          </a:solidFill>
          <a:ln>
            <a:noFill/>
          </a:ln>
          <a:effectLst>
            <a:outerShdw blurRad="28575" rotWithShape="0" algn="bl" dir="5400000" dist="9525">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11" name="Google Shape;111;p3"/>
          <p:cNvSpPr/>
          <p:nvPr/>
        </p:nvSpPr>
        <p:spPr>
          <a:xfrm>
            <a:off x="5195888" y="5353050"/>
            <a:ext cx="28575" cy="1123950"/>
          </a:xfrm>
          <a:custGeom>
            <a:rect b="b" l="l" r="r" t="t"/>
            <a:pathLst>
              <a:path extrusionOk="0" h="1123950" w="28575">
                <a:moveTo>
                  <a:pt x="28575" y="0"/>
                </a:moveTo>
                <a:lnTo>
                  <a:pt x="28575" y="0"/>
                </a:lnTo>
                <a:lnTo>
                  <a:pt x="28575" y="1123950"/>
                </a:lnTo>
                <a:lnTo>
                  <a:pt x="28575" y="1123950"/>
                </a:lnTo>
                <a:cubicBezTo>
                  <a:pt x="12804" y="1123950"/>
                  <a:pt x="0" y="1111146"/>
                  <a:pt x="0" y="1095375"/>
                </a:cubicBezTo>
                <a:lnTo>
                  <a:pt x="0" y="28575"/>
                </a:lnTo>
                <a:cubicBezTo>
                  <a:pt x="0" y="12804"/>
                  <a:pt x="12804" y="0"/>
                  <a:pt x="28575"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12" name="Google Shape;112;p3"/>
          <p:cNvSpPr/>
          <p:nvPr/>
        </p:nvSpPr>
        <p:spPr>
          <a:xfrm>
            <a:off x="5400675" y="5667375"/>
            <a:ext cx="381000" cy="381000"/>
          </a:xfrm>
          <a:custGeom>
            <a:rect b="b" l="l" r="r" t="t"/>
            <a:pathLst>
              <a:path extrusionOk="0" h="381000" w="381000">
                <a:moveTo>
                  <a:pt x="190500" y="0"/>
                </a:moveTo>
                <a:lnTo>
                  <a:pt x="190500" y="0"/>
                </a:lnTo>
                <a:cubicBezTo>
                  <a:pt x="295640" y="0"/>
                  <a:pt x="381000" y="85360"/>
                  <a:pt x="381000" y="190500"/>
                </a:cubicBezTo>
                <a:lnTo>
                  <a:pt x="381000" y="190500"/>
                </a:lnTo>
                <a:cubicBezTo>
                  <a:pt x="381000" y="295640"/>
                  <a:pt x="295640" y="381000"/>
                  <a:pt x="190500" y="381000"/>
                </a:cubicBezTo>
                <a:lnTo>
                  <a:pt x="190500" y="381000"/>
                </a:lnTo>
                <a:cubicBezTo>
                  <a:pt x="85360" y="381000"/>
                  <a:pt x="0" y="295640"/>
                  <a:pt x="0" y="190500"/>
                </a:cubicBezTo>
                <a:lnTo>
                  <a:pt x="0" y="190500"/>
                </a:lnTo>
                <a:cubicBezTo>
                  <a:pt x="0" y="85360"/>
                  <a:pt x="85360" y="0"/>
                  <a:pt x="190500" y="0"/>
                </a:cubicBezTo>
                <a:close/>
              </a:path>
            </a:pathLst>
          </a:custGeom>
          <a:solidFill>
            <a:srgbClr val="295ED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13" name="Google Shape;113;p3"/>
          <p:cNvSpPr/>
          <p:nvPr/>
        </p:nvSpPr>
        <p:spPr>
          <a:xfrm>
            <a:off x="5524500" y="5781675"/>
            <a:ext cx="133350" cy="152400"/>
          </a:xfrm>
          <a:custGeom>
            <a:rect b="b" l="l" r="r" t="t"/>
            <a:pathLst>
              <a:path extrusionOk="0" h="152400" w="133350">
                <a:moveTo>
                  <a:pt x="66675" y="73819"/>
                </a:moveTo>
                <a:cubicBezTo>
                  <a:pt x="86389" y="73819"/>
                  <a:pt x="102394" y="57814"/>
                  <a:pt x="102394" y="38100"/>
                </a:cubicBezTo>
                <a:cubicBezTo>
                  <a:pt x="102394" y="18386"/>
                  <a:pt x="86389" y="2381"/>
                  <a:pt x="66675" y="2381"/>
                </a:cubicBezTo>
                <a:cubicBezTo>
                  <a:pt x="46961" y="2381"/>
                  <a:pt x="30956" y="18386"/>
                  <a:pt x="30956" y="38100"/>
                </a:cubicBezTo>
                <a:cubicBezTo>
                  <a:pt x="30956" y="57814"/>
                  <a:pt x="46961" y="73819"/>
                  <a:pt x="66675" y="73819"/>
                </a:cubicBezTo>
                <a:close/>
                <a:moveTo>
                  <a:pt x="57835" y="90488"/>
                </a:moveTo>
                <a:cubicBezTo>
                  <a:pt x="28515" y="90488"/>
                  <a:pt x="4763" y="114240"/>
                  <a:pt x="4763" y="143560"/>
                </a:cubicBezTo>
                <a:cubicBezTo>
                  <a:pt x="4763" y="148441"/>
                  <a:pt x="8721" y="152400"/>
                  <a:pt x="13603" y="152400"/>
                </a:cubicBezTo>
                <a:lnTo>
                  <a:pt x="119747" y="152400"/>
                </a:lnTo>
                <a:cubicBezTo>
                  <a:pt x="124629" y="152400"/>
                  <a:pt x="128588" y="148441"/>
                  <a:pt x="128588" y="143560"/>
                </a:cubicBezTo>
                <a:cubicBezTo>
                  <a:pt x="128588" y="114240"/>
                  <a:pt x="104835" y="90488"/>
                  <a:pt x="75515" y="90488"/>
                </a:cubicBezTo>
                <a:lnTo>
                  <a:pt x="57835" y="90488"/>
                </a:ln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14" name="Google Shape;114;p3"/>
          <p:cNvSpPr/>
          <p:nvPr/>
        </p:nvSpPr>
        <p:spPr>
          <a:xfrm>
            <a:off x="5895975" y="5724525"/>
            <a:ext cx="16668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Nguyễn Tuấn Minh</a:t>
            </a:r>
            <a:endParaRPr sz="1600">
              <a:solidFill>
                <a:schemeClr val="dk1"/>
              </a:solidFill>
              <a:latin typeface="EB Garamond"/>
              <a:ea typeface="EB Garamond"/>
              <a:cs typeface="EB Garamond"/>
              <a:sym typeface="EB Garamond"/>
            </a:endParaRP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C"/>
        </a:solidFill>
      </p:bgPr>
    </p:bg>
    <p:spTree>
      <p:nvGrpSpPr>
        <p:cNvPr id="119" name="Shape 119"/>
        <p:cNvGrpSpPr/>
        <p:nvPr/>
      </p:nvGrpSpPr>
      <p:grpSpPr>
        <a:xfrm>
          <a:off x="0" y="0"/>
          <a:ext cx="0" cy="0"/>
          <a:chOff x="0" y="0"/>
          <a:chExt cx="0" cy="0"/>
        </a:xfrm>
      </p:grpSpPr>
      <p:pic>
        <p:nvPicPr>
          <p:cNvPr descr="https://kimi-web-img.moonshot.cn/img/theenterpriseglobe.com/1eb0a332cec8f56fd0940916abbe0f339b2fb939.webp" id="120" name="Google Shape;120;p4"/>
          <p:cNvPicPr preferRelativeResize="0"/>
          <p:nvPr/>
        </p:nvPicPr>
        <p:blipFill rotWithShape="1">
          <a:blip r:embed="rId3">
            <a:alphaModFix amt="20000"/>
          </a:blip>
          <a:srcRect b="7759" l="0" r="0" t="7760"/>
          <a:stretch/>
        </p:blipFill>
        <p:spPr>
          <a:xfrm>
            <a:off x="0" y="0"/>
            <a:ext cx="12192000" cy="6858000"/>
          </a:xfrm>
          <a:prstGeom prst="roundRect">
            <a:avLst>
              <a:gd fmla="val 0" name="adj"/>
            </a:avLst>
          </a:prstGeom>
          <a:noFill/>
          <a:ln>
            <a:noFill/>
          </a:ln>
        </p:spPr>
      </p:pic>
      <p:sp>
        <p:nvSpPr>
          <p:cNvPr id="121" name="Google Shape;121;p4"/>
          <p:cNvSpPr/>
          <p:nvPr/>
        </p:nvSpPr>
        <p:spPr>
          <a:xfrm>
            <a:off x="0" y="9167"/>
            <a:ext cx="12192000" cy="6858000"/>
          </a:xfrm>
          <a:custGeom>
            <a:rect b="b" l="l" r="r" t="t"/>
            <a:pathLst>
              <a:path extrusionOk="0" h="6858000" w="12192000">
                <a:moveTo>
                  <a:pt x="0" y="0"/>
                </a:moveTo>
                <a:lnTo>
                  <a:pt x="12192000" y="0"/>
                </a:lnTo>
                <a:lnTo>
                  <a:pt x="12192000" y="6858000"/>
                </a:lnTo>
                <a:lnTo>
                  <a:pt x="0" y="6858000"/>
                </a:lnTo>
                <a:lnTo>
                  <a:pt x="0" y="0"/>
                </a:lnTo>
                <a:close/>
              </a:path>
            </a:pathLst>
          </a:custGeom>
          <a:gradFill>
            <a:gsLst>
              <a:gs pos="0">
                <a:srgbClr val="0D1B4C">
                  <a:alpha val="94901"/>
                </a:srgbClr>
              </a:gs>
              <a:gs pos="100000">
                <a:srgbClr val="295EDF">
                  <a:alpha val="84705"/>
                </a:srgbClr>
              </a:gs>
            </a:gsLst>
            <a:lin ang="0" scaled="0"/>
          </a:gradFill>
          <a:ln>
            <a:noFill/>
          </a:ln>
        </p:spPr>
      </p:sp>
      <p:sp>
        <p:nvSpPr>
          <p:cNvPr id="122" name="Google Shape;122;p4"/>
          <p:cNvSpPr/>
          <p:nvPr/>
        </p:nvSpPr>
        <p:spPr>
          <a:xfrm>
            <a:off x="381000" y="623324"/>
            <a:ext cx="2058162" cy="620268"/>
          </a:xfrm>
          <a:custGeom>
            <a:rect b="b" l="l" r="r" t="t"/>
            <a:pathLst>
              <a:path extrusionOk="0" h="419100" w="1390650">
                <a:moveTo>
                  <a:pt x="209550" y="0"/>
                </a:moveTo>
                <a:lnTo>
                  <a:pt x="1181100" y="0"/>
                </a:lnTo>
                <a:cubicBezTo>
                  <a:pt x="1296754" y="0"/>
                  <a:pt x="1390650" y="93896"/>
                  <a:pt x="1390650" y="209550"/>
                </a:cubicBezTo>
                <a:lnTo>
                  <a:pt x="1390650" y="209550"/>
                </a:lnTo>
                <a:cubicBezTo>
                  <a:pt x="1390650" y="325204"/>
                  <a:pt x="1296754" y="419100"/>
                  <a:pt x="1181100" y="419100"/>
                </a:cubicBezTo>
                <a:lnTo>
                  <a:pt x="209550" y="419100"/>
                </a:lnTo>
                <a:cubicBezTo>
                  <a:pt x="93896" y="419100"/>
                  <a:pt x="0" y="325204"/>
                  <a:pt x="0" y="209550"/>
                </a:cubicBezTo>
                <a:lnTo>
                  <a:pt x="0" y="209550"/>
                </a:lnTo>
                <a:cubicBezTo>
                  <a:pt x="0" y="93896"/>
                  <a:pt x="93896" y="0"/>
                  <a:pt x="209550" y="0"/>
                </a:cubicBezTo>
                <a:close/>
              </a:path>
            </a:pathLst>
          </a:custGeom>
          <a:solidFill>
            <a:srgbClr val="FF9045"/>
          </a:solidFill>
          <a:ln>
            <a:noFill/>
          </a:ln>
        </p:spPr>
        <p:txBody>
          <a:bodyPr anchorCtr="0" anchor="ctr" bIns="135375" lIns="135375" spcFirstLastPara="1" rIns="135375" wrap="square" tIns="135375">
            <a:noAutofit/>
          </a:bodyPr>
          <a:lstStyle/>
          <a:p>
            <a:pPr indent="0" lvl="0" marL="0" rtl="0" algn="l">
              <a:spcBef>
                <a:spcPts val="0"/>
              </a:spcBef>
              <a:spcAft>
                <a:spcPts val="0"/>
              </a:spcAft>
              <a:buNone/>
            </a:pPr>
            <a:r>
              <a:t/>
            </a:r>
            <a:endParaRPr/>
          </a:p>
        </p:txBody>
      </p:sp>
      <p:sp>
        <p:nvSpPr>
          <p:cNvPr id="123" name="Google Shape;123;p4"/>
          <p:cNvSpPr/>
          <p:nvPr/>
        </p:nvSpPr>
        <p:spPr>
          <a:xfrm>
            <a:off x="663082" y="736155"/>
            <a:ext cx="1622100" cy="3948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999">
                <a:solidFill>
                  <a:srgbClr val="FFFFFF"/>
                </a:solidFill>
                <a:latin typeface="EB Garamond"/>
                <a:ea typeface="EB Garamond"/>
                <a:cs typeface="EB Garamond"/>
                <a:sym typeface="EB Garamond"/>
              </a:rPr>
              <a:t>CHAPTER 01</a:t>
            </a:r>
            <a:endParaRPr sz="2369">
              <a:solidFill>
                <a:schemeClr val="dk1"/>
              </a:solidFill>
              <a:latin typeface="EB Garamond"/>
              <a:ea typeface="EB Garamond"/>
              <a:cs typeface="EB Garamond"/>
              <a:sym typeface="EB Garamond"/>
            </a:endParaRPr>
          </a:p>
        </p:txBody>
      </p:sp>
      <p:sp>
        <p:nvSpPr>
          <p:cNvPr id="124" name="Google Shape;124;p4"/>
          <p:cNvSpPr/>
          <p:nvPr/>
        </p:nvSpPr>
        <p:spPr>
          <a:xfrm>
            <a:off x="1871700" y="2282053"/>
            <a:ext cx="8448600" cy="18288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n-US" sz="7200">
                <a:solidFill>
                  <a:srgbClr val="FFFFFF"/>
                </a:solidFill>
                <a:latin typeface="EB Garamond"/>
                <a:ea typeface="EB Garamond"/>
                <a:cs typeface="EB Garamond"/>
                <a:sym typeface="EB Garamond"/>
              </a:rPr>
              <a:t>Bối cảnh</a:t>
            </a:r>
            <a:endParaRPr sz="1600">
              <a:solidFill>
                <a:schemeClr val="dk1"/>
              </a:solidFill>
              <a:latin typeface="EB Garamond"/>
              <a:ea typeface="EB Garamond"/>
              <a:cs typeface="EB Garamond"/>
              <a:sym typeface="EB Garamond"/>
            </a:endParaRPr>
          </a:p>
          <a:p>
            <a:pPr indent="0" lvl="0" marL="0" marR="0" rtl="0" algn="ctr">
              <a:lnSpc>
                <a:spcPct val="80000"/>
              </a:lnSpc>
              <a:spcBef>
                <a:spcPts val="0"/>
              </a:spcBef>
              <a:spcAft>
                <a:spcPts val="0"/>
              </a:spcAft>
              <a:buNone/>
            </a:pPr>
            <a:r>
              <a:rPr b="1" lang="en-US" sz="7200">
                <a:solidFill>
                  <a:srgbClr val="FFFFFF"/>
                </a:solidFill>
                <a:latin typeface="EB Garamond"/>
                <a:ea typeface="EB Garamond"/>
                <a:cs typeface="EB Garamond"/>
                <a:sym typeface="EB Garamond"/>
              </a:rPr>
              <a:t>dự án</a:t>
            </a:r>
            <a:endParaRPr sz="1600">
              <a:solidFill>
                <a:schemeClr val="dk1"/>
              </a:solidFill>
              <a:latin typeface="EB Garamond"/>
              <a:ea typeface="EB Garamond"/>
              <a:cs typeface="EB Garamond"/>
              <a:sym typeface="EB Garamond"/>
            </a:endParaRPr>
          </a:p>
        </p:txBody>
      </p:sp>
      <p:sp>
        <p:nvSpPr>
          <p:cNvPr id="125" name="Google Shape;125;p4"/>
          <p:cNvSpPr/>
          <p:nvPr/>
        </p:nvSpPr>
        <p:spPr>
          <a:xfrm>
            <a:off x="5334000" y="4324003"/>
            <a:ext cx="1524000" cy="57150"/>
          </a:xfrm>
          <a:custGeom>
            <a:rect b="b" l="l" r="r" t="t"/>
            <a:pathLst>
              <a:path extrusionOk="0" h="57150" w="1524000">
                <a:moveTo>
                  <a:pt x="28575" y="0"/>
                </a:moveTo>
                <a:lnTo>
                  <a:pt x="1495425" y="0"/>
                </a:lnTo>
                <a:cubicBezTo>
                  <a:pt x="1511196" y="0"/>
                  <a:pt x="1524000" y="12804"/>
                  <a:pt x="1524000" y="28575"/>
                </a:cubicBezTo>
                <a:lnTo>
                  <a:pt x="1524000" y="28575"/>
                </a:lnTo>
                <a:cubicBezTo>
                  <a:pt x="1524000" y="44346"/>
                  <a:pt x="1511196" y="57150"/>
                  <a:pt x="1495425" y="57150"/>
                </a:cubicBezTo>
                <a:lnTo>
                  <a:pt x="28575" y="57150"/>
                </a:lnTo>
                <a:cubicBezTo>
                  <a:pt x="12804" y="57150"/>
                  <a:pt x="0" y="44346"/>
                  <a:pt x="0" y="28575"/>
                </a:cubicBezTo>
                <a:lnTo>
                  <a:pt x="0" y="28575"/>
                </a:lnTo>
                <a:cubicBezTo>
                  <a:pt x="0" y="12804"/>
                  <a:pt x="12804" y="0"/>
                  <a:pt x="28575"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4"/>
          <p:cNvSpPr/>
          <p:nvPr/>
        </p:nvSpPr>
        <p:spPr>
          <a:xfrm>
            <a:off x="381000" y="4844653"/>
            <a:ext cx="8134350" cy="46672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2250">
                <a:solidFill>
                  <a:srgbClr val="FFFFFF"/>
                </a:solidFill>
                <a:latin typeface="EB Garamond"/>
                <a:ea typeface="EB Garamond"/>
                <a:cs typeface="EB Garamond"/>
                <a:sym typeface="EB Garamond"/>
              </a:rPr>
              <a:t>Thực trạng hệ sinh thái số và môi trường học tập tại Đại học FPT</a:t>
            </a:r>
            <a:endParaRPr sz="1600">
              <a:solidFill>
                <a:schemeClr val="dk1"/>
              </a:solidFill>
              <a:latin typeface="EB Garamond"/>
              <a:ea typeface="EB Garamond"/>
              <a:cs typeface="EB Garamond"/>
              <a:sym typeface="EB Garamond"/>
            </a:endParaRPr>
          </a:p>
        </p:txBody>
      </p:sp>
    </p:spTree>
  </p:cSld>
  <p:clrMapOvr>
    <a:masterClrMapping/>
  </p:clrMapOvr>
  <p:transition>
    <p:fade/>
  </p:transition>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31" name="Shape 131"/>
        <p:cNvGrpSpPr/>
        <p:nvPr/>
      </p:nvGrpSpPr>
      <p:grpSpPr>
        <a:xfrm>
          <a:off x="0" y="0"/>
          <a:ext cx="0" cy="0"/>
          <a:chOff x="0" y="0"/>
          <a:chExt cx="0" cy="0"/>
        </a:xfrm>
      </p:grpSpPr>
      <p:sp>
        <p:nvSpPr>
          <p:cNvPr id="132" name="Google Shape;132;p5"/>
          <p:cNvSpPr/>
          <p:nvPr/>
        </p:nvSpPr>
        <p:spPr>
          <a:xfrm>
            <a:off x="381000" y="381000"/>
            <a:ext cx="115062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295EDF"/>
                </a:solidFill>
                <a:latin typeface="EB Garamond"/>
                <a:ea typeface="EB Garamond"/>
                <a:cs typeface="EB Garamond"/>
                <a:sym typeface="EB Garamond"/>
              </a:rPr>
              <a:t>CHAPTER 01</a:t>
            </a:r>
            <a:endParaRPr sz="1600">
              <a:solidFill>
                <a:schemeClr val="dk1"/>
              </a:solidFill>
              <a:latin typeface="EB Garamond"/>
              <a:ea typeface="EB Garamond"/>
              <a:cs typeface="EB Garamond"/>
              <a:sym typeface="EB Garamond"/>
            </a:endParaRPr>
          </a:p>
        </p:txBody>
      </p:sp>
      <p:sp>
        <p:nvSpPr>
          <p:cNvPr id="133" name="Google Shape;133;p5"/>
          <p:cNvSpPr/>
          <p:nvPr/>
        </p:nvSpPr>
        <p:spPr>
          <a:xfrm>
            <a:off x="381000" y="685800"/>
            <a:ext cx="11658600" cy="4572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US" sz="3600">
                <a:solidFill>
                  <a:srgbClr val="0D1B4C"/>
                </a:solidFill>
                <a:latin typeface="EB Garamond"/>
                <a:ea typeface="EB Garamond"/>
                <a:cs typeface="EB Garamond"/>
                <a:sym typeface="EB Garamond"/>
              </a:rPr>
              <a:t>Thách thức hiện tại</a:t>
            </a:r>
            <a:endParaRPr sz="1600">
              <a:solidFill>
                <a:schemeClr val="dk1"/>
              </a:solidFill>
              <a:latin typeface="EB Garamond"/>
              <a:ea typeface="EB Garamond"/>
              <a:cs typeface="EB Garamond"/>
              <a:sym typeface="EB Garamond"/>
            </a:endParaRPr>
          </a:p>
        </p:txBody>
      </p:sp>
      <p:sp>
        <p:nvSpPr>
          <p:cNvPr id="134" name="Google Shape;134;p5"/>
          <p:cNvSpPr/>
          <p:nvPr/>
        </p:nvSpPr>
        <p:spPr>
          <a:xfrm>
            <a:off x="381000" y="1219200"/>
            <a:ext cx="11515725"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350">
                <a:solidFill>
                  <a:srgbClr val="1C2026"/>
                </a:solidFill>
                <a:latin typeface="EB Garamond"/>
                <a:ea typeface="EB Garamond"/>
                <a:cs typeface="EB Garamond"/>
                <a:sym typeface="EB Garamond"/>
              </a:rPr>
              <a:t>Hệ sinh thái học tập tại Đại học FPT đang tồn tại những bất cập khiến trải nghiệm sinh viên chưa thực sự liền mạch</a:t>
            </a:r>
            <a:endParaRPr sz="1600">
              <a:solidFill>
                <a:schemeClr val="dk1"/>
              </a:solidFill>
              <a:latin typeface="EB Garamond"/>
              <a:ea typeface="EB Garamond"/>
              <a:cs typeface="EB Garamond"/>
              <a:sym typeface="EB Garamond"/>
            </a:endParaRPr>
          </a:p>
        </p:txBody>
      </p:sp>
      <p:sp>
        <p:nvSpPr>
          <p:cNvPr id="135" name="Google Shape;135;p5"/>
          <p:cNvSpPr/>
          <p:nvPr/>
        </p:nvSpPr>
        <p:spPr>
          <a:xfrm>
            <a:off x="381000" y="1733550"/>
            <a:ext cx="5619750" cy="2419350"/>
          </a:xfrm>
          <a:custGeom>
            <a:rect b="b" l="l" r="r" t="t"/>
            <a:pathLst>
              <a:path extrusionOk="0" h="2419350" w="5619750">
                <a:moveTo>
                  <a:pt x="38100" y="0"/>
                </a:moveTo>
                <a:lnTo>
                  <a:pt x="5581650" y="0"/>
                </a:lnTo>
                <a:cubicBezTo>
                  <a:pt x="5602678" y="0"/>
                  <a:pt x="5619750" y="17072"/>
                  <a:pt x="5619750" y="38100"/>
                </a:cubicBezTo>
                <a:lnTo>
                  <a:pt x="5619750" y="2266955"/>
                </a:lnTo>
                <a:cubicBezTo>
                  <a:pt x="5619750" y="2351064"/>
                  <a:pt x="5551464" y="2419350"/>
                  <a:pt x="5467355" y="2419350"/>
                </a:cubicBezTo>
                <a:lnTo>
                  <a:pt x="152395" y="2419350"/>
                </a:lnTo>
                <a:cubicBezTo>
                  <a:pt x="68286" y="2419350"/>
                  <a:pt x="0" y="2351064"/>
                  <a:pt x="0" y="2266955"/>
                </a:cubicBezTo>
                <a:lnTo>
                  <a:pt x="0" y="38100"/>
                </a:lnTo>
                <a:cubicBezTo>
                  <a:pt x="0" y="17072"/>
                  <a:pt x="17072" y="0"/>
                  <a:pt x="38100" y="0"/>
                </a:cubicBezTo>
                <a:close/>
              </a:path>
            </a:pathLst>
          </a:custGeom>
          <a:solidFill>
            <a:srgbClr val="FFFFFF"/>
          </a:solidFill>
          <a:ln>
            <a:noFill/>
          </a:ln>
          <a:effectLst>
            <a:outerShdw blurRad="5715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36" name="Google Shape;136;p5"/>
          <p:cNvSpPr/>
          <p:nvPr/>
        </p:nvSpPr>
        <p:spPr>
          <a:xfrm>
            <a:off x="381000" y="1733550"/>
            <a:ext cx="5619750" cy="38100"/>
          </a:xfrm>
          <a:custGeom>
            <a:rect b="b" l="l" r="r" t="t"/>
            <a:pathLst>
              <a:path extrusionOk="0" h="38100" w="5619750">
                <a:moveTo>
                  <a:pt x="38100" y="0"/>
                </a:moveTo>
                <a:lnTo>
                  <a:pt x="5581650" y="0"/>
                </a:lnTo>
                <a:cubicBezTo>
                  <a:pt x="5602678" y="0"/>
                  <a:pt x="5619750" y="17072"/>
                  <a:pt x="5619750" y="38100"/>
                </a:cubicBezTo>
                <a:lnTo>
                  <a:pt x="5619750" y="38100"/>
                </a:lnTo>
                <a:lnTo>
                  <a:pt x="0" y="38100"/>
                </a:lnTo>
                <a:lnTo>
                  <a:pt x="0" y="38100"/>
                </a:lnTo>
                <a:cubicBezTo>
                  <a:pt x="0" y="17072"/>
                  <a:pt x="17072" y="0"/>
                  <a:pt x="381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37" name="Google Shape;137;p5"/>
          <p:cNvSpPr/>
          <p:nvPr/>
        </p:nvSpPr>
        <p:spPr>
          <a:xfrm>
            <a:off x="609600" y="1981200"/>
            <a:ext cx="533400" cy="533400"/>
          </a:xfrm>
          <a:custGeom>
            <a:rect b="b" l="l" r="r" t="t"/>
            <a:pathLst>
              <a:path extrusionOk="0" h="533400" w="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38" name="Google Shape;138;p5"/>
          <p:cNvSpPr/>
          <p:nvPr/>
        </p:nvSpPr>
        <p:spPr>
          <a:xfrm>
            <a:off x="552450" y="1981200"/>
            <a:ext cx="647700" cy="5334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01</a:t>
            </a:r>
            <a:endParaRPr sz="1600">
              <a:solidFill>
                <a:schemeClr val="dk1"/>
              </a:solidFill>
              <a:latin typeface="EB Garamond"/>
              <a:ea typeface="EB Garamond"/>
              <a:cs typeface="EB Garamond"/>
              <a:sym typeface="EB Garamond"/>
            </a:endParaRPr>
          </a:p>
        </p:txBody>
      </p:sp>
      <p:sp>
        <p:nvSpPr>
          <p:cNvPr id="139" name="Google Shape;139;p5"/>
          <p:cNvSpPr/>
          <p:nvPr/>
        </p:nvSpPr>
        <p:spPr>
          <a:xfrm>
            <a:off x="1295400" y="1981200"/>
            <a:ext cx="459105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Phân mảnh hệ thống</a:t>
            </a:r>
            <a:endParaRPr sz="1600">
              <a:solidFill>
                <a:schemeClr val="dk1"/>
              </a:solidFill>
              <a:latin typeface="EB Garamond"/>
              <a:ea typeface="EB Garamond"/>
              <a:cs typeface="EB Garamond"/>
              <a:sym typeface="EB Garamond"/>
            </a:endParaRPr>
          </a:p>
        </p:txBody>
      </p:sp>
      <p:sp>
        <p:nvSpPr>
          <p:cNvPr id="140" name="Google Shape;140;p5"/>
          <p:cNvSpPr/>
          <p:nvPr/>
        </p:nvSpPr>
        <p:spPr>
          <a:xfrm>
            <a:off x="1295400" y="2362200"/>
            <a:ext cx="455295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1C2026"/>
                </a:solidFill>
                <a:latin typeface="EB Garamond"/>
                <a:ea typeface="EB Garamond"/>
                <a:cs typeface="EB Garamond"/>
                <a:sym typeface="EB Garamond"/>
              </a:rPr>
              <a:t>Sinh viên FPT hiện phải thao tác trên </a:t>
            </a:r>
            <a:r>
              <a:rPr b="1" lang="en-US" sz="1200">
                <a:solidFill>
                  <a:srgbClr val="295EDF"/>
                </a:solidFill>
                <a:latin typeface="EB Garamond"/>
                <a:ea typeface="EB Garamond"/>
                <a:cs typeface="EB Garamond"/>
                <a:sym typeface="EB Garamond"/>
              </a:rPr>
              <a:t>quá nhiều nền tảng</a:t>
            </a:r>
            <a:r>
              <a:rPr lang="en-US" sz="1200">
                <a:solidFill>
                  <a:srgbClr val="1C2026"/>
                </a:solidFill>
                <a:latin typeface="EB Garamond"/>
                <a:ea typeface="EB Garamond"/>
                <a:cs typeface="EB Garamond"/>
                <a:sym typeface="EB Garamond"/>
              </a:rPr>
              <a:t> khác nhau, gây khó khăn trong việc theo dõi và quản lý thông tin.</a:t>
            </a:r>
            <a:endParaRPr sz="1600">
              <a:solidFill>
                <a:schemeClr val="dk1"/>
              </a:solidFill>
              <a:latin typeface="EB Garamond"/>
              <a:ea typeface="EB Garamond"/>
              <a:cs typeface="EB Garamond"/>
              <a:sym typeface="EB Garamond"/>
            </a:endParaRPr>
          </a:p>
        </p:txBody>
      </p:sp>
      <p:sp>
        <p:nvSpPr>
          <p:cNvPr id="141" name="Google Shape;141;p5"/>
          <p:cNvSpPr/>
          <p:nvPr/>
        </p:nvSpPr>
        <p:spPr>
          <a:xfrm>
            <a:off x="623888" y="3067050"/>
            <a:ext cx="114300" cy="114300"/>
          </a:xfrm>
          <a:custGeom>
            <a:rect b="b" l="l" r="r" t="t"/>
            <a:pathLst>
              <a:path extrusionOk="0" h="114300" w="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42" name="Google Shape;142;p5"/>
          <p:cNvSpPr/>
          <p:nvPr/>
        </p:nvSpPr>
        <p:spPr>
          <a:xfrm>
            <a:off x="828675" y="3009900"/>
            <a:ext cx="21526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FAP - Hệ thống quản lý học tập</a:t>
            </a:r>
            <a:endParaRPr sz="1600">
              <a:solidFill>
                <a:schemeClr val="dk1"/>
              </a:solidFill>
              <a:latin typeface="EB Garamond"/>
              <a:ea typeface="EB Garamond"/>
              <a:cs typeface="EB Garamond"/>
              <a:sym typeface="EB Garamond"/>
            </a:endParaRPr>
          </a:p>
        </p:txBody>
      </p:sp>
      <p:sp>
        <p:nvSpPr>
          <p:cNvPr id="143" name="Google Shape;143;p5"/>
          <p:cNvSpPr/>
          <p:nvPr/>
        </p:nvSpPr>
        <p:spPr>
          <a:xfrm>
            <a:off x="623888" y="3295650"/>
            <a:ext cx="114300" cy="114300"/>
          </a:xfrm>
          <a:custGeom>
            <a:rect b="b" l="l" r="r" t="t"/>
            <a:pathLst>
              <a:path extrusionOk="0" h="114300" w="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44" name="Google Shape;144;p5"/>
          <p:cNvSpPr/>
          <p:nvPr/>
        </p:nvSpPr>
        <p:spPr>
          <a:xfrm>
            <a:off x="828675" y="3238500"/>
            <a:ext cx="24288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CMS - Course Management System</a:t>
            </a:r>
            <a:endParaRPr sz="1600">
              <a:solidFill>
                <a:schemeClr val="dk1"/>
              </a:solidFill>
              <a:latin typeface="EB Garamond"/>
              <a:ea typeface="EB Garamond"/>
              <a:cs typeface="EB Garamond"/>
              <a:sym typeface="EB Garamond"/>
            </a:endParaRPr>
          </a:p>
        </p:txBody>
      </p:sp>
      <p:sp>
        <p:nvSpPr>
          <p:cNvPr id="145" name="Google Shape;145;p5"/>
          <p:cNvSpPr/>
          <p:nvPr/>
        </p:nvSpPr>
        <p:spPr>
          <a:xfrm>
            <a:off x="623888" y="3524250"/>
            <a:ext cx="114300" cy="114300"/>
          </a:xfrm>
          <a:custGeom>
            <a:rect b="b" l="l" r="r" t="t"/>
            <a:pathLst>
              <a:path extrusionOk="0" h="114300" w="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46" name="Google Shape;146;p5"/>
          <p:cNvSpPr/>
          <p:nvPr/>
        </p:nvSpPr>
        <p:spPr>
          <a:xfrm>
            <a:off x="828675" y="3467100"/>
            <a:ext cx="24098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EduNext - Nền tảng học trực tuyến</a:t>
            </a:r>
            <a:endParaRPr sz="1600">
              <a:solidFill>
                <a:schemeClr val="dk1"/>
              </a:solidFill>
              <a:latin typeface="EB Garamond"/>
              <a:ea typeface="EB Garamond"/>
              <a:cs typeface="EB Garamond"/>
              <a:sym typeface="EB Garamond"/>
            </a:endParaRPr>
          </a:p>
        </p:txBody>
      </p:sp>
      <p:sp>
        <p:nvSpPr>
          <p:cNvPr id="147" name="Google Shape;147;p5"/>
          <p:cNvSpPr/>
          <p:nvPr/>
        </p:nvSpPr>
        <p:spPr>
          <a:xfrm>
            <a:off x="623888" y="3752850"/>
            <a:ext cx="114300" cy="114300"/>
          </a:xfrm>
          <a:custGeom>
            <a:rect b="b" l="l" r="r" t="t"/>
            <a:pathLst>
              <a:path extrusionOk="0" h="114300" w="114300">
                <a:moveTo>
                  <a:pt x="0" y="57150"/>
                </a:moveTo>
                <a:cubicBezTo>
                  <a:pt x="0" y="25608"/>
                  <a:pt x="25608" y="0"/>
                  <a:pt x="57150" y="0"/>
                </a:cubicBezTo>
                <a:cubicBezTo>
                  <a:pt x="88692" y="0"/>
                  <a:pt x="114300" y="25608"/>
                  <a:pt x="114300" y="57150"/>
                </a:cubicBezTo>
                <a:cubicBezTo>
                  <a:pt x="114300" y="88692"/>
                  <a:pt x="88692" y="114300"/>
                  <a:pt x="57150" y="114300"/>
                </a:cubicBezTo>
                <a:cubicBezTo>
                  <a:pt x="25608" y="114300"/>
                  <a:pt x="0" y="88692"/>
                  <a:pt x="0" y="5715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48" name="Google Shape;148;p5"/>
          <p:cNvSpPr/>
          <p:nvPr/>
        </p:nvSpPr>
        <p:spPr>
          <a:xfrm>
            <a:off x="828675" y="3695700"/>
            <a:ext cx="28384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Coursera &amp; Library - Tài nguyên học thuật</a:t>
            </a:r>
            <a:endParaRPr sz="1600">
              <a:solidFill>
                <a:schemeClr val="dk1"/>
              </a:solidFill>
              <a:latin typeface="EB Garamond"/>
              <a:ea typeface="EB Garamond"/>
              <a:cs typeface="EB Garamond"/>
              <a:sym typeface="EB Garamond"/>
            </a:endParaRPr>
          </a:p>
        </p:txBody>
      </p:sp>
      <p:sp>
        <p:nvSpPr>
          <p:cNvPr id="149" name="Google Shape;149;p5"/>
          <p:cNvSpPr/>
          <p:nvPr/>
        </p:nvSpPr>
        <p:spPr>
          <a:xfrm>
            <a:off x="6191250" y="1733550"/>
            <a:ext cx="5619750" cy="2419350"/>
          </a:xfrm>
          <a:custGeom>
            <a:rect b="b" l="l" r="r" t="t"/>
            <a:pathLst>
              <a:path extrusionOk="0" h="2419350" w="5619750">
                <a:moveTo>
                  <a:pt x="38100" y="0"/>
                </a:moveTo>
                <a:lnTo>
                  <a:pt x="5581650" y="0"/>
                </a:lnTo>
                <a:cubicBezTo>
                  <a:pt x="5602678" y="0"/>
                  <a:pt x="5619750" y="17072"/>
                  <a:pt x="5619750" y="38100"/>
                </a:cubicBezTo>
                <a:lnTo>
                  <a:pt x="5619750" y="2266955"/>
                </a:lnTo>
                <a:cubicBezTo>
                  <a:pt x="5619750" y="2351064"/>
                  <a:pt x="5551464" y="2419350"/>
                  <a:pt x="5467355" y="2419350"/>
                </a:cubicBezTo>
                <a:lnTo>
                  <a:pt x="152395" y="2419350"/>
                </a:lnTo>
                <a:cubicBezTo>
                  <a:pt x="68286" y="2419350"/>
                  <a:pt x="0" y="2351064"/>
                  <a:pt x="0" y="2266955"/>
                </a:cubicBezTo>
                <a:lnTo>
                  <a:pt x="0" y="38100"/>
                </a:lnTo>
                <a:cubicBezTo>
                  <a:pt x="0" y="17072"/>
                  <a:pt x="17072" y="0"/>
                  <a:pt x="38100" y="0"/>
                </a:cubicBezTo>
                <a:close/>
              </a:path>
            </a:pathLst>
          </a:custGeom>
          <a:solidFill>
            <a:srgbClr val="FFFFFF"/>
          </a:solidFill>
          <a:ln>
            <a:noFill/>
          </a:ln>
          <a:effectLst>
            <a:outerShdw blurRad="5715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50" name="Google Shape;150;p5"/>
          <p:cNvSpPr/>
          <p:nvPr/>
        </p:nvSpPr>
        <p:spPr>
          <a:xfrm>
            <a:off x="6191250" y="1733550"/>
            <a:ext cx="5619750" cy="38100"/>
          </a:xfrm>
          <a:custGeom>
            <a:rect b="b" l="l" r="r" t="t"/>
            <a:pathLst>
              <a:path extrusionOk="0" h="38100" w="5619750">
                <a:moveTo>
                  <a:pt x="38100" y="0"/>
                </a:moveTo>
                <a:lnTo>
                  <a:pt x="5581650" y="0"/>
                </a:lnTo>
                <a:cubicBezTo>
                  <a:pt x="5602678" y="0"/>
                  <a:pt x="5619750" y="17072"/>
                  <a:pt x="5619750" y="38100"/>
                </a:cubicBezTo>
                <a:lnTo>
                  <a:pt x="5619750" y="38100"/>
                </a:lnTo>
                <a:lnTo>
                  <a:pt x="0" y="38100"/>
                </a:lnTo>
                <a:lnTo>
                  <a:pt x="0" y="38100"/>
                </a:lnTo>
                <a:cubicBezTo>
                  <a:pt x="0" y="17072"/>
                  <a:pt x="17072" y="0"/>
                  <a:pt x="381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51" name="Google Shape;151;p5"/>
          <p:cNvSpPr/>
          <p:nvPr/>
        </p:nvSpPr>
        <p:spPr>
          <a:xfrm>
            <a:off x="6419850" y="1981200"/>
            <a:ext cx="533400" cy="533400"/>
          </a:xfrm>
          <a:custGeom>
            <a:rect b="b" l="l" r="r" t="t"/>
            <a:pathLst>
              <a:path extrusionOk="0" h="533400" w="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52" name="Google Shape;152;p5"/>
          <p:cNvSpPr/>
          <p:nvPr/>
        </p:nvSpPr>
        <p:spPr>
          <a:xfrm>
            <a:off x="6362700" y="1981200"/>
            <a:ext cx="647700" cy="5334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02</a:t>
            </a:r>
            <a:endParaRPr sz="1600">
              <a:solidFill>
                <a:schemeClr val="dk1"/>
              </a:solidFill>
              <a:latin typeface="EB Garamond"/>
              <a:ea typeface="EB Garamond"/>
              <a:cs typeface="EB Garamond"/>
              <a:sym typeface="EB Garamond"/>
            </a:endParaRPr>
          </a:p>
        </p:txBody>
      </p:sp>
      <p:sp>
        <p:nvSpPr>
          <p:cNvPr id="153" name="Google Shape;153;p5"/>
          <p:cNvSpPr/>
          <p:nvPr/>
        </p:nvSpPr>
        <p:spPr>
          <a:xfrm>
            <a:off x="7105650" y="1981200"/>
            <a:ext cx="459105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Thủ tục rườm rà</a:t>
            </a:r>
            <a:endParaRPr sz="1600">
              <a:solidFill>
                <a:schemeClr val="dk1"/>
              </a:solidFill>
              <a:latin typeface="EB Garamond"/>
              <a:ea typeface="EB Garamond"/>
              <a:cs typeface="EB Garamond"/>
              <a:sym typeface="EB Garamond"/>
            </a:endParaRPr>
          </a:p>
        </p:txBody>
      </p:sp>
      <p:sp>
        <p:nvSpPr>
          <p:cNvPr id="154" name="Google Shape;154;p5"/>
          <p:cNvSpPr/>
          <p:nvPr/>
        </p:nvSpPr>
        <p:spPr>
          <a:xfrm>
            <a:off x="7105650" y="2362200"/>
            <a:ext cx="455295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1C2026"/>
                </a:solidFill>
                <a:latin typeface="EB Garamond"/>
                <a:ea typeface="EB Garamond"/>
                <a:cs typeface="EB Garamond"/>
                <a:sym typeface="EB Garamond"/>
              </a:rPr>
              <a:t>Các quy trình hành chính có quy định </a:t>
            </a:r>
            <a:r>
              <a:rPr b="1" lang="en-US" sz="1200">
                <a:solidFill>
                  <a:srgbClr val="FF9045"/>
                </a:solidFill>
                <a:latin typeface="EB Garamond"/>
                <a:ea typeface="EB Garamond"/>
                <a:cs typeface="EB Garamond"/>
                <a:sym typeface="EB Garamond"/>
              </a:rPr>
              <a:t>chặt chẽ</a:t>
            </a:r>
            <a:r>
              <a:rPr lang="en-US" sz="1200">
                <a:solidFill>
                  <a:srgbClr val="1C2026"/>
                </a:solidFill>
                <a:latin typeface="EB Garamond"/>
                <a:ea typeface="EB Garamond"/>
                <a:cs typeface="EB Garamond"/>
                <a:sym typeface="EB Garamond"/>
              </a:rPr>
              <a:t> và phức tạp, khiến sinh viên mất nhiều thời gian để tiếp cận và hoàn tất.</a:t>
            </a:r>
            <a:endParaRPr sz="1600">
              <a:solidFill>
                <a:schemeClr val="dk1"/>
              </a:solidFill>
              <a:latin typeface="EB Garamond"/>
              <a:ea typeface="EB Garamond"/>
              <a:cs typeface="EB Garamond"/>
              <a:sym typeface="EB Garamond"/>
            </a:endParaRPr>
          </a:p>
        </p:txBody>
      </p:sp>
      <p:sp>
        <p:nvSpPr>
          <p:cNvPr id="155" name="Google Shape;155;p5"/>
          <p:cNvSpPr/>
          <p:nvPr/>
        </p:nvSpPr>
        <p:spPr>
          <a:xfrm>
            <a:off x="6457950" y="3060650"/>
            <a:ext cx="114300" cy="152400"/>
          </a:xfrm>
          <a:custGeom>
            <a:rect b="b" l="l" r="r" t="t"/>
            <a:pathLst>
              <a:path extrusionOk="0" h="152400" w="114300">
                <a:moveTo>
                  <a:pt x="0" y="19050"/>
                </a:moveTo>
                <a:cubicBezTo>
                  <a:pt x="0" y="8543"/>
                  <a:pt x="8543" y="0"/>
                  <a:pt x="19050" y="0"/>
                </a:cubicBezTo>
                <a:lnTo>
                  <a:pt x="63550" y="0"/>
                </a:lnTo>
                <a:cubicBezTo>
                  <a:pt x="68610" y="0"/>
                  <a:pt x="73462" y="1994"/>
                  <a:pt x="77033" y="5566"/>
                </a:cubicBezTo>
                <a:lnTo>
                  <a:pt x="108734" y="37296"/>
                </a:lnTo>
                <a:cubicBezTo>
                  <a:pt x="112306" y="40868"/>
                  <a:pt x="114300" y="45720"/>
                  <a:pt x="114300" y="50780"/>
                </a:cubicBezTo>
                <a:lnTo>
                  <a:pt x="114300" y="133350"/>
                </a:lnTo>
                <a:cubicBezTo>
                  <a:pt x="114300" y="143857"/>
                  <a:pt x="105757" y="152400"/>
                  <a:pt x="95250" y="152400"/>
                </a:cubicBezTo>
                <a:lnTo>
                  <a:pt x="19050" y="152400"/>
                </a:lnTo>
                <a:cubicBezTo>
                  <a:pt x="8543" y="152400"/>
                  <a:pt x="0" y="143857"/>
                  <a:pt x="0" y="133350"/>
                </a:cubicBezTo>
                <a:lnTo>
                  <a:pt x="0" y="19050"/>
                </a:lnTo>
                <a:close/>
                <a:moveTo>
                  <a:pt x="61912" y="17413"/>
                </a:moveTo>
                <a:lnTo>
                  <a:pt x="61912" y="45244"/>
                </a:lnTo>
                <a:cubicBezTo>
                  <a:pt x="61912" y="49203"/>
                  <a:pt x="65097" y="52388"/>
                  <a:pt x="69056" y="52388"/>
                </a:cubicBezTo>
                <a:lnTo>
                  <a:pt x="96887" y="52388"/>
                </a:lnTo>
                <a:lnTo>
                  <a:pt x="61912" y="17413"/>
                </a:lnTo>
                <a:close/>
                <a:moveTo>
                  <a:pt x="35719" y="76200"/>
                </a:moveTo>
                <a:cubicBezTo>
                  <a:pt x="31760" y="76200"/>
                  <a:pt x="28575" y="79385"/>
                  <a:pt x="28575" y="83344"/>
                </a:cubicBezTo>
                <a:cubicBezTo>
                  <a:pt x="28575" y="87303"/>
                  <a:pt x="31760" y="90488"/>
                  <a:pt x="35719" y="90488"/>
                </a:cubicBezTo>
                <a:lnTo>
                  <a:pt x="78581" y="90488"/>
                </a:lnTo>
                <a:cubicBezTo>
                  <a:pt x="82540" y="90488"/>
                  <a:pt x="85725" y="87303"/>
                  <a:pt x="85725" y="83344"/>
                </a:cubicBezTo>
                <a:cubicBezTo>
                  <a:pt x="85725" y="79385"/>
                  <a:pt x="82540" y="76200"/>
                  <a:pt x="78581" y="76200"/>
                </a:cubicBezTo>
                <a:lnTo>
                  <a:pt x="35719" y="76200"/>
                </a:lnTo>
                <a:close/>
                <a:moveTo>
                  <a:pt x="35719" y="104775"/>
                </a:moveTo>
                <a:cubicBezTo>
                  <a:pt x="31760" y="104775"/>
                  <a:pt x="28575" y="107960"/>
                  <a:pt x="28575" y="111919"/>
                </a:cubicBezTo>
                <a:cubicBezTo>
                  <a:pt x="28575" y="115878"/>
                  <a:pt x="31760" y="119062"/>
                  <a:pt x="35719" y="119062"/>
                </a:cubicBezTo>
                <a:lnTo>
                  <a:pt x="78581" y="119062"/>
                </a:lnTo>
                <a:cubicBezTo>
                  <a:pt x="82540" y="119062"/>
                  <a:pt x="85725" y="115878"/>
                  <a:pt x="85725" y="111919"/>
                </a:cubicBezTo>
                <a:cubicBezTo>
                  <a:pt x="85725" y="107960"/>
                  <a:pt x="82540" y="104775"/>
                  <a:pt x="78581" y="104775"/>
                </a:cubicBezTo>
                <a:lnTo>
                  <a:pt x="35719" y="104775"/>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56" name="Google Shape;156;p5"/>
          <p:cNvSpPr/>
          <p:nvPr/>
        </p:nvSpPr>
        <p:spPr>
          <a:xfrm>
            <a:off x="6686550" y="3022550"/>
            <a:ext cx="12477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Xin giấy xác nhận</a:t>
            </a:r>
            <a:endParaRPr sz="1600">
              <a:solidFill>
                <a:schemeClr val="dk1"/>
              </a:solidFill>
              <a:latin typeface="EB Garamond"/>
              <a:ea typeface="EB Garamond"/>
              <a:cs typeface="EB Garamond"/>
              <a:sym typeface="EB Garamond"/>
            </a:endParaRPr>
          </a:p>
        </p:txBody>
      </p:sp>
      <p:sp>
        <p:nvSpPr>
          <p:cNvPr id="157" name="Google Shape;157;p5"/>
          <p:cNvSpPr/>
          <p:nvPr/>
        </p:nvSpPr>
        <p:spPr>
          <a:xfrm>
            <a:off x="9096375" y="3060650"/>
            <a:ext cx="152400" cy="152400"/>
          </a:xfrm>
          <a:custGeom>
            <a:rect b="b" l="l" r="r" t="t"/>
            <a:pathLst>
              <a:path extrusionOk="0" h="152400" w="152400">
                <a:moveTo>
                  <a:pt x="140375" y="6459"/>
                </a:moveTo>
                <a:cubicBezTo>
                  <a:pt x="133856" y="-60"/>
                  <a:pt x="123319" y="-60"/>
                  <a:pt x="116800" y="6459"/>
                </a:cubicBezTo>
                <a:lnTo>
                  <a:pt x="109537" y="13722"/>
                </a:lnTo>
                <a:lnTo>
                  <a:pt x="138678" y="42863"/>
                </a:lnTo>
                <a:lnTo>
                  <a:pt x="145941" y="35600"/>
                </a:lnTo>
                <a:cubicBezTo>
                  <a:pt x="152460" y="29081"/>
                  <a:pt x="152460" y="18544"/>
                  <a:pt x="145941" y="12025"/>
                </a:cubicBezTo>
                <a:lnTo>
                  <a:pt x="140375" y="6459"/>
                </a:lnTo>
                <a:close/>
                <a:moveTo>
                  <a:pt x="51316" y="71944"/>
                </a:moveTo>
                <a:cubicBezTo>
                  <a:pt x="49500" y="73759"/>
                  <a:pt x="48101" y="75992"/>
                  <a:pt x="47298" y="78462"/>
                </a:cubicBezTo>
                <a:lnTo>
                  <a:pt x="38487" y="104894"/>
                </a:lnTo>
                <a:cubicBezTo>
                  <a:pt x="37624" y="107454"/>
                  <a:pt x="38308" y="110282"/>
                  <a:pt x="40213" y="112216"/>
                </a:cubicBezTo>
                <a:cubicBezTo>
                  <a:pt x="42118" y="114151"/>
                  <a:pt x="44946" y="114806"/>
                  <a:pt x="47536" y="113943"/>
                </a:cubicBezTo>
                <a:lnTo>
                  <a:pt x="73968" y="105132"/>
                </a:lnTo>
                <a:cubicBezTo>
                  <a:pt x="76408" y="104329"/>
                  <a:pt x="78641" y="102930"/>
                  <a:pt x="80486" y="101114"/>
                </a:cubicBezTo>
                <a:lnTo>
                  <a:pt x="128588" y="52953"/>
                </a:lnTo>
                <a:lnTo>
                  <a:pt x="99447" y="23813"/>
                </a:lnTo>
                <a:lnTo>
                  <a:pt x="51316" y="71944"/>
                </a:lnTo>
                <a:close/>
                <a:moveTo>
                  <a:pt x="28575" y="19050"/>
                </a:moveTo>
                <a:cubicBezTo>
                  <a:pt x="12799" y="19050"/>
                  <a:pt x="0" y="31849"/>
                  <a:pt x="0" y="47625"/>
                </a:cubicBezTo>
                <a:lnTo>
                  <a:pt x="0" y="123825"/>
                </a:lnTo>
                <a:cubicBezTo>
                  <a:pt x="0" y="139601"/>
                  <a:pt x="12799" y="152400"/>
                  <a:pt x="28575" y="152400"/>
                </a:cubicBezTo>
                <a:lnTo>
                  <a:pt x="104775" y="152400"/>
                </a:lnTo>
                <a:cubicBezTo>
                  <a:pt x="120551" y="152400"/>
                  <a:pt x="133350" y="139601"/>
                  <a:pt x="133350" y="123825"/>
                </a:cubicBezTo>
                <a:lnTo>
                  <a:pt x="133350" y="95250"/>
                </a:lnTo>
                <a:cubicBezTo>
                  <a:pt x="133350" y="89981"/>
                  <a:pt x="129094" y="85725"/>
                  <a:pt x="123825" y="85725"/>
                </a:cubicBezTo>
                <a:cubicBezTo>
                  <a:pt x="118556" y="85725"/>
                  <a:pt x="114300" y="89981"/>
                  <a:pt x="114300" y="95250"/>
                </a:cubicBezTo>
                <a:lnTo>
                  <a:pt x="114300" y="123825"/>
                </a:lnTo>
                <a:cubicBezTo>
                  <a:pt x="114300" y="129094"/>
                  <a:pt x="110044" y="133350"/>
                  <a:pt x="104775" y="133350"/>
                </a:cubicBezTo>
                <a:lnTo>
                  <a:pt x="28575" y="133350"/>
                </a:lnTo>
                <a:cubicBezTo>
                  <a:pt x="23306" y="133350"/>
                  <a:pt x="19050" y="129094"/>
                  <a:pt x="19050" y="123825"/>
                </a:cubicBezTo>
                <a:lnTo>
                  <a:pt x="19050" y="47625"/>
                </a:lnTo>
                <a:cubicBezTo>
                  <a:pt x="19050" y="42356"/>
                  <a:pt x="23306" y="38100"/>
                  <a:pt x="28575" y="38100"/>
                </a:cubicBezTo>
                <a:lnTo>
                  <a:pt x="57150" y="38100"/>
                </a:lnTo>
                <a:cubicBezTo>
                  <a:pt x="62419" y="38100"/>
                  <a:pt x="66675" y="33844"/>
                  <a:pt x="66675" y="28575"/>
                </a:cubicBezTo>
                <a:cubicBezTo>
                  <a:pt x="66675" y="23306"/>
                  <a:pt x="62419" y="19050"/>
                  <a:pt x="57150" y="19050"/>
                </a:cubicBezTo>
                <a:lnTo>
                  <a:pt x="28575" y="19050"/>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58" name="Google Shape;158;p5"/>
          <p:cNvSpPr/>
          <p:nvPr/>
        </p:nvSpPr>
        <p:spPr>
          <a:xfrm>
            <a:off x="9344025" y="3022550"/>
            <a:ext cx="10096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Đăng ký thi lại</a:t>
            </a:r>
            <a:endParaRPr sz="1600">
              <a:solidFill>
                <a:schemeClr val="dk1"/>
              </a:solidFill>
              <a:latin typeface="EB Garamond"/>
              <a:ea typeface="EB Garamond"/>
              <a:cs typeface="EB Garamond"/>
              <a:sym typeface="EB Garamond"/>
            </a:endParaRPr>
          </a:p>
        </p:txBody>
      </p:sp>
      <p:sp>
        <p:nvSpPr>
          <p:cNvPr id="159" name="Google Shape;159;p5"/>
          <p:cNvSpPr/>
          <p:nvPr/>
        </p:nvSpPr>
        <p:spPr>
          <a:xfrm>
            <a:off x="6438900" y="3390751"/>
            <a:ext cx="152400" cy="152400"/>
          </a:xfrm>
          <a:custGeom>
            <a:rect b="b" l="l" r="r" t="t"/>
            <a:pathLst>
              <a:path extrusionOk="0" h="152400" w="152400">
                <a:moveTo>
                  <a:pt x="123825" y="61912"/>
                </a:moveTo>
                <a:cubicBezTo>
                  <a:pt x="123825" y="75575"/>
                  <a:pt x="119390" y="88196"/>
                  <a:pt x="111919" y="98435"/>
                </a:cubicBezTo>
                <a:lnTo>
                  <a:pt x="149602" y="136148"/>
                </a:lnTo>
                <a:cubicBezTo>
                  <a:pt x="153323" y="139869"/>
                  <a:pt x="153323" y="145911"/>
                  <a:pt x="149602" y="149632"/>
                </a:cubicBezTo>
                <a:cubicBezTo>
                  <a:pt x="145881" y="153353"/>
                  <a:pt x="139839" y="153353"/>
                  <a:pt x="136118" y="149632"/>
                </a:cubicBezTo>
                <a:lnTo>
                  <a:pt x="98435" y="111919"/>
                </a:lnTo>
                <a:cubicBezTo>
                  <a:pt x="88196" y="119390"/>
                  <a:pt x="75575" y="123825"/>
                  <a:pt x="61912" y="123825"/>
                </a:cubicBezTo>
                <a:cubicBezTo>
                  <a:pt x="27712" y="123825"/>
                  <a:pt x="0" y="96113"/>
                  <a:pt x="0" y="61912"/>
                </a:cubicBezTo>
                <a:cubicBezTo>
                  <a:pt x="0" y="27712"/>
                  <a:pt x="27712" y="0"/>
                  <a:pt x="61912" y="0"/>
                </a:cubicBezTo>
                <a:cubicBezTo>
                  <a:pt x="96113" y="0"/>
                  <a:pt x="123825" y="27712"/>
                  <a:pt x="123825" y="61912"/>
                </a:cubicBezTo>
                <a:close/>
                <a:moveTo>
                  <a:pt x="61912" y="104775"/>
                </a:moveTo>
                <a:cubicBezTo>
                  <a:pt x="85569" y="104775"/>
                  <a:pt x="104775" y="85569"/>
                  <a:pt x="104775" y="61912"/>
                </a:cubicBezTo>
                <a:cubicBezTo>
                  <a:pt x="104775" y="38256"/>
                  <a:pt x="85569" y="19050"/>
                  <a:pt x="61912" y="19050"/>
                </a:cubicBezTo>
                <a:cubicBezTo>
                  <a:pt x="38256" y="19050"/>
                  <a:pt x="19050" y="38256"/>
                  <a:pt x="19050" y="61912"/>
                </a:cubicBezTo>
                <a:cubicBezTo>
                  <a:pt x="19050" y="85569"/>
                  <a:pt x="38256" y="104775"/>
                  <a:pt x="61912" y="104775"/>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60" name="Google Shape;160;p5"/>
          <p:cNvSpPr/>
          <p:nvPr/>
        </p:nvSpPr>
        <p:spPr>
          <a:xfrm>
            <a:off x="6686550" y="3352651"/>
            <a:ext cx="12001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Phúc khảo bài thi</a:t>
            </a:r>
            <a:endParaRPr sz="1600">
              <a:solidFill>
                <a:schemeClr val="dk1"/>
              </a:solidFill>
              <a:latin typeface="EB Garamond"/>
              <a:ea typeface="EB Garamond"/>
              <a:cs typeface="EB Garamond"/>
              <a:sym typeface="EB Garamond"/>
            </a:endParaRPr>
          </a:p>
        </p:txBody>
      </p:sp>
      <p:sp>
        <p:nvSpPr>
          <p:cNvPr id="161" name="Google Shape;161;p5"/>
          <p:cNvSpPr/>
          <p:nvPr/>
        </p:nvSpPr>
        <p:spPr>
          <a:xfrm>
            <a:off x="9115425" y="3390751"/>
            <a:ext cx="114300" cy="152400"/>
          </a:xfrm>
          <a:custGeom>
            <a:rect b="b" l="l" r="r" t="t"/>
            <a:pathLst>
              <a:path extrusionOk="0" h="152400" w="114300">
                <a:moveTo>
                  <a:pt x="14288" y="9525"/>
                </a:moveTo>
                <a:cubicBezTo>
                  <a:pt x="6400" y="9525"/>
                  <a:pt x="0" y="15925"/>
                  <a:pt x="0" y="23813"/>
                </a:cubicBezTo>
                <a:lnTo>
                  <a:pt x="0" y="128588"/>
                </a:lnTo>
                <a:cubicBezTo>
                  <a:pt x="0" y="136475"/>
                  <a:pt x="6400" y="142875"/>
                  <a:pt x="14288" y="142875"/>
                </a:cubicBezTo>
                <a:lnTo>
                  <a:pt x="33338" y="142875"/>
                </a:lnTo>
                <a:cubicBezTo>
                  <a:pt x="41225" y="142875"/>
                  <a:pt x="47625" y="136475"/>
                  <a:pt x="47625" y="128588"/>
                </a:cubicBezTo>
                <a:lnTo>
                  <a:pt x="47625" y="23813"/>
                </a:lnTo>
                <a:cubicBezTo>
                  <a:pt x="47625" y="15925"/>
                  <a:pt x="41225" y="9525"/>
                  <a:pt x="33338" y="9525"/>
                </a:cubicBezTo>
                <a:lnTo>
                  <a:pt x="14288" y="9525"/>
                </a:lnTo>
                <a:close/>
                <a:moveTo>
                  <a:pt x="80962" y="9525"/>
                </a:moveTo>
                <a:cubicBezTo>
                  <a:pt x="73075" y="9525"/>
                  <a:pt x="66675" y="15925"/>
                  <a:pt x="66675" y="23813"/>
                </a:cubicBezTo>
                <a:lnTo>
                  <a:pt x="66675" y="128588"/>
                </a:lnTo>
                <a:cubicBezTo>
                  <a:pt x="66675" y="136475"/>
                  <a:pt x="73075" y="142875"/>
                  <a:pt x="80962" y="142875"/>
                </a:cubicBezTo>
                <a:lnTo>
                  <a:pt x="100013" y="142875"/>
                </a:lnTo>
                <a:cubicBezTo>
                  <a:pt x="107900" y="142875"/>
                  <a:pt x="114300" y="136475"/>
                  <a:pt x="114300" y="128588"/>
                </a:cubicBezTo>
                <a:lnTo>
                  <a:pt x="114300" y="23813"/>
                </a:lnTo>
                <a:cubicBezTo>
                  <a:pt x="114300" y="15925"/>
                  <a:pt x="107900" y="9525"/>
                  <a:pt x="100013" y="9525"/>
                </a:cubicBezTo>
                <a:lnTo>
                  <a:pt x="80962" y="9525"/>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62" name="Google Shape;162;p5"/>
          <p:cNvSpPr/>
          <p:nvPr/>
        </p:nvSpPr>
        <p:spPr>
          <a:xfrm>
            <a:off x="9344025" y="3352651"/>
            <a:ext cx="11334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Bảo lưu kết quả</a:t>
            </a:r>
            <a:endParaRPr sz="1600">
              <a:solidFill>
                <a:schemeClr val="dk1"/>
              </a:solidFill>
              <a:latin typeface="EB Garamond"/>
              <a:ea typeface="EB Garamond"/>
              <a:cs typeface="EB Garamond"/>
              <a:sym typeface="EB Garamond"/>
            </a:endParaRPr>
          </a:p>
        </p:txBody>
      </p:sp>
      <p:sp>
        <p:nvSpPr>
          <p:cNvPr id="163" name="Google Shape;163;p5"/>
          <p:cNvSpPr/>
          <p:nvPr/>
        </p:nvSpPr>
        <p:spPr>
          <a:xfrm>
            <a:off x="6438900" y="3721001"/>
            <a:ext cx="152400" cy="152400"/>
          </a:xfrm>
          <a:custGeom>
            <a:rect b="b" l="l" r="r" t="t"/>
            <a:pathLst>
              <a:path extrusionOk="0" h="152400" w="152400">
                <a:moveTo>
                  <a:pt x="149602" y="44827"/>
                </a:moveTo>
                <a:lnTo>
                  <a:pt x="121027" y="73402"/>
                </a:lnTo>
                <a:cubicBezTo>
                  <a:pt x="118289" y="76140"/>
                  <a:pt x="114211" y="76944"/>
                  <a:pt x="110639" y="75456"/>
                </a:cubicBezTo>
                <a:cubicBezTo>
                  <a:pt x="107067" y="73968"/>
                  <a:pt x="104775" y="70515"/>
                  <a:pt x="104775" y="66675"/>
                </a:cubicBezTo>
                <a:lnTo>
                  <a:pt x="104775" y="47625"/>
                </a:lnTo>
                <a:lnTo>
                  <a:pt x="9525" y="47625"/>
                </a:lnTo>
                <a:cubicBezTo>
                  <a:pt x="4256" y="47625"/>
                  <a:pt x="0" y="43369"/>
                  <a:pt x="0" y="38100"/>
                </a:cubicBezTo>
                <a:cubicBezTo>
                  <a:pt x="0" y="32831"/>
                  <a:pt x="4256" y="28575"/>
                  <a:pt x="9525" y="28575"/>
                </a:cubicBezTo>
                <a:lnTo>
                  <a:pt x="104775" y="28575"/>
                </a:lnTo>
                <a:lnTo>
                  <a:pt x="104775" y="9525"/>
                </a:lnTo>
                <a:cubicBezTo>
                  <a:pt x="104775" y="5685"/>
                  <a:pt x="107097" y="2203"/>
                  <a:pt x="110669" y="714"/>
                </a:cubicBezTo>
                <a:cubicBezTo>
                  <a:pt x="114240" y="-774"/>
                  <a:pt x="118318" y="60"/>
                  <a:pt x="121057" y="2768"/>
                </a:cubicBezTo>
                <a:lnTo>
                  <a:pt x="149632" y="31343"/>
                </a:lnTo>
                <a:cubicBezTo>
                  <a:pt x="153353" y="35064"/>
                  <a:pt x="153353" y="41106"/>
                  <a:pt x="149632" y="44827"/>
                </a:cubicBezTo>
                <a:close/>
                <a:moveTo>
                  <a:pt x="31343" y="149602"/>
                </a:moveTo>
                <a:lnTo>
                  <a:pt x="2768" y="121027"/>
                </a:lnTo>
                <a:cubicBezTo>
                  <a:pt x="-952" y="117306"/>
                  <a:pt x="-952" y="111264"/>
                  <a:pt x="2768" y="107543"/>
                </a:cubicBezTo>
                <a:lnTo>
                  <a:pt x="31343" y="78968"/>
                </a:lnTo>
                <a:cubicBezTo>
                  <a:pt x="34082" y="76230"/>
                  <a:pt x="38160" y="75426"/>
                  <a:pt x="41731" y="76914"/>
                </a:cubicBezTo>
                <a:cubicBezTo>
                  <a:pt x="45303" y="78403"/>
                  <a:pt x="47625" y="81885"/>
                  <a:pt x="47625" y="85725"/>
                </a:cubicBezTo>
                <a:lnTo>
                  <a:pt x="47625" y="104775"/>
                </a:lnTo>
                <a:lnTo>
                  <a:pt x="142875" y="104775"/>
                </a:lnTo>
                <a:cubicBezTo>
                  <a:pt x="148144" y="104775"/>
                  <a:pt x="152400" y="109031"/>
                  <a:pt x="152400" y="114300"/>
                </a:cubicBezTo>
                <a:cubicBezTo>
                  <a:pt x="152400" y="119569"/>
                  <a:pt x="148144" y="123825"/>
                  <a:pt x="142875" y="123825"/>
                </a:cubicBezTo>
                <a:lnTo>
                  <a:pt x="47625" y="123825"/>
                </a:lnTo>
                <a:lnTo>
                  <a:pt x="47625" y="142875"/>
                </a:lnTo>
                <a:cubicBezTo>
                  <a:pt x="47625" y="146715"/>
                  <a:pt x="45303" y="150197"/>
                  <a:pt x="41731" y="151686"/>
                </a:cubicBezTo>
                <a:cubicBezTo>
                  <a:pt x="38160" y="153174"/>
                  <a:pt x="34082" y="152340"/>
                  <a:pt x="31343" y="149632"/>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64" name="Google Shape;164;p5"/>
          <p:cNvSpPr/>
          <p:nvPr/>
        </p:nvSpPr>
        <p:spPr>
          <a:xfrm>
            <a:off x="6686550" y="3682901"/>
            <a:ext cx="13049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Chuyển ngành học</a:t>
            </a:r>
            <a:endParaRPr sz="1600">
              <a:solidFill>
                <a:schemeClr val="dk1"/>
              </a:solidFill>
              <a:latin typeface="EB Garamond"/>
              <a:ea typeface="EB Garamond"/>
              <a:cs typeface="EB Garamond"/>
              <a:sym typeface="EB Garamond"/>
            </a:endParaRPr>
          </a:p>
        </p:txBody>
      </p:sp>
      <p:sp>
        <p:nvSpPr>
          <p:cNvPr id="165" name="Google Shape;165;p5"/>
          <p:cNvSpPr/>
          <p:nvPr/>
        </p:nvSpPr>
        <p:spPr>
          <a:xfrm>
            <a:off x="381000" y="5067300"/>
            <a:ext cx="11430000" cy="1409700"/>
          </a:xfrm>
          <a:custGeom>
            <a:rect b="b" l="l" r="r" t="t"/>
            <a:pathLst>
              <a:path extrusionOk="0" h="1409700" w="11430000">
                <a:moveTo>
                  <a:pt x="152403" y="0"/>
                </a:moveTo>
                <a:lnTo>
                  <a:pt x="11277597" y="0"/>
                </a:lnTo>
                <a:cubicBezTo>
                  <a:pt x="11361767" y="0"/>
                  <a:pt x="11430000" y="68233"/>
                  <a:pt x="11430000" y="152403"/>
                </a:cubicBezTo>
                <a:lnTo>
                  <a:pt x="11430000" y="1257297"/>
                </a:lnTo>
                <a:cubicBezTo>
                  <a:pt x="11430000" y="1341467"/>
                  <a:pt x="11361767" y="1409700"/>
                  <a:pt x="11277597" y="1409700"/>
                </a:cubicBezTo>
                <a:lnTo>
                  <a:pt x="152403" y="1409700"/>
                </a:lnTo>
                <a:cubicBezTo>
                  <a:pt x="68233" y="1409700"/>
                  <a:pt x="0" y="1341467"/>
                  <a:pt x="0" y="1257297"/>
                </a:cubicBezTo>
                <a:lnTo>
                  <a:pt x="0" y="152403"/>
                </a:lnTo>
                <a:cubicBezTo>
                  <a:pt x="0" y="68289"/>
                  <a:pt x="68289" y="0"/>
                  <a:pt x="152403" y="0"/>
                </a:cubicBezTo>
                <a:close/>
              </a:path>
            </a:pathLst>
          </a:custGeom>
          <a:gradFill>
            <a:gsLst>
              <a:gs pos="0">
                <a:srgbClr val="0D1B4C"/>
              </a:gs>
              <a:gs pos="100000">
                <a:srgbClr val="295EDF"/>
              </a:gs>
            </a:gsLst>
            <a:lin ang="0" scaled="0"/>
          </a:gradFill>
          <a:ln>
            <a:noFill/>
          </a:ln>
          <a:effectLst>
            <a:outerShdw blurRad="142875" rotWithShape="0" algn="bl" dir="5400000" dist="9525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66" name="Google Shape;166;p5"/>
          <p:cNvSpPr/>
          <p:nvPr/>
        </p:nvSpPr>
        <p:spPr>
          <a:xfrm>
            <a:off x="609600" y="5505450"/>
            <a:ext cx="533400" cy="533400"/>
          </a:xfrm>
          <a:custGeom>
            <a:rect b="b" l="l" r="r" t="t"/>
            <a:pathLst>
              <a:path extrusionOk="0" h="533400" w="533400">
                <a:moveTo>
                  <a:pt x="266700" y="0"/>
                </a:moveTo>
                <a:lnTo>
                  <a:pt x="266700" y="0"/>
                </a:lnTo>
                <a:cubicBezTo>
                  <a:pt x="413896" y="0"/>
                  <a:pt x="533400" y="119504"/>
                  <a:pt x="533400" y="266700"/>
                </a:cubicBezTo>
                <a:lnTo>
                  <a:pt x="533400" y="266700"/>
                </a:lnTo>
                <a:cubicBezTo>
                  <a:pt x="533400" y="413896"/>
                  <a:pt x="413896" y="533400"/>
                  <a:pt x="266700" y="533400"/>
                </a:cubicBezTo>
                <a:lnTo>
                  <a:pt x="266700" y="533400"/>
                </a:lnTo>
                <a:cubicBezTo>
                  <a:pt x="119504" y="533400"/>
                  <a:pt x="0" y="413896"/>
                  <a:pt x="0" y="266700"/>
                </a:cubicBezTo>
                <a:lnTo>
                  <a:pt x="0" y="266700"/>
                </a:lnTo>
                <a:cubicBezTo>
                  <a:pt x="0" y="119504"/>
                  <a:pt x="119504" y="0"/>
                  <a:pt x="266700"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67" name="Google Shape;167;p5"/>
          <p:cNvSpPr/>
          <p:nvPr/>
        </p:nvSpPr>
        <p:spPr>
          <a:xfrm>
            <a:off x="552450" y="5505450"/>
            <a:ext cx="647700" cy="5334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03</a:t>
            </a:r>
            <a:endParaRPr sz="1600">
              <a:solidFill>
                <a:schemeClr val="dk1"/>
              </a:solidFill>
              <a:latin typeface="EB Garamond"/>
              <a:ea typeface="EB Garamond"/>
              <a:cs typeface="EB Garamond"/>
              <a:sym typeface="EB Garamond"/>
            </a:endParaRPr>
          </a:p>
        </p:txBody>
      </p:sp>
      <p:sp>
        <p:nvSpPr>
          <p:cNvPr id="168" name="Google Shape;168;p5"/>
          <p:cNvSpPr/>
          <p:nvPr/>
        </p:nvSpPr>
        <p:spPr>
          <a:xfrm>
            <a:off x="1333500" y="5334000"/>
            <a:ext cx="7734300"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FFFFFF"/>
                </a:solidFill>
                <a:latin typeface="EB Garamond"/>
                <a:ea typeface="EB Garamond"/>
                <a:cs typeface="EB Garamond"/>
                <a:sym typeface="EB Garamond"/>
              </a:rPr>
              <a:t>Quá tải thông tin sự kiện</a:t>
            </a:r>
            <a:endParaRPr sz="1600">
              <a:solidFill>
                <a:schemeClr val="dk1"/>
              </a:solidFill>
              <a:latin typeface="EB Garamond"/>
              <a:ea typeface="EB Garamond"/>
              <a:cs typeface="EB Garamond"/>
              <a:sym typeface="EB Garamond"/>
            </a:endParaRPr>
          </a:p>
        </p:txBody>
      </p:sp>
      <p:sp>
        <p:nvSpPr>
          <p:cNvPr id="169" name="Google Shape;169;p5"/>
          <p:cNvSpPr/>
          <p:nvPr/>
        </p:nvSpPr>
        <p:spPr>
          <a:xfrm>
            <a:off x="1333500" y="5715000"/>
            <a:ext cx="7696200" cy="49530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FFFFFF"/>
                </a:solidFill>
                <a:latin typeface="EB Garamond"/>
                <a:ea typeface="EB Garamond"/>
                <a:cs typeface="EB Garamond"/>
                <a:sym typeface="EB Garamond"/>
              </a:rPr>
              <a:t>Đại học FPT là môi trường năng động với </a:t>
            </a:r>
            <a:r>
              <a:rPr b="1" lang="en-US" sz="1200">
                <a:solidFill>
                  <a:srgbClr val="FF9045"/>
                </a:solidFill>
                <a:latin typeface="EB Garamond"/>
                <a:ea typeface="EB Garamond"/>
                <a:cs typeface="EB Garamond"/>
                <a:sym typeface="EB Garamond"/>
              </a:rPr>
              <a:t>hàng trăm sự kiện</a:t>
            </a:r>
            <a:r>
              <a:rPr lang="en-US" sz="1200">
                <a:solidFill>
                  <a:srgbClr val="FFFFFF"/>
                </a:solidFill>
                <a:latin typeface="EB Garamond"/>
                <a:ea typeface="EB Garamond"/>
                <a:cs typeface="EB Garamond"/>
                <a:sym typeface="EB Garamond"/>
              </a:rPr>
              <a:t>, workshop và hoạt động câu lạc bộ mỗi kỳ, nhưng thông báo thường bị đăng tải tràn lan, thiếu tập trung.</a:t>
            </a:r>
            <a:endParaRPr sz="1600">
              <a:solidFill>
                <a:schemeClr val="dk1"/>
              </a:solidFill>
              <a:latin typeface="EB Garamond"/>
              <a:ea typeface="EB Garamond"/>
              <a:cs typeface="EB Garamond"/>
              <a:sym typeface="EB Garamond"/>
            </a:endParaRPr>
          </a:p>
        </p:txBody>
      </p:sp>
      <p:sp>
        <p:nvSpPr>
          <p:cNvPr id="170" name="Google Shape;170;p5"/>
          <p:cNvSpPr/>
          <p:nvPr/>
        </p:nvSpPr>
        <p:spPr>
          <a:xfrm>
            <a:off x="9144000" y="5295900"/>
            <a:ext cx="1143000" cy="952500"/>
          </a:xfrm>
          <a:custGeom>
            <a:rect b="b" l="l" r="r" t="t"/>
            <a:pathLst>
              <a:path extrusionOk="0" h="952500" w="1143000">
                <a:moveTo>
                  <a:pt x="114300" y="0"/>
                </a:moveTo>
                <a:lnTo>
                  <a:pt x="1028700" y="0"/>
                </a:lnTo>
                <a:cubicBezTo>
                  <a:pt x="1091784" y="0"/>
                  <a:pt x="1143000" y="51216"/>
                  <a:pt x="1143000" y="114300"/>
                </a:cubicBezTo>
                <a:lnTo>
                  <a:pt x="1143000" y="838200"/>
                </a:lnTo>
                <a:cubicBezTo>
                  <a:pt x="1143000" y="901284"/>
                  <a:pt x="1091784" y="952500"/>
                  <a:pt x="1028700" y="952500"/>
                </a:cubicBezTo>
                <a:lnTo>
                  <a:pt x="114300" y="952500"/>
                </a:lnTo>
                <a:cubicBezTo>
                  <a:pt x="51216" y="952500"/>
                  <a:pt x="0" y="901284"/>
                  <a:pt x="0" y="838200"/>
                </a:cubicBezTo>
                <a:lnTo>
                  <a:pt x="0" y="114300"/>
                </a:lnTo>
                <a:cubicBezTo>
                  <a:pt x="0" y="51216"/>
                  <a:pt x="51216" y="0"/>
                  <a:pt x="114300" y="0"/>
                </a:cubicBezTo>
                <a:close/>
              </a:path>
            </a:pathLst>
          </a:cu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71" name="Google Shape;171;p5"/>
          <p:cNvSpPr/>
          <p:nvPr/>
        </p:nvSpPr>
        <p:spPr>
          <a:xfrm>
            <a:off x="9210675" y="5448300"/>
            <a:ext cx="1009650" cy="381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2700">
                <a:solidFill>
                  <a:srgbClr val="FF9045"/>
                </a:solidFill>
                <a:latin typeface="EB Garamond"/>
                <a:ea typeface="EB Garamond"/>
                <a:cs typeface="EB Garamond"/>
                <a:sym typeface="EB Garamond"/>
              </a:rPr>
              <a:t>100+</a:t>
            </a:r>
            <a:endParaRPr sz="1600">
              <a:solidFill>
                <a:schemeClr val="dk1"/>
              </a:solidFill>
              <a:latin typeface="EB Garamond"/>
              <a:ea typeface="EB Garamond"/>
              <a:cs typeface="EB Garamond"/>
              <a:sym typeface="EB Garamond"/>
            </a:endParaRPr>
          </a:p>
        </p:txBody>
      </p:sp>
      <p:sp>
        <p:nvSpPr>
          <p:cNvPr id="172" name="Google Shape;172;p5"/>
          <p:cNvSpPr/>
          <p:nvPr/>
        </p:nvSpPr>
        <p:spPr>
          <a:xfrm>
            <a:off x="9258300" y="5867400"/>
            <a:ext cx="914400" cy="2286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200">
                <a:solidFill>
                  <a:srgbClr val="FFFFFF"/>
                </a:solidFill>
                <a:latin typeface="EB Garamond"/>
                <a:ea typeface="EB Garamond"/>
                <a:cs typeface="EB Garamond"/>
                <a:sym typeface="EB Garamond"/>
              </a:rPr>
              <a:t>Sự kiện/kỳ</a:t>
            </a:r>
            <a:endParaRPr sz="1600">
              <a:solidFill>
                <a:schemeClr val="dk1"/>
              </a:solidFill>
              <a:latin typeface="EB Garamond"/>
              <a:ea typeface="EB Garamond"/>
              <a:cs typeface="EB Garamond"/>
              <a:sym typeface="EB Garamond"/>
            </a:endParaRPr>
          </a:p>
        </p:txBody>
      </p:sp>
      <p:sp>
        <p:nvSpPr>
          <p:cNvPr id="173" name="Google Shape;173;p5"/>
          <p:cNvSpPr/>
          <p:nvPr/>
        </p:nvSpPr>
        <p:spPr>
          <a:xfrm>
            <a:off x="10439400" y="5295900"/>
            <a:ext cx="1143000" cy="952500"/>
          </a:xfrm>
          <a:custGeom>
            <a:rect b="b" l="l" r="r" t="t"/>
            <a:pathLst>
              <a:path extrusionOk="0" h="952500" w="1143000">
                <a:moveTo>
                  <a:pt x="114300" y="0"/>
                </a:moveTo>
                <a:lnTo>
                  <a:pt x="1028700" y="0"/>
                </a:lnTo>
                <a:cubicBezTo>
                  <a:pt x="1091784" y="0"/>
                  <a:pt x="1143000" y="51216"/>
                  <a:pt x="1143000" y="114300"/>
                </a:cubicBezTo>
                <a:lnTo>
                  <a:pt x="1143000" y="838200"/>
                </a:lnTo>
                <a:cubicBezTo>
                  <a:pt x="1143000" y="901284"/>
                  <a:pt x="1091784" y="952500"/>
                  <a:pt x="1028700" y="952500"/>
                </a:cubicBezTo>
                <a:lnTo>
                  <a:pt x="114300" y="952500"/>
                </a:lnTo>
                <a:cubicBezTo>
                  <a:pt x="51216" y="952500"/>
                  <a:pt x="0" y="901284"/>
                  <a:pt x="0" y="838200"/>
                </a:cubicBezTo>
                <a:lnTo>
                  <a:pt x="0" y="114300"/>
                </a:lnTo>
                <a:cubicBezTo>
                  <a:pt x="0" y="51216"/>
                  <a:pt x="51216" y="0"/>
                  <a:pt x="114300" y="0"/>
                </a:cubicBezTo>
                <a:close/>
              </a:path>
            </a:pathLst>
          </a:cu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174" name="Google Shape;174;p5"/>
          <p:cNvSpPr/>
          <p:nvPr/>
        </p:nvSpPr>
        <p:spPr>
          <a:xfrm>
            <a:off x="10506075" y="5448300"/>
            <a:ext cx="1009650" cy="381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2700">
                <a:solidFill>
                  <a:srgbClr val="FF9045"/>
                </a:solidFill>
                <a:latin typeface="EB Garamond"/>
                <a:ea typeface="EB Garamond"/>
                <a:cs typeface="EB Garamond"/>
                <a:sym typeface="EB Garamond"/>
              </a:rPr>
              <a:t>50+</a:t>
            </a:r>
            <a:endParaRPr sz="1600">
              <a:solidFill>
                <a:schemeClr val="dk1"/>
              </a:solidFill>
              <a:latin typeface="EB Garamond"/>
              <a:ea typeface="EB Garamond"/>
              <a:cs typeface="EB Garamond"/>
              <a:sym typeface="EB Garamond"/>
            </a:endParaRPr>
          </a:p>
        </p:txBody>
      </p:sp>
      <p:sp>
        <p:nvSpPr>
          <p:cNvPr id="175" name="Google Shape;175;p5"/>
          <p:cNvSpPr/>
          <p:nvPr/>
        </p:nvSpPr>
        <p:spPr>
          <a:xfrm>
            <a:off x="10553700" y="5867400"/>
            <a:ext cx="914400" cy="228600"/>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200">
                <a:solidFill>
                  <a:srgbClr val="FFFFFF"/>
                </a:solidFill>
                <a:latin typeface="EB Garamond"/>
                <a:ea typeface="EB Garamond"/>
                <a:cs typeface="EB Garamond"/>
                <a:sym typeface="EB Garamond"/>
              </a:rPr>
              <a:t>Workshop</a:t>
            </a:r>
            <a:endParaRPr sz="1600">
              <a:solidFill>
                <a:schemeClr val="dk1"/>
              </a:solidFill>
              <a:latin typeface="EB Garamond"/>
              <a:ea typeface="EB Garamond"/>
              <a:cs typeface="EB Garamond"/>
              <a:sym typeface="EB Garamond"/>
            </a:endParaRP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180" name="Shape 180"/>
        <p:cNvGrpSpPr/>
        <p:nvPr/>
      </p:nvGrpSpPr>
      <p:grpSpPr>
        <a:xfrm>
          <a:off x="0" y="0"/>
          <a:ext cx="0" cy="0"/>
          <a:chOff x="0" y="0"/>
          <a:chExt cx="0" cy="0"/>
        </a:xfrm>
      </p:grpSpPr>
      <p:sp>
        <p:nvSpPr>
          <p:cNvPr id="181" name="Google Shape;181;p6"/>
          <p:cNvSpPr/>
          <p:nvPr/>
        </p:nvSpPr>
        <p:spPr>
          <a:xfrm>
            <a:off x="381000" y="666750"/>
            <a:ext cx="56007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295EDF"/>
                </a:solidFill>
                <a:latin typeface="Quattrocento Sans"/>
                <a:ea typeface="Quattrocento Sans"/>
                <a:cs typeface="Quattrocento Sans"/>
                <a:sym typeface="Quattrocento Sans"/>
              </a:rPr>
              <a:t>THE SOLUTION</a:t>
            </a:r>
            <a:endParaRPr sz="1600">
              <a:solidFill>
                <a:schemeClr val="dk1"/>
              </a:solidFill>
              <a:latin typeface="Calibri"/>
              <a:ea typeface="Calibri"/>
              <a:cs typeface="Calibri"/>
              <a:sym typeface="Calibri"/>
            </a:endParaRPr>
          </a:p>
        </p:txBody>
      </p:sp>
      <p:sp>
        <p:nvSpPr>
          <p:cNvPr id="182" name="Google Shape;182;p6"/>
          <p:cNvSpPr/>
          <p:nvPr/>
        </p:nvSpPr>
        <p:spPr>
          <a:xfrm>
            <a:off x="381000" y="1009650"/>
            <a:ext cx="5810250" cy="1428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4500">
                <a:solidFill>
                  <a:srgbClr val="0D1B4C"/>
                </a:solidFill>
                <a:latin typeface="EB Garamond"/>
                <a:ea typeface="EB Garamond"/>
                <a:cs typeface="EB Garamond"/>
                <a:sym typeface="EB Garamond"/>
              </a:rPr>
              <a:t>Tại sao cần FPT Student Hub?</a:t>
            </a:r>
            <a:endParaRPr sz="1600">
              <a:solidFill>
                <a:schemeClr val="dk1"/>
              </a:solidFill>
              <a:latin typeface="EB Garamond"/>
              <a:ea typeface="EB Garamond"/>
              <a:cs typeface="EB Garamond"/>
              <a:sym typeface="EB Garamond"/>
            </a:endParaRPr>
          </a:p>
        </p:txBody>
      </p:sp>
      <p:sp>
        <p:nvSpPr>
          <p:cNvPr id="183" name="Google Shape;183;p6"/>
          <p:cNvSpPr/>
          <p:nvPr/>
        </p:nvSpPr>
        <p:spPr>
          <a:xfrm>
            <a:off x="381000" y="2743200"/>
            <a:ext cx="5619750" cy="12382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500">
                <a:solidFill>
                  <a:srgbClr val="1C2026"/>
                </a:solidFill>
                <a:latin typeface="EB Garamond"/>
                <a:ea typeface="EB Garamond"/>
                <a:cs typeface="EB Garamond"/>
                <a:sym typeface="EB Garamond"/>
              </a:rPr>
              <a:t>Từ thực trạng trên, nhu cầu về một </a:t>
            </a:r>
            <a:r>
              <a:rPr lang="en-US" sz="1500">
                <a:solidFill>
                  <a:srgbClr val="0D1B4C"/>
                </a:solidFill>
                <a:highlight>
                  <a:srgbClr val="FF9045"/>
                </a:highlight>
                <a:latin typeface="EB Garamond"/>
                <a:ea typeface="EB Garamond"/>
                <a:cs typeface="EB Garamond"/>
                <a:sym typeface="EB Garamond"/>
              </a:rPr>
              <a:t>"FPT Student Hub" </a:t>
            </a:r>
            <a:r>
              <a:rPr lang="en-US" sz="1500">
                <a:solidFill>
                  <a:srgbClr val="1C2026"/>
                </a:solidFill>
                <a:latin typeface="EB Garamond"/>
                <a:ea typeface="EB Garamond"/>
                <a:cs typeface="EB Garamond"/>
                <a:sym typeface="EB Garamond"/>
              </a:rPr>
              <a:t>– nơi đóng vai trò là cổng thông tin tập trung, "cầm tay chỉ việc" hướng dẫn chi tiết các thủ tục và cách sử dụng công cụ học tập – là vô cùng cấp thiết.</a:t>
            </a:r>
            <a:endParaRPr sz="1600">
              <a:solidFill>
                <a:schemeClr val="dk1"/>
              </a:solidFill>
              <a:latin typeface="EB Garamond"/>
              <a:ea typeface="EB Garamond"/>
              <a:cs typeface="EB Garamond"/>
              <a:sym typeface="EB Garamond"/>
            </a:endParaRPr>
          </a:p>
        </p:txBody>
      </p:sp>
      <p:sp>
        <p:nvSpPr>
          <p:cNvPr id="184" name="Google Shape;184;p6"/>
          <p:cNvSpPr/>
          <p:nvPr/>
        </p:nvSpPr>
        <p:spPr>
          <a:xfrm>
            <a:off x="381000" y="4286250"/>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6"/>
          <p:cNvSpPr/>
          <p:nvPr/>
        </p:nvSpPr>
        <p:spPr>
          <a:xfrm>
            <a:off x="514350" y="4419600"/>
            <a:ext cx="190500" cy="190500"/>
          </a:xfrm>
          <a:custGeom>
            <a:rect b="b" l="l" r="r" t="t"/>
            <a:pathLst>
              <a:path extrusionOk="0" h="190500" w="190500">
                <a:moveTo>
                  <a:pt x="166688" y="95250"/>
                </a:moveTo>
                <a:cubicBezTo>
                  <a:pt x="166688" y="55823"/>
                  <a:pt x="134677" y="23812"/>
                  <a:pt x="95250" y="23812"/>
                </a:cubicBezTo>
                <a:cubicBezTo>
                  <a:pt x="55823" y="23812"/>
                  <a:pt x="23813" y="55823"/>
                  <a:pt x="23812" y="95250"/>
                </a:cubicBezTo>
                <a:cubicBezTo>
                  <a:pt x="23812" y="134677"/>
                  <a:pt x="55823" y="166688"/>
                  <a:pt x="95250" y="166688"/>
                </a:cubicBezTo>
                <a:cubicBezTo>
                  <a:pt x="134677" y="166688"/>
                  <a:pt x="166688" y="134677"/>
                  <a:pt x="166688" y="95250"/>
                </a:cubicBezTo>
                <a:close/>
                <a:moveTo>
                  <a:pt x="0" y="95250"/>
                </a:moveTo>
                <a:cubicBezTo>
                  <a:pt x="0" y="42680"/>
                  <a:pt x="42680" y="0"/>
                  <a:pt x="95250" y="0"/>
                </a:cubicBezTo>
                <a:cubicBezTo>
                  <a:pt x="147820" y="0"/>
                  <a:pt x="190500" y="42680"/>
                  <a:pt x="190500" y="95250"/>
                </a:cubicBezTo>
                <a:cubicBezTo>
                  <a:pt x="190500" y="147820"/>
                  <a:pt x="147820" y="190500"/>
                  <a:pt x="95250" y="190500"/>
                </a:cubicBezTo>
                <a:cubicBezTo>
                  <a:pt x="42680" y="190500"/>
                  <a:pt x="0" y="147820"/>
                  <a:pt x="0" y="95250"/>
                </a:cubicBezTo>
                <a:close/>
                <a:moveTo>
                  <a:pt x="95250" y="125016"/>
                </a:moveTo>
                <a:cubicBezTo>
                  <a:pt x="111678" y="125016"/>
                  <a:pt x="125016" y="111678"/>
                  <a:pt x="125016" y="95250"/>
                </a:cubicBezTo>
                <a:cubicBezTo>
                  <a:pt x="125016" y="78822"/>
                  <a:pt x="111678" y="65484"/>
                  <a:pt x="95250" y="65484"/>
                </a:cubicBezTo>
                <a:cubicBezTo>
                  <a:pt x="78822" y="65484"/>
                  <a:pt x="65484" y="78822"/>
                  <a:pt x="65484" y="95250"/>
                </a:cubicBezTo>
                <a:cubicBezTo>
                  <a:pt x="65484" y="111678"/>
                  <a:pt x="78822" y="125016"/>
                  <a:pt x="95250" y="125016"/>
                </a:cubicBezTo>
                <a:close/>
                <a:moveTo>
                  <a:pt x="95250" y="41672"/>
                </a:moveTo>
                <a:cubicBezTo>
                  <a:pt x="124821" y="41672"/>
                  <a:pt x="148828" y="65679"/>
                  <a:pt x="148828" y="95250"/>
                </a:cubicBezTo>
                <a:cubicBezTo>
                  <a:pt x="148828" y="124821"/>
                  <a:pt x="124821" y="148828"/>
                  <a:pt x="95250" y="148828"/>
                </a:cubicBezTo>
                <a:cubicBezTo>
                  <a:pt x="65679" y="148828"/>
                  <a:pt x="41672" y="124821"/>
                  <a:pt x="41672" y="95250"/>
                </a:cubicBezTo>
                <a:cubicBezTo>
                  <a:pt x="41672" y="65679"/>
                  <a:pt x="65679" y="41672"/>
                  <a:pt x="95250" y="41672"/>
                </a:cubicBezTo>
                <a:close/>
                <a:moveTo>
                  <a:pt x="83344" y="95250"/>
                </a:moveTo>
                <a:cubicBezTo>
                  <a:pt x="83344" y="88679"/>
                  <a:pt x="88679" y="83344"/>
                  <a:pt x="95250" y="83344"/>
                </a:cubicBezTo>
                <a:cubicBezTo>
                  <a:pt x="101821" y="83344"/>
                  <a:pt x="107156" y="88679"/>
                  <a:pt x="107156" y="95250"/>
                </a:cubicBezTo>
                <a:cubicBezTo>
                  <a:pt x="107156" y="101821"/>
                  <a:pt x="101821" y="107156"/>
                  <a:pt x="95250" y="107156"/>
                </a:cubicBezTo>
                <a:cubicBezTo>
                  <a:pt x="88679" y="107156"/>
                  <a:pt x="83344" y="101821"/>
                  <a:pt x="83344" y="9525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6" name="Google Shape;186;p6"/>
          <p:cNvSpPr/>
          <p:nvPr/>
        </p:nvSpPr>
        <p:spPr>
          <a:xfrm>
            <a:off x="990600" y="4286250"/>
            <a:ext cx="28765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Một điểm truy cập</a:t>
            </a:r>
            <a:endParaRPr sz="1600">
              <a:solidFill>
                <a:schemeClr val="dk1"/>
              </a:solidFill>
              <a:latin typeface="EB Garamond"/>
              <a:ea typeface="EB Garamond"/>
              <a:cs typeface="EB Garamond"/>
              <a:sym typeface="EB Garamond"/>
            </a:endParaRPr>
          </a:p>
        </p:txBody>
      </p:sp>
      <p:sp>
        <p:nvSpPr>
          <p:cNvPr id="187" name="Google Shape;187;p6"/>
          <p:cNvSpPr/>
          <p:nvPr/>
        </p:nvSpPr>
        <p:spPr>
          <a:xfrm>
            <a:off x="990600" y="4591050"/>
            <a:ext cx="28575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Tích hợp mọi thông tin và công cụ học tập</a:t>
            </a:r>
            <a:endParaRPr sz="1600">
              <a:solidFill>
                <a:schemeClr val="dk1"/>
              </a:solidFill>
              <a:latin typeface="EB Garamond"/>
              <a:ea typeface="EB Garamond"/>
              <a:cs typeface="EB Garamond"/>
              <a:sym typeface="EB Garamond"/>
            </a:endParaRPr>
          </a:p>
        </p:txBody>
      </p:sp>
      <p:sp>
        <p:nvSpPr>
          <p:cNvPr id="188" name="Google Shape;188;p6"/>
          <p:cNvSpPr/>
          <p:nvPr/>
        </p:nvSpPr>
        <p:spPr>
          <a:xfrm>
            <a:off x="381000" y="4972050"/>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9" name="Google Shape;189;p6"/>
          <p:cNvSpPr/>
          <p:nvPr/>
        </p:nvSpPr>
        <p:spPr>
          <a:xfrm>
            <a:off x="514350" y="5105400"/>
            <a:ext cx="190500" cy="190500"/>
          </a:xfrm>
          <a:custGeom>
            <a:rect b="b" l="l" r="r" t="t"/>
            <a:pathLst>
              <a:path extrusionOk="0" h="190500" w="190500">
                <a:moveTo>
                  <a:pt x="95250" y="190500"/>
                </a:moveTo>
                <a:cubicBezTo>
                  <a:pt x="147820" y="190500"/>
                  <a:pt x="190500" y="147820"/>
                  <a:pt x="190500" y="95250"/>
                </a:cubicBezTo>
                <a:cubicBezTo>
                  <a:pt x="190500" y="42680"/>
                  <a:pt x="147820" y="0"/>
                  <a:pt x="95250" y="0"/>
                </a:cubicBezTo>
                <a:cubicBezTo>
                  <a:pt x="42680" y="0"/>
                  <a:pt x="0" y="42680"/>
                  <a:pt x="0" y="95250"/>
                </a:cubicBezTo>
                <a:cubicBezTo>
                  <a:pt x="0" y="147820"/>
                  <a:pt x="42680" y="190500"/>
                  <a:pt x="95250" y="190500"/>
                </a:cubicBezTo>
                <a:close/>
                <a:moveTo>
                  <a:pt x="114114" y="120960"/>
                </a:moveTo>
                <a:lnTo>
                  <a:pt x="60424" y="141610"/>
                </a:lnTo>
                <a:cubicBezTo>
                  <a:pt x="53206" y="144400"/>
                  <a:pt x="46100" y="137294"/>
                  <a:pt x="48890" y="130076"/>
                </a:cubicBezTo>
                <a:lnTo>
                  <a:pt x="69540" y="76386"/>
                </a:lnTo>
                <a:cubicBezTo>
                  <a:pt x="70768" y="73223"/>
                  <a:pt x="73223" y="70768"/>
                  <a:pt x="76386" y="69540"/>
                </a:cubicBezTo>
                <a:lnTo>
                  <a:pt x="130076" y="48890"/>
                </a:lnTo>
                <a:cubicBezTo>
                  <a:pt x="137294" y="46100"/>
                  <a:pt x="144400" y="53206"/>
                  <a:pt x="141610" y="60424"/>
                </a:cubicBezTo>
                <a:lnTo>
                  <a:pt x="120960" y="114114"/>
                </a:lnTo>
                <a:cubicBezTo>
                  <a:pt x="119769" y="117277"/>
                  <a:pt x="117277" y="119732"/>
                  <a:pt x="114114" y="120960"/>
                </a:cubicBezTo>
                <a:close/>
                <a:moveTo>
                  <a:pt x="107156" y="95250"/>
                </a:moveTo>
                <a:cubicBezTo>
                  <a:pt x="107156" y="88679"/>
                  <a:pt x="101821" y="83344"/>
                  <a:pt x="95250" y="83344"/>
                </a:cubicBezTo>
                <a:cubicBezTo>
                  <a:pt x="88679" y="83344"/>
                  <a:pt x="83344" y="88679"/>
                  <a:pt x="83344" y="95250"/>
                </a:cubicBezTo>
                <a:cubicBezTo>
                  <a:pt x="83344" y="101821"/>
                  <a:pt x="88679" y="107156"/>
                  <a:pt x="95250" y="107156"/>
                </a:cubicBezTo>
                <a:cubicBezTo>
                  <a:pt x="101821" y="107156"/>
                  <a:pt x="107156" y="101821"/>
                  <a:pt x="107156" y="9525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6"/>
          <p:cNvSpPr/>
          <p:nvPr/>
        </p:nvSpPr>
        <p:spPr>
          <a:xfrm>
            <a:off x="990600" y="4972050"/>
            <a:ext cx="31432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Liter"/>
                <a:ea typeface="Liter"/>
                <a:cs typeface="Liter"/>
                <a:sym typeface="Liter"/>
              </a:rPr>
              <a:t>Hướng dẫn chi tiết</a:t>
            </a:r>
            <a:endParaRPr sz="1600">
              <a:solidFill>
                <a:schemeClr val="dk1"/>
              </a:solidFill>
              <a:latin typeface="Calibri"/>
              <a:ea typeface="Calibri"/>
              <a:cs typeface="Calibri"/>
              <a:sym typeface="Calibri"/>
            </a:endParaRPr>
          </a:p>
        </p:txBody>
      </p:sp>
      <p:sp>
        <p:nvSpPr>
          <p:cNvPr id="191" name="Google Shape;191;p6"/>
          <p:cNvSpPr/>
          <p:nvPr/>
        </p:nvSpPr>
        <p:spPr>
          <a:xfrm>
            <a:off x="990600" y="5276850"/>
            <a:ext cx="31242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Các thủ tục hành chính được giải thích rõ ràng</a:t>
            </a:r>
            <a:endParaRPr sz="1600">
              <a:solidFill>
                <a:schemeClr val="dk1"/>
              </a:solidFill>
              <a:latin typeface="EB Garamond"/>
              <a:ea typeface="EB Garamond"/>
              <a:cs typeface="EB Garamond"/>
              <a:sym typeface="EB Garamond"/>
            </a:endParaRPr>
          </a:p>
        </p:txBody>
      </p:sp>
      <p:sp>
        <p:nvSpPr>
          <p:cNvPr id="192" name="Google Shape;192;p6"/>
          <p:cNvSpPr/>
          <p:nvPr/>
        </p:nvSpPr>
        <p:spPr>
          <a:xfrm>
            <a:off x="381000" y="5657850"/>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3" name="Google Shape;193;p6"/>
          <p:cNvSpPr/>
          <p:nvPr/>
        </p:nvSpPr>
        <p:spPr>
          <a:xfrm>
            <a:off x="514350" y="5791200"/>
            <a:ext cx="190500" cy="190500"/>
          </a:xfrm>
          <a:custGeom>
            <a:rect b="b" l="l" r="r" t="t"/>
            <a:pathLst>
              <a:path extrusionOk="0" h="190500" w="190500">
                <a:moveTo>
                  <a:pt x="47625" y="119063"/>
                </a:moveTo>
                <a:lnTo>
                  <a:pt x="9116" y="119063"/>
                </a:lnTo>
                <a:cubicBezTo>
                  <a:pt x="-149" y="119063"/>
                  <a:pt x="-5842" y="108979"/>
                  <a:pt x="-1079" y="101017"/>
                </a:cubicBezTo>
                <a:lnTo>
                  <a:pt x="18604" y="68200"/>
                </a:lnTo>
                <a:cubicBezTo>
                  <a:pt x="21841" y="62805"/>
                  <a:pt x="27645" y="59531"/>
                  <a:pt x="33933" y="59531"/>
                </a:cubicBezTo>
                <a:lnTo>
                  <a:pt x="69279" y="59531"/>
                </a:lnTo>
                <a:cubicBezTo>
                  <a:pt x="97594" y="11571"/>
                  <a:pt x="139824" y="9153"/>
                  <a:pt x="168064" y="13283"/>
                </a:cubicBezTo>
                <a:cubicBezTo>
                  <a:pt x="172827" y="13990"/>
                  <a:pt x="176547" y="17711"/>
                  <a:pt x="177217" y="22436"/>
                </a:cubicBezTo>
                <a:cubicBezTo>
                  <a:pt x="181347" y="50676"/>
                  <a:pt x="178929" y="92906"/>
                  <a:pt x="130969" y="121221"/>
                </a:cubicBezTo>
                <a:lnTo>
                  <a:pt x="130969" y="156567"/>
                </a:lnTo>
                <a:cubicBezTo>
                  <a:pt x="130969" y="162855"/>
                  <a:pt x="127695" y="168659"/>
                  <a:pt x="122300" y="171896"/>
                </a:cubicBezTo>
                <a:lnTo>
                  <a:pt x="89483" y="191579"/>
                </a:lnTo>
                <a:cubicBezTo>
                  <a:pt x="81558" y="196342"/>
                  <a:pt x="71438" y="190612"/>
                  <a:pt x="71438" y="181384"/>
                </a:cubicBezTo>
                <a:lnTo>
                  <a:pt x="71438" y="142875"/>
                </a:lnTo>
                <a:cubicBezTo>
                  <a:pt x="71438" y="129741"/>
                  <a:pt x="60759" y="119063"/>
                  <a:pt x="47625" y="119063"/>
                </a:cubicBezTo>
                <a:lnTo>
                  <a:pt x="47588" y="119063"/>
                </a:lnTo>
                <a:close/>
                <a:moveTo>
                  <a:pt x="148828" y="59531"/>
                </a:moveTo>
                <a:cubicBezTo>
                  <a:pt x="148828" y="49674"/>
                  <a:pt x="140826" y="41672"/>
                  <a:pt x="130969" y="41672"/>
                </a:cubicBezTo>
                <a:cubicBezTo>
                  <a:pt x="121112" y="41672"/>
                  <a:pt x="113109" y="49674"/>
                  <a:pt x="113109" y="59531"/>
                </a:cubicBezTo>
                <a:cubicBezTo>
                  <a:pt x="113109" y="69388"/>
                  <a:pt x="121112" y="77391"/>
                  <a:pt x="130969" y="77391"/>
                </a:cubicBezTo>
                <a:cubicBezTo>
                  <a:pt x="140826" y="77391"/>
                  <a:pt x="148828" y="69388"/>
                  <a:pt x="148828" y="59531"/>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6"/>
          <p:cNvSpPr/>
          <p:nvPr/>
        </p:nvSpPr>
        <p:spPr>
          <a:xfrm>
            <a:off x="990600" y="5657850"/>
            <a:ext cx="247650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Liter"/>
                <a:ea typeface="Liter"/>
                <a:cs typeface="Liter"/>
                <a:sym typeface="Liter"/>
              </a:rPr>
              <a:t>Nâng cao trải nghiệm</a:t>
            </a:r>
            <a:endParaRPr sz="1600">
              <a:solidFill>
                <a:schemeClr val="dk1"/>
              </a:solidFill>
              <a:latin typeface="Calibri"/>
              <a:ea typeface="Calibri"/>
              <a:cs typeface="Calibri"/>
              <a:sym typeface="Calibri"/>
            </a:endParaRPr>
          </a:p>
        </p:txBody>
      </p:sp>
      <p:sp>
        <p:nvSpPr>
          <p:cNvPr id="195" name="Google Shape;195;p6"/>
          <p:cNvSpPr/>
          <p:nvPr/>
        </p:nvSpPr>
        <p:spPr>
          <a:xfrm>
            <a:off x="990600" y="5962650"/>
            <a:ext cx="24574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Giúp sinh viên tập trung vào học tập</a:t>
            </a:r>
            <a:endParaRPr sz="1600">
              <a:solidFill>
                <a:schemeClr val="dk1"/>
              </a:solidFill>
              <a:latin typeface="EB Garamond"/>
              <a:ea typeface="EB Garamond"/>
              <a:cs typeface="EB Garamond"/>
              <a:sym typeface="EB Garamond"/>
            </a:endParaRPr>
          </a:p>
        </p:txBody>
      </p:sp>
      <p:pic>
        <p:nvPicPr>
          <p:cNvPr descr="https://kimi-web-img.moonshot.cn/img/images.stockcake.com/1a4946fb322460e8a5cc2dff540bd95ff34882e5.jpg" id="196" name="Google Shape;196;p6"/>
          <p:cNvPicPr preferRelativeResize="0"/>
          <p:nvPr/>
        </p:nvPicPr>
        <p:blipFill rotWithShape="1">
          <a:blip r:embed="rId3">
            <a:alphaModFix/>
          </a:blip>
          <a:srcRect b="0" l="20976" r="20976" t="0"/>
          <a:stretch/>
        </p:blipFill>
        <p:spPr>
          <a:xfrm>
            <a:off x="6286500" y="762000"/>
            <a:ext cx="5524500" cy="5334000"/>
          </a:xfrm>
          <a:prstGeom prst="roundRect">
            <a:avLst>
              <a:gd fmla="val 4286" name="adj"/>
            </a:avLst>
          </a:prstGeom>
          <a:noFill/>
          <a:ln>
            <a:noFill/>
          </a:ln>
        </p:spPr>
      </p:pic>
      <p:sp>
        <p:nvSpPr>
          <p:cNvPr id="197" name="Google Shape;197;p6"/>
          <p:cNvSpPr/>
          <p:nvPr/>
        </p:nvSpPr>
        <p:spPr>
          <a:xfrm>
            <a:off x="6591300" y="4210050"/>
            <a:ext cx="4914900" cy="1581150"/>
          </a:xfrm>
          <a:custGeom>
            <a:rect b="b" l="l" r="r" t="t"/>
            <a:pathLst>
              <a:path extrusionOk="0" h="1581150" w="4914900">
                <a:moveTo>
                  <a:pt x="152407" y="0"/>
                </a:moveTo>
                <a:lnTo>
                  <a:pt x="4762493" y="0"/>
                </a:lnTo>
                <a:cubicBezTo>
                  <a:pt x="4846665" y="0"/>
                  <a:pt x="4914900" y="68235"/>
                  <a:pt x="4914900" y="152407"/>
                </a:cubicBezTo>
                <a:lnTo>
                  <a:pt x="4914900" y="1428743"/>
                </a:lnTo>
                <a:cubicBezTo>
                  <a:pt x="4914900" y="1512915"/>
                  <a:pt x="4846665" y="1581150"/>
                  <a:pt x="4762493" y="1581150"/>
                </a:cubicBezTo>
                <a:lnTo>
                  <a:pt x="152407" y="1581150"/>
                </a:lnTo>
                <a:cubicBezTo>
                  <a:pt x="68235" y="1581150"/>
                  <a:pt x="0" y="1512915"/>
                  <a:pt x="0" y="1428743"/>
                </a:cubicBezTo>
                <a:lnTo>
                  <a:pt x="0" y="152407"/>
                </a:lnTo>
                <a:cubicBezTo>
                  <a:pt x="0" y="68291"/>
                  <a:pt x="68291" y="0"/>
                  <a:pt x="152407" y="0"/>
                </a:cubicBezTo>
                <a:close/>
              </a:path>
            </a:pathLst>
          </a:custGeom>
          <a:solidFill>
            <a:srgbClr val="FFFFFF">
              <a:alpha val="94901"/>
            </a:srgbClr>
          </a:solidFill>
          <a:ln>
            <a:noFill/>
          </a:ln>
          <a:effectLst>
            <a:outerShdw blurRad="238125" rotWithShape="0" algn="bl" dir="5400000" dist="1905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6"/>
          <p:cNvSpPr/>
          <p:nvPr/>
        </p:nvSpPr>
        <p:spPr>
          <a:xfrm>
            <a:off x="6858000" y="4476750"/>
            <a:ext cx="44577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295EDF"/>
                </a:solidFill>
                <a:latin typeface="EB Garamond"/>
                <a:ea typeface="EB Garamond"/>
                <a:cs typeface="EB Garamond"/>
                <a:sym typeface="EB Garamond"/>
              </a:rPr>
              <a:t>MỤC TIÊU</a:t>
            </a:r>
            <a:endParaRPr sz="1600">
              <a:solidFill>
                <a:schemeClr val="dk1"/>
              </a:solidFill>
              <a:latin typeface="EB Garamond"/>
              <a:ea typeface="EB Garamond"/>
              <a:cs typeface="EB Garamond"/>
              <a:sym typeface="EB Garamond"/>
            </a:endParaRPr>
          </a:p>
        </p:txBody>
      </p:sp>
      <p:sp>
        <p:nvSpPr>
          <p:cNvPr id="199" name="Google Shape;199;p6"/>
          <p:cNvSpPr/>
          <p:nvPr/>
        </p:nvSpPr>
        <p:spPr>
          <a:xfrm>
            <a:off x="6858000" y="4781550"/>
            <a:ext cx="4495800" cy="7429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b="1" lang="en-US" sz="1800">
                <a:solidFill>
                  <a:srgbClr val="0D1B4C"/>
                </a:solidFill>
                <a:latin typeface="EB Garamond"/>
                <a:ea typeface="EB Garamond"/>
                <a:cs typeface="EB Garamond"/>
                <a:sym typeface="EB Garamond"/>
              </a:rPr>
              <a:t>Nâng cao chất lượng </a:t>
            </a:r>
            <a:r>
              <a:rPr b="1" lang="en-US" sz="1800">
                <a:solidFill>
                  <a:srgbClr val="0D1B4C"/>
                </a:solidFill>
                <a:latin typeface="EB Garamond"/>
                <a:ea typeface="EB Garamond"/>
                <a:cs typeface="EB Garamond"/>
                <a:sym typeface="EB Garamond"/>
              </a:rPr>
              <a:t>đời</a:t>
            </a:r>
            <a:r>
              <a:rPr b="1" lang="en-US" sz="1800">
                <a:solidFill>
                  <a:srgbClr val="0D1B4C"/>
                </a:solidFill>
                <a:latin typeface="EB Garamond"/>
                <a:ea typeface="EB Garamond"/>
                <a:cs typeface="EB Garamond"/>
                <a:sym typeface="EB Garamond"/>
              </a:rPr>
              <a:t> sống sinh viên và tối ưu hóa trải nghiệm học tập</a:t>
            </a:r>
            <a:endParaRPr sz="1600">
              <a:solidFill>
                <a:schemeClr val="dk1"/>
              </a:solidFill>
              <a:latin typeface="EB Garamond"/>
              <a:ea typeface="EB Garamond"/>
              <a:cs typeface="EB Garamond"/>
              <a:sym typeface="EB Garamond"/>
            </a:endParaRP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295EDF"/>
        </a:solidFill>
      </p:bgPr>
    </p:bg>
    <p:spTree>
      <p:nvGrpSpPr>
        <p:cNvPr id="204" name="Shape 204"/>
        <p:cNvGrpSpPr/>
        <p:nvPr/>
      </p:nvGrpSpPr>
      <p:grpSpPr>
        <a:xfrm>
          <a:off x="0" y="0"/>
          <a:ext cx="0" cy="0"/>
          <a:chOff x="0" y="0"/>
          <a:chExt cx="0" cy="0"/>
        </a:xfrm>
      </p:grpSpPr>
      <p:pic>
        <p:nvPicPr>
          <p:cNvPr descr="https://kimi-web-img.moonshot.cn/img/media.istockphoto.com/851229f6d2a19b1e5ded6472d4b143c4c00e8c18.jpg" id="205" name="Google Shape;205;p7"/>
          <p:cNvPicPr preferRelativeResize="0"/>
          <p:nvPr/>
        </p:nvPicPr>
        <p:blipFill rotWithShape="1">
          <a:blip r:embed="rId3">
            <a:alphaModFix amt="20000"/>
          </a:blip>
          <a:srcRect b="7813" l="0" r="0" t="7812"/>
          <a:stretch/>
        </p:blipFill>
        <p:spPr>
          <a:xfrm>
            <a:off x="0" y="0"/>
            <a:ext cx="12192000" cy="6858000"/>
          </a:xfrm>
          <a:prstGeom prst="roundRect">
            <a:avLst>
              <a:gd fmla="val 0" name="adj"/>
            </a:avLst>
          </a:prstGeom>
          <a:noFill/>
          <a:ln>
            <a:noFill/>
          </a:ln>
        </p:spPr>
      </p:pic>
      <p:sp>
        <p:nvSpPr>
          <p:cNvPr id="206" name="Google Shape;206;p7"/>
          <p:cNvSpPr/>
          <p:nvPr/>
        </p:nvSpPr>
        <p:spPr>
          <a:xfrm>
            <a:off x="0" y="0"/>
            <a:ext cx="12192000" cy="6858000"/>
          </a:xfrm>
          <a:custGeom>
            <a:rect b="b" l="l" r="r" t="t"/>
            <a:pathLst>
              <a:path extrusionOk="0" h="6858000" w="12192000">
                <a:moveTo>
                  <a:pt x="0" y="0"/>
                </a:moveTo>
                <a:lnTo>
                  <a:pt x="12192000" y="0"/>
                </a:lnTo>
                <a:lnTo>
                  <a:pt x="12192000" y="6858000"/>
                </a:lnTo>
                <a:lnTo>
                  <a:pt x="0" y="6858000"/>
                </a:lnTo>
                <a:lnTo>
                  <a:pt x="0" y="0"/>
                </a:lnTo>
                <a:close/>
              </a:path>
            </a:pathLst>
          </a:custGeom>
          <a:gradFill>
            <a:gsLst>
              <a:gs pos="0">
                <a:srgbClr val="295EDF">
                  <a:alpha val="94901"/>
                </a:srgbClr>
              </a:gs>
              <a:gs pos="100000">
                <a:srgbClr val="FF9045">
                  <a:alpha val="84705"/>
                </a:srgbClr>
              </a:gs>
            </a:gsLst>
            <a:lin ang="0" scaled="0"/>
          </a:gradFill>
          <a:ln>
            <a:noFill/>
          </a:ln>
        </p:spPr>
      </p:sp>
      <p:sp>
        <p:nvSpPr>
          <p:cNvPr id="207" name="Google Shape;207;p7"/>
          <p:cNvSpPr/>
          <p:nvPr/>
        </p:nvSpPr>
        <p:spPr>
          <a:xfrm>
            <a:off x="381000" y="731218"/>
            <a:ext cx="1919502" cy="566833"/>
          </a:xfrm>
          <a:custGeom>
            <a:rect b="b" l="l" r="r" t="t"/>
            <a:pathLst>
              <a:path extrusionOk="0" h="419100" w="1419225">
                <a:moveTo>
                  <a:pt x="209550" y="0"/>
                </a:moveTo>
                <a:lnTo>
                  <a:pt x="1209675" y="0"/>
                </a:lnTo>
                <a:cubicBezTo>
                  <a:pt x="1325329" y="0"/>
                  <a:pt x="1419225" y="93896"/>
                  <a:pt x="1419225" y="209550"/>
                </a:cubicBezTo>
                <a:lnTo>
                  <a:pt x="1419225" y="209550"/>
                </a:lnTo>
                <a:cubicBezTo>
                  <a:pt x="1419225" y="325204"/>
                  <a:pt x="1325329" y="419100"/>
                  <a:pt x="1209675" y="419100"/>
                </a:cubicBezTo>
                <a:lnTo>
                  <a:pt x="209550" y="419100"/>
                </a:lnTo>
                <a:cubicBezTo>
                  <a:pt x="93896" y="419100"/>
                  <a:pt x="0" y="325204"/>
                  <a:pt x="0" y="209550"/>
                </a:cubicBezTo>
                <a:lnTo>
                  <a:pt x="0" y="209550"/>
                </a:lnTo>
                <a:cubicBezTo>
                  <a:pt x="0" y="93896"/>
                  <a:pt x="93896" y="0"/>
                  <a:pt x="209550" y="0"/>
                </a:cubicBezTo>
                <a:close/>
              </a:path>
            </a:pathLst>
          </a:custGeom>
          <a:solidFill>
            <a:srgbClr val="FFFFFF">
              <a:alpha val="20000"/>
            </a:srgbClr>
          </a:solidFill>
          <a:ln>
            <a:noFill/>
          </a:ln>
        </p:spPr>
        <p:txBody>
          <a:bodyPr anchorCtr="0" anchor="ctr" bIns="123825" lIns="123825" spcFirstLastPara="1" rIns="123825" wrap="square" tIns="123825">
            <a:noAutofit/>
          </a:bodyPr>
          <a:lstStyle/>
          <a:p>
            <a:pPr indent="0" lvl="0" marL="0" rtl="0" algn="l">
              <a:spcBef>
                <a:spcPts val="0"/>
              </a:spcBef>
              <a:spcAft>
                <a:spcPts val="0"/>
              </a:spcAft>
              <a:buNone/>
            </a:pPr>
            <a:r>
              <a:t/>
            </a:r>
            <a:endParaRPr/>
          </a:p>
        </p:txBody>
      </p:sp>
      <p:sp>
        <p:nvSpPr>
          <p:cNvPr id="208" name="Google Shape;208;p7"/>
          <p:cNvSpPr/>
          <p:nvPr/>
        </p:nvSpPr>
        <p:spPr>
          <a:xfrm>
            <a:off x="638989" y="834414"/>
            <a:ext cx="1522200" cy="3612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828">
                <a:solidFill>
                  <a:srgbClr val="FFFFFF"/>
                </a:solidFill>
                <a:latin typeface="EB Garamond"/>
                <a:ea typeface="EB Garamond"/>
                <a:cs typeface="EB Garamond"/>
                <a:sym typeface="EB Garamond"/>
              </a:rPr>
              <a:t>CHAPTER 02</a:t>
            </a:r>
            <a:endParaRPr sz="2166">
              <a:solidFill>
                <a:schemeClr val="dk1"/>
              </a:solidFill>
              <a:latin typeface="EB Garamond"/>
              <a:ea typeface="EB Garamond"/>
              <a:cs typeface="EB Garamond"/>
              <a:sym typeface="EB Garamond"/>
            </a:endParaRPr>
          </a:p>
        </p:txBody>
      </p:sp>
      <p:sp>
        <p:nvSpPr>
          <p:cNvPr id="209" name="Google Shape;209;p7"/>
          <p:cNvSpPr/>
          <p:nvPr/>
        </p:nvSpPr>
        <p:spPr>
          <a:xfrm>
            <a:off x="2862288" y="2059153"/>
            <a:ext cx="6467400" cy="1828800"/>
          </a:xfrm>
          <a:prstGeom prst="rect">
            <a:avLst/>
          </a:prstGeom>
          <a:noFill/>
          <a:ln>
            <a:noFill/>
          </a:ln>
        </p:spPr>
        <p:txBody>
          <a:bodyPr anchorCtr="0" anchor="ctr" bIns="0" lIns="0" spcFirstLastPara="1" rIns="0" wrap="square" tIns="0">
            <a:noAutofit/>
          </a:bodyPr>
          <a:lstStyle/>
          <a:p>
            <a:pPr indent="0" lvl="0" marL="0" rtl="0" algn="ctr">
              <a:lnSpc>
                <a:spcPct val="80000"/>
              </a:lnSpc>
              <a:spcBef>
                <a:spcPts val="0"/>
              </a:spcBef>
              <a:spcAft>
                <a:spcPts val="0"/>
              </a:spcAft>
              <a:buNone/>
            </a:pPr>
            <a:r>
              <a:t/>
            </a:r>
            <a:endParaRPr sz="1600">
              <a:solidFill>
                <a:schemeClr val="dk1"/>
              </a:solidFill>
              <a:latin typeface="EB Garamond"/>
              <a:ea typeface="EB Garamond"/>
              <a:cs typeface="EB Garamond"/>
              <a:sym typeface="EB Garamond"/>
            </a:endParaRPr>
          </a:p>
          <a:p>
            <a:pPr indent="0" lvl="0" marL="0" marR="0" rtl="0" algn="ctr">
              <a:lnSpc>
                <a:spcPct val="80000"/>
              </a:lnSpc>
              <a:spcBef>
                <a:spcPts val="0"/>
              </a:spcBef>
              <a:spcAft>
                <a:spcPts val="0"/>
              </a:spcAft>
              <a:buNone/>
            </a:pPr>
            <a:r>
              <a:rPr b="1" lang="en-US" sz="7200">
                <a:solidFill>
                  <a:srgbClr val="FFFFFF"/>
                </a:solidFill>
                <a:latin typeface="EB Garamond"/>
                <a:ea typeface="EB Garamond"/>
                <a:cs typeface="EB Garamond"/>
                <a:sym typeface="EB Garamond"/>
              </a:rPr>
              <a:t>Mục tiêu </a:t>
            </a:r>
            <a:endParaRPr b="1" sz="7200">
              <a:solidFill>
                <a:srgbClr val="FFFFFF"/>
              </a:solidFill>
              <a:latin typeface="EB Garamond"/>
              <a:ea typeface="EB Garamond"/>
              <a:cs typeface="EB Garamond"/>
              <a:sym typeface="EB Garamond"/>
            </a:endParaRPr>
          </a:p>
          <a:p>
            <a:pPr indent="0" lvl="0" marL="0" marR="0" rtl="0" algn="ctr">
              <a:lnSpc>
                <a:spcPct val="80000"/>
              </a:lnSpc>
              <a:spcBef>
                <a:spcPts val="0"/>
              </a:spcBef>
              <a:spcAft>
                <a:spcPts val="0"/>
              </a:spcAft>
              <a:buNone/>
            </a:pPr>
            <a:r>
              <a:rPr b="1" lang="en-US" sz="7200">
                <a:solidFill>
                  <a:srgbClr val="FFFFFF"/>
                </a:solidFill>
                <a:latin typeface="EB Garamond"/>
                <a:ea typeface="EB Garamond"/>
                <a:cs typeface="EB Garamond"/>
                <a:sym typeface="EB Garamond"/>
              </a:rPr>
              <a:t>&amp;</a:t>
            </a:r>
            <a:endParaRPr sz="1600">
              <a:solidFill>
                <a:schemeClr val="dk1"/>
              </a:solidFill>
              <a:latin typeface="EB Garamond"/>
              <a:ea typeface="EB Garamond"/>
              <a:cs typeface="EB Garamond"/>
              <a:sym typeface="EB Garamond"/>
            </a:endParaRPr>
          </a:p>
          <a:p>
            <a:pPr indent="0" lvl="0" marL="0" marR="0" rtl="0" algn="ctr">
              <a:lnSpc>
                <a:spcPct val="80000"/>
              </a:lnSpc>
              <a:spcBef>
                <a:spcPts val="0"/>
              </a:spcBef>
              <a:spcAft>
                <a:spcPts val="0"/>
              </a:spcAft>
              <a:buNone/>
            </a:pPr>
            <a:r>
              <a:rPr b="1" lang="en-US" sz="7200">
                <a:solidFill>
                  <a:srgbClr val="FFFFFF"/>
                </a:solidFill>
                <a:latin typeface="EB Garamond"/>
                <a:ea typeface="EB Garamond"/>
                <a:cs typeface="EB Garamond"/>
                <a:sym typeface="EB Garamond"/>
              </a:rPr>
              <a:t>Tầm nhìn</a:t>
            </a:r>
            <a:endParaRPr sz="1600">
              <a:solidFill>
                <a:schemeClr val="dk1"/>
              </a:solidFill>
              <a:latin typeface="EB Garamond"/>
              <a:ea typeface="EB Garamond"/>
              <a:cs typeface="EB Garamond"/>
              <a:sym typeface="EB Garamond"/>
            </a:endParaRPr>
          </a:p>
        </p:txBody>
      </p:sp>
      <p:sp>
        <p:nvSpPr>
          <p:cNvPr id="210" name="Google Shape;210;p7"/>
          <p:cNvSpPr/>
          <p:nvPr/>
        </p:nvSpPr>
        <p:spPr>
          <a:xfrm>
            <a:off x="5334000" y="4443153"/>
            <a:ext cx="1524000" cy="57150"/>
          </a:xfrm>
          <a:custGeom>
            <a:rect b="b" l="l" r="r" t="t"/>
            <a:pathLst>
              <a:path extrusionOk="0" h="57150" w="1524000">
                <a:moveTo>
                  <a:pt x="28575" y="0"/>
                </a:moveTo>
                <a:lnTo>
                  <a:pt x="1495425" y="0"/>
                </a:lnTo>
                <a:cubicBezTo>
                  <a:pt x="1511196" y="0"/>
                  <a:pt x="1524000" y="12804"/>
                  <a:pt x="1524000" y="28575"/>
                </a:cubicBezTo>
                <a:lnTo>
                  <a:pt x="1524000" y="28575"/>
                </a:lnTo>
                <a:cubicBezTo>
                  <a:pt x="1524000" y="44346"/>
                  <a:pt x="1511196" y="57150"/>
                  <a:pt x="1495425" y="57150"/>
                </a:cubicBezTo>
                <a:lnTo>
                  <a:pt x="28575" y="57150"/>
                </a:lnTo>
                <a:cubicBezTo>
                  <a:pt x="12804" y="57150"/>
                  <a:pt x="0" y="44346"/>
                  <a:pt x="0" y="28575"/>
                </a:cubicBezTo>
                <a:lnTo>
                  <a:pt x="0" y="28575"/>
                </a:lnTo>
                <a:cubicBezTo>
                  <a:pt x="0" y="12804"/>
                  <a:pt x="12804" y="0"/>
                  <a:pt x="285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7"/>
          <p:cNvSpPr/>
          <p:nvPr/>
        </p:nvSpPr>
        <p:spPr>
          <a:xfrm>
            <a:off x="381000" y="4844653"/>
            <a:ext cx="6153150" cy="46672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2250">
                <a:solidFill>
                  <a:srgbClr val="FFFFFF"/>
                </a:solidFill>
                <a:latin typeface="EB Garamond"/>
                <a:ea typeface="EB Garamond"/>
                <a:cs typeface="EB Garamond"/>
                <a:sym typeface="EB Garamond"/>
              </a:rPr>
              <a:t>Định hướng phát triển và giá trị cốt lõi của dự án</a:t>
            </a:r>
            <a:endParaRPr sz="1600">
              <a:solidFill>
                <a:schemeClr val="dk1"/>
              </a:solidFill>
              <a:latin typeface="EB Garamond"/>
              <a:ea typeface="EB Garamond"/>
              <a:cs typeface="EB Garamond"/>
              <a:sym typeface="EB Garamond"/>
            </a:endParaRPr>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16" name="Shape 216"/>
        <p:cNvGrpSpPr/>
        <p:nvPr/>
      </p:nvGrpSpPr>
      <p:grpSpPr>
        <a:xfrm>
          <a:off x="0" y="0"/>
          <a:ext cx="0" cy="0"/>
          <a:chOff x="0" y="0"/>
          <a:chExt cx="0" cy="0"/>
        </a:xfrm>
      </p:grpSpPr>
      <p:sp>
        <p:nvSpPr>
          <p:cNvPr id="217" name="Google Shape;217;p8"/>
          <p:cNvSpPr/>
          <p:nvPr/>
        </p:nvSpPr>
        <p:spPr>
          <a:xfrm>
            <a:off x="381000" y="381000"/>
            <a:ext cx="115062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295EDF"/>
                </a:solidFill>
                <a:latin typeface="EB Garamond"/>
                <a:ea typeface="EB Garamond"/>
                <a:cs typeface="EB Garamond"/>
                <a:sym typeface="EB Garamond"/>
              </a:rPr>
              <a:t>CHAPTER 02</a:t>
            </a:r>
            <a:endParaRPr sz="1600">
              <a:solidFill>
                <a:schemeClr val="dk1"/>
              </a:solidFill>
              <a:latin typeface="EB Garamond"/>
              <a:ea typeface="EB Garamond"/>
              <a:cs typeface="EB Garamond"/>
              <a:sym typeface="EB Garamond"/>
            </a:endParaRPr>
          </a:p>
        </p:txBody>
      </p:sp>
      <p:sp>
        <p:nvSpPr>
          <p:cNvPr id="218" name="Google Shape;218;p8"/>
          <p:cNvSpPr/>
          <p:nvPr/>
        </p:nvSpPr>
        <p:spPr>
          <a:xfrm>
            <a:off x="381000" y="685800"/>
            <a:ext cx="11715750" cy="5715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US" sz="4500">
                <a:solidFill>
                  <a:srgbClr val="0D1B4C"/>
                </a:solidFill>
                <a:latin typeface="EB Garamond"/>
                <a:ea typeface="EB Garamond"/>
                <a:cs typeface="EB Garamond"/>
                <a:sym typeface="EB Garamond"/>
              </a:rPr>
              <a:t>Mục đích dự án</a:t>
            </a:r>
            <a:endParaRPr sz="1600">
              <a:solidFill>
                <a:schemeClr val="dk1"/>
              </a:solidFill>
              <a:latin typeface="EB Garamond"/>
              <a:ea typeface="EB Garamond"/>
              <a:cs typeface="EB Garamond"/>
              <a:sym typeface="EB Garamond"/>
            </a:endParaRPr>
          </a:p>
        </p:txBody>
      </p:sp>
      <p:sp>
        <p:nvSpPr>
          <p:cNvPr id="219" name="Google Shape;219;p8"/>
          <p:cNvSpPr/>
          <p:nvPr/>
        </p:nvSpPr>
        <p:spPr>
          <a:xfrm>
            <a:off x="381000" y="1333500"/>
            <a:ext cx="115252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500">
                <a:solidFill>
                  <a:srgbClr val="1C2026"/>
                </a:solidFill>
                <a:latin typeface="EB Garamond"/>
                <a:ea typeface="EB Garamond"/>
                <a:cs typeface="EB Garamond"/>
                <a:sym typeface="EB Garamond"/>
              </a:rPr>
              <a:t>Xây dựng website trung tâm tích hợp với 3 mục tiêu chính</a:t>
            </a:r>
            <a:endParaRPr sz="1600">
              <a:solidFill>
                <a:schemeClr val="dk1"/>
              </a:solidFill>
              <a:latin typeface="EB Garamond"/>
              <a:ea typeface="EB Garamond"/>
              <a:cs typeface="EB Garamond"/>
              <a:sym typeface="EB Garamond"/>
            </a:endParaRPr>
          </a:p>
        </p:txBody>
      </p:sp>
      <p:sp>
        <p:nvSpPr>
          <p:cNvPr id="220" name="Google Shape;220;p8"/>
          <p:cNvSpPr/>
          <p:nvPr/>
        </p:nvSpPr>
        <p:spPr>
          <a:xfrm>
            <a:off x="381000" y="1905000"/>
            <a:ext cx="762000" cy="762000"/>
          </a:xfrm>
          <a:custGeom>
            <a:rect b="b" l="l" r="r" t="t"/>
            <a:pathLst>
              <a:path extrusionOk="0" h="762000" w="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21" name="Google Shape;221;p8"/>
          <p:cNvSpPr/>
          <p:nvPr/>
        </p:nvSpPr>
        <p:spPr>
          <a:xfrm>
            <a:off x="295275" y="1905000"/>
            <a:ext cx="933450" cy="76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2700">
                <a:solidFill>
                  <a:srgbClr val="FFFFFF"/>
                </a:solidFill>
                <a:latin typeface="EB Garamond"/>
                <a:ea typeface="EB Garamond"/>
                <a:cs typeface="EB Garamond"/>
                <a:sym typeface="EB Garamond"/>
              </a:rPr>
              <a:t>01</a:t>
            </a:r>
            <a:endParaRPr sz="1600">
              <a:solidFill>
                <a:schemeClr val="dk1"/>
              </a:solidFill>
              <a:latin typeface="EB Garamond"/>
              <a:ea typeface="EB Garamond"/>
              <a:cs typeface="EB Garamond"/>
              <a:sym typeface="EB Garamond"/>
            </a:endParaRPr>
          </a:p>
        </p:txBody>
      </p:sp>
      <p:sp>
        <p:nvSpPr>
          <p:cNvPr id="222" name="Google Shape;222;p8"/>
          <p:cNvSpPr/>
          <p:nvPr/>
        </p:nvSpPr>
        <p:spPr>
          <a:xfrm>
            <a:off x="1371600" y="1981200"/>
            <a:ext cx="1058227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2250">
                <a:solidFill>
                  <a:srgbClr val="0D1B4C"/>
                </a:solidFill>
                <a:latin typeface="EB Garamond"/>
                <a:ea typeface="EB Garamond"/>
                <a:cs typeface="EB Garamond"/>
                <a:sym typeface="EB Garamond"/>
              </a:rPr>
              <a:t>Cung cấp thông tin tập trung</a:t>
            </a:r>
            <a:endParaRPr sz="1600">
              <a:solidFill>
                <a:schemeClr val="dk1"/>
              </a:solidFill>
              <a:latin typeface="EB Garamond"/>
              <a:ea typeface="EB Garamond"/>
              <a:cs typeface="EB Garamond"/>
              <a:sym typeface="EB Garamond"/>
            </a:endParaRPr>
          </a:p>
        </p:txBody>
      </p:sp>
      <p:sp>
        <p:nvSpPr>
          <p:cNvPr id="223" name="Google Shape;223;p8"/>
          <p:cNvSpPr/>
          <p:nvPr/>
        </p:nvSpPr>
        <p:spPr>
          <a:xfrm>
            <a:off x="1371600" y="2438400"/>
            <a:ext cx="10525125" cy="27622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350">
                <a:solidFill>
                  <a:srgbClr val="1C2026"/>
                </a:solidFill>
                <a:latin typeface="EB Garamond"/>
                <a:ea typeface="EB Garamond"/>
                <a:cs typeface="EB Garamond"/>
                <a:sym typeface="EB Garamond"/>
              </a:rPr>
              <a:t>Tổng hợp sự kiện, học liệu và hoạt động ngoại khóa vào một nơi duy nhất, giúp sinh viên dễ dàng nắm bắt mọi hoạt động trong trường.</a:t>
            </a:r>
            <a:endParaRPr sz="1600">
              <a:solidFill>
                <a:schemeClr val="dk1"/>
              </a:solidFill>
              <a:latin typeface="EB Garamond"/>
              <a:ea typeface="EB Garamond"/>
              <a:cs typeface="EB Garamond"/>
              <a:sym typeface="EB Garamond"/>
            </a:endParaRPr>
          </a:p>
        </p:txBody>
      </p:sp>
      <p:sp>
        <p:nvSpPr>
          <p:cNvPr id="224" name="Google Shape;224;p8"/>
          <p:cNvSpPr/>
          <p:nvPr/>
        </p:nvSpPr>
        <p:spPr>
          <a:xfrm>
            <a:off x="1400175" y="2907506"/>
            <a:ext cx="133350" cy="152400"/>
          </a:xfrm>
          <a:custGeom>
            <a:rect b="b" l="l" r="r" t="t"/>
            <a:pathLst>
              <a:path extrusionOk="0" h="152400" w="13335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91797" y="68074"/>
                </a:moveTo>
                <a:cubicBezTo>
                  <a:pt x="93881" y="64740"/>
                  <a:pt x="92869" y="60335"/>
                  <a:pt x="89535" y="58222"/>
                </a:cubicBezTo>
                <a:cubicBezTo>
                  <a:pt x="86201" y="56108"/>
                  <a:pt x="81796" y="57150"/>
                  <a:pt x="79683" y="60484"/>
                </a:cubicBezTo>
                <a:lnTo>
                  <a:pt x="61406" y="89743"/>
                </a:lnTo>
                <a:lnTo>
                  <a:pt x="53370" y="79028"/>
                </a:lnTo>
                <a:cubicBezTo>
                  <a:pt x="50989" y="75873"/>
                  <a:pt x="46524" y="75218"/>
                  <a:pt x="43369" y="77599"/>
                </a:cubicBezTo>
                <a:cubicBezTo>
                  <a:pt x="40213" y="79980"/>
                  <a:pt x="39559" y="84445"/>
                  <a:pt x="41940" y="87600"/>
                </a:cubicBezTo>
                <a:lnTo>
                  <a:pt x="56227" y="106650"/>
                </a:lnTo>
                <a:cubicBezTo>
                  <a:pt x="57626" y="108525"/>
                  <a:pt x="59888" y="109597"/>
                  <a:pt x="62240" y="109508"/>
                </a:cubicBezTo>
                <a:cubicBezTo>
                  <a:pt x="64591" y="109418"/>
                  <a:pt x="66735" y="108168"/>
                  <a:pt x="67985" y="106144"/>
                </a:cubicBezTo>
                <a:lnTo>
                  <a:pt x="91797" y="68044"/>
                </a:ln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25" name="Google Shape;225;p8"/>
          <p:cNvSpPr/>
          <p:nvPr/>
        </p:nvSpPr>
        <p:spPr>
          <a:xfrm>
            <a:off x="1638300" y="2869406"/>
            <a:ext cx="14573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Sự kiện &amp; Workshop</a:t>
            </a:r>
            <a:endParaRPr sz="1600">
              <a:solidFill>
                <a:schemeClr val="dk1"/>
              </a:solidFill>
              <a:latin typeface="EB Garamond"/>
              <a:ea typeface="EB Garamond"/>
              <a:cs typeface="EB Garamond"/>
              <a:sym typeface="EB Garamond"/>
            </a:endParaRPr>
          </a:p>
        </p:txBody>
      </p:sp>
      <p:sp>
        <p:nvSpPr>
          <p:cNvPr id="226" name="Google Shape;226;p8"/>
          <p:cNvSpPr/>
          <p:nvPr/>
        </p:nvSpPr>
        <p:spPr>
          <a:xfrm>
            <a:off x="3165128" y="2907506"/>
            <a:ext cx="133350" cy="152400"/>
          </a:xfrm>
          <a:custGeom>
            <a:rect b="b" l="l" r="r" t="t"/>
            <a:pathLst>
              <a:path extrusionOk="0" h="152400" w="133350">
                <a:moveTo>
                  <a:pt x="114300" y="152400"/>
                </a:moveTo>
                <a:lnTo>
                  <a:pt x="28575" y="152400"/>
                </a:lnTo>
                <a:cubicBezTo>
                  <a:pt x="12799" y="152400"/>
                  <a:pt x="0" y="139601"/>
                  <a:pt x="0" y="123825"/>
                </a:cubicBezTo>
                <a:lnTo>
                  <a:pt x="0" y="28575"/>
                </a:lnTo>
                <a:cubicBezTo>
                  <a:pt x="0" y="12799"/>
                  <a:pt x="12799" y="0"/>
                  <a:pt x="28575" y="0"/>
                </a:cubicBezTo>
                <a:lnTo>
                  <a:pt x="119062" y="0"/>
                </a:lnTo>
                <a:cubicBezTo>
                  <a:pt x="126950" y="0"/>
                  <a:pt x="133350" y="6400"/>
                  <a:pt x="133350" y="14288"/>
                </a:cubicBezTo>
                <a:lnTo>
                  <a:pt x="133350" y="100013"/>
                </a:lnTo>
                <a:cubicBezTo>
                  <a:pt x="133350" y="106234"/>
                  <a:pt x="129361" y="111532"/>
                  <a:pt x="123825" y="113496"/>
                </a:cubicBezTo>
                <a:lnTo>
                  <a:pt x="123825" y="133350"/>
                </a:lnTo>
                <a:cubicBezTo>
                  <a:pt x="129094" y="133350"/>
                  <a:pt x="133350" y="137606"/>
                  <a:pt x="133350" y="142875"/>
                </a:cubicBezTo>
                <a:cubicBezTo>
                  <a:pt x="133350" y="148144"/>
                  <a:pt x="129094" y="152400"/>
                  <a:pt x="123825" y="152400"/>
                </a:cubicBezTo>
                <a:lnTo>
                  <a:pt x="114300" y="152400"/>
                </a:lnTo>
                <a:close/>
                <a:moveTo>
                  <a:pt x="28575" y="114300"/>
                </a:moveTo>
                <a:cubicBezTo>
                  <a:pt x="23306" y="114300"/>
                  <a:pt x="19050" y="118556"/>
                  <a:pt x="19050" y="123825"/>
                </a:cubicBezTo>
                <a:cubicBezTo>
                  <a:pt x="19050" y="129094"/>
                  <a:pt x="23306" y="133350"/>
                  <a:pt x="28575" y="133350"/>
                </a:cubicBezTo>
                <a:lnTo>
                  <a:pt x="104775" y="133350"/>
                </a:lnTo>
                <a:lnTo>
                  <a:pt x="104775" y="114300"/>
                </a:lnTo>
                <a:lnTo>
                  <a:pt x="28575" y="114300"/>
                </a:lnTo>
                <a:close/>
                <a:moveTo>
                  <a:pt x="38100" y="45244"/>
                </a:moveTo>
                <a:cubicBezTo>
                  <a:pt x="38100" y="49203"/>
                  <a:pt x="41285" y="52388"/>
                  <a:pt x="45244" y="52388"/>
                </a:cubicBezTo>
                <a:lnTo>
                  <a:pt x="97631" y="52388"/>
                </a:lnTo>
                <a:cubicBezTo>
                  <a:pt x="101590" y="52388"/>
                  <a:pt x="104775" y="49203"/>
                  <a:pt x="104775" y="45244"/>
                </a:cubicBezTo>
                <a:cubicBezTo>
                  <a:pt x="104775" y="41285"/>
                  <a:pt x="101590" y="38100"/>
                  <a:pt x="97631" y="38100"/>
                </a:cubicBezTo>
                <a:lnTo>
                  <a:pt x="45244" y="38100"/>
                </a:lnTo>
                <a:cubicBezTo>
                  <a:pt x="41285" y="38100"/>
                  <a:pt x="38100" y="41285"/>
                  <a:pt x="38100" y="45244"/>
                </a:cubicBezTo>
                <a:close/>
                <a:moveTo>
                  <a:pt x="45244" y="66675"/>
                </a:moveTo>
                <a:cubicBezTo>
                  <a:pt x="41285" y="66675"/>
                  <a:pt x="38100" y="69860"/>
                  <a:pt x="38100" y="73819"/>
                </a:cubicBezTo>
                <a:cubicBezTo>
                  <a:pt x="38100" y="77778"/>
                  <a:pt x="41285" y="80962"/>
                  <a:pt x="45244" y="80962"/>
                </a:cubicBezTo>
                <a:lnTo>
                  <a:pt x="97631" y="80962"/>
                </a:lnTo>
                <a:cubicBezTo>
                  <a:pt x="101590" y="80962"/>
                  <a:pt x="104775" y="77778"/>
                  <a:pt x="104775" y="73819"/>
                </a:cubicBezTo>
                <a:cubicBezTo>
                  <a:pt x="104775" y="69860"/>
                  <a:pt x="101590" y="66675"/>
                  <a:pt x="97631" y="66675"/>
                </a:cubicBezTo>
                <a:lnTo>
                  <a:pt x="45244" y="66675"/>
                </a:ln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27" name="Google Shape;227;p8"/>
          <p:cNvSpPr/>
          <p:nvPr/>
        </p:nvSpPr>
        <p:spPr>
          <a:xfrm>
            <a:off x="3403253" y="2869406"/>
            <a:ext cx="12573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Học liệu tổng hợp</a:t>
            </a:r>
            <a:endParaRPr sz="1600">
              <a:solidFill>
                <a:schemeClr val="dk1"/>
              </a:solidFill>
              <a:latin typeface="EB Garamond"/>
              <a:ea typeface="EB Garamond"/>
              <a:cs typeface="EB Garamond"/>
              <a:sym typeface="EB Garamond"/>
            </a:endParaRPr>
          </a:p>
        </p:txBody>
      </p:sp>
      <p:sp>
        <p:nvSpPr>
          <p:cNvPr id="228" name="Google Shape;228;p8"/>
          <p:cNvSpPr/>
          <p:nvPr/>
        </p:nvSpPr>
        <p:spPr>
          <a:xfrm>
            <a:off x="4702820" y="2907506"/>
            <a:ext cx="190500" cy="152400"/>
          </a:xfrm>
          <a:custGeom>
            <a:rect b="b" l="l" r="r" t="t"/>
            <a:pathLst>
              <a:path extrusionOk="0" h="152400" w="190500">
                <a:moveTo>
                  <a:pt x="95250" y="4763"/>
                </a:moveTo>
                <a:cubicBezTo>
                  <a:pt x="112335" y="4763"/>
                  <a:pt x="126206" y="18634"/>
                  <a:pt x="126206" y="35719"/>
                </a:cubicBezTo>
                <a:cubicBezTo>
                  <a:pt x="126206" y="52804"/>
                  <a:pt x="112335" y="66675"/>
                  <a:pt x="95250" y="66675"/>
                </a:cubicBezTo>
                <a:cubicBezTo>
                  <a:pt x="78165" y="66675"/>
                  <a:pt x="64294" y="52804"/>
                  <a:pt x="64294" y="35719"/>
                </a:cubicBezTo>
                <a:cubicBezTo>
                  <a:pt x="64294" y="18634"/>
                  <a:pt x="78165" y="4763"/>
                  <a:pt x="95250" y="4763"/>
                </a:cubicBezTo>
                <a:close/>
                <a:moveTo>
                  <a:pt x="28575" y="26194"/>
                </a:moveTo>
                <a:cubicBezTo>
                  <a:pt x="40403" y="26194"/>
                  <a:pt x="50006" y="35797"/>
                  <a:pt x="50006" y="47625"/>
                </a:cubicBezTo>
                <a:cubicBezTo>
                  <a:pt x="50006" y="59453"/>
                  <a:pt x="40403" y="69056"/>
                  <a:pt x="28575" y="69056"/>
                </a:cubicBezTo>
                <a:cubicBezTo>
                  <a:pt x="16747" y="69056"/>
                  <a:pt x="7144" y="59453"/>
                  <a:pt x="7144" y="47625"/>
                </a:cubicBezTo>
                <a:cubicBezTo>
                  <a:pt x="7144" y="35797"/>
                  <a:pt x="16747" y="26194"/>
                  <a:pt x="28575" y="26194"/>
                </a:cubicBezTo>
                <a:close/>
                <a:moveTo>
                  <a:pt x="0" y="123825"/>
                </a:moveTo>
                <a:cubicBezTo>
                  <a:pt x="0" y="102781"/>
                  <a:pt x="17056" y="85725"/>
                  <a:pt x="38100" y="85725"/>
                </a:cubicBezTo>
                <a:cubicBezTo>
                  <a:pt x="41910" y="85725"/>
                  <a:pt x="45601" y="86291"/>
                  <a:pt x="49084" y="87332"/>
                </a:cubicBezTo>
                <a:cubicBezTo>
                  <a:pt x="39291" y="98286"/>
                  <a:pt x="33338" y="112752"/>
                  <a:pt x="33338" y="128588"/>
                </a:cubicBezTo>
                <a:lnTo>
                  <a:pt x="33338" y="133350"/>
                </a:lnTo>
                <a:cubicBezTo>
                  <a:pt x="33338" y="136743"/>
                  <a:pt x="34052" y="139958"/>
                  <a:pt x="35332" y="142875"/>
                </a:cubicBezTo>
                <a:lnTo>
                  <a:pt x="9525" y="142875"/>
                </a:lnTo>
                <a:cubicBezTo>
                  <a:pt x="4256" y="142875"/>
                  <a:pt x="0" y="138619"/>
                  <a:pt x="0" y="133350"/>
                </a:cubicBezTo>
                <a:lnTo>
                  <a:pt x="0" y="123825"/>
                </a:lnTo>
                <a:close/>
                <a:moveTo>
                  <a:pt x="155168" y="142875"/>
                </a:moveTo>
                <a:cubicBezTo>
                  <a:pt x="156448" y="139958"/>
                  <a:pt x="157163" y="136743"/>
                  <a:pt x="157163" y="133350"/>
                </a:cubicBezTo>
                <a:lnTo>
                  <a:pt x="157163" y="128588"/>
                </a:lnTo>
                <a:cubicBezTo>
                  <a:pt x="157163" y="112752"/>
                  <a:pt x="151209" y="98286"/>
                  <a:pt x="141416" y="87332"/>
                </a:cubicBezTo>
                <a:cubicBezTo>
                  <a:pt x="144899" y="86291"/>
                  <a:pt x="148590" y="85725"/>
                  <a:pt x="152400" y="85725"/>
                </a:cubicBezTo>
                <a:cubicBezTo>
                  <a:pt x="173444" y="85725"/>
                  <a:pt x="190500" y="102781"/>
                  <a:pt x="190500" y="123825"/>
                </a:cubicBezTo>
                <a:lnTo>
                  <a:pt x="190500" y="133350"/>
                </a:lnTo>
                <a:cubicBezTo>
                  <a:pt x="190500" y="138619"/>
                  <a:pt x="186244" y="142875"/>
                  <a:pt x="180975" y="142875"/>
                </a:cubicBezTo>
                <a:lnTo>
                  <a:pt x="155168" y="142875"/>
                </a:lnTo>
                <a:close/>
                <a:moveTo>
                  <a:pt x="140494" y="47625"/>
                </a:moveTo>
                <a:cubicBezTo>
                  <a:pt x="140494" y="35797"/>
                  <a:pt x="150097" y="26194"/>
                  <a:pt x="161925" y="26194"/>
                </a:cubicBezTo>
                <a:cubicBezTo>
                  <a:pt x="173753" y="26194"/>
                  <a:pt x="183356" y="35797"/>
                  <a:pt x="183356" y="47625"/>
                </a:cubicBezTo>
                <a:cubicBezTo>
                  <a:pt x="183356" y="59453"/>
                  <a:pt x="173753" y="69056"/>
                  <a:pt x="161925" y="69056"/>
                </a:cubicBezTo>
                <a:cubicBezTo>
                  <a:pt x="150097" y="69056"/>
                  <a:pt x="140494" y="59453"/>
                  <a:pt x="140494" y="47625"/>
                </a:cubicBezTo>
                <a:close/>
                <a:moveTo>
                  <a:pt x="47625" y="128588"/>
                </a:moveTo>
                <a:cubicBezTo>
                  <a:pt x="47625" y="102275"/>
                  <a:pt x="68937" y="80962"/>
                  <a:pt x="95250" y="80962"/>
                </a:cubicBezTo>
                <a:cubicBezTo>
                  <a:pt x="121563" y="80962"/>
                  <a:pt x="142875" y="102275"/>
                  <a:pt x="142875" y="128588"/>
                </a:cubicBezTo>
                <a:lnTo>
                  <a:pt x="142875" y="133350"/>
                </a:lnTo>
                <a:cubicBezTo>
                  <a:pt x="142875" y="138619"/>
                  <a:pt x="138619" y="142875"/>
                  <a:pt x="133350" y="142875"/>
                </a:cubicBezTo>
                <a:lnTo>
                  <a:pt x="57150" y="142875"/>
                </a:lnTo>
                <a:cubicBezTo>
                  <a:pt x="51881" y="142875"/>
                  <a:pt x="47625" y="138619"/>
                  <a:pt x="47625" y="133350"/>
                </a:cubicBezTo>
                <a:lnTo>
                  <a:pt x="47625" y="128588"/>
                </a:ln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29" name="Google Shape;229;p8"/>
          <p:cNvSpPr/>
          <p:nvPr/>
        </p:nvSpPr>
        <p:spPr>
          <a:xfrm>
            <a:off x="4969520" y="2869406"/>
            <a:ext cx="15240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Hoạt động ngoại khóa</a:t>
            </a:r>
            <a:endParaRPr sz="1600">
              <a:solidFill>
                <a:schemeClr val="dk1"/>
              </a:solidFill>
              <a:latin typeface="EB Garamond"/>
              <a:ea typeface="EB Garamond"/>
              <a:cs typeface="EB Garamond"/>
              <a:sym typeface="EB Garamond"/>
            </a:endParaRPr>
          </a:p>
        </p:txBody>
      </p:sp>
      <p:sp>
        <p:nvSpPr>
          <p:cNvPr id="230" name="Google Shape;230;p8"/>
          <p:cNvSpPr/>
          <p:nvPr/>
        </p:nvSpPr>
        <p:spPr>
          <a:xfrm>
            <a:off x="381000" y="3099197"/>
            <a:ext cx="762000" cy="762000"/>
          </a:xfrm>
          <a:custGeom>
            <a:rect b="b" l="l" r="r" t="t"/>
            <a:pathLst>
              <a:path extrusionOk="0" h="762000" w="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31" name="Google Shape;231;p8"/>
          <p:cNvSpPr/>
          <p:nvPr/>
        </p:nvSpPr>
        <p:spPr>
          <a:xfrm>
            <a:off x="295275" y="3099197"/>
            <a:ext cx="933450" cy="76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2700">
                <a:solidFill>
                  <a:srgbClr val="FFFFFF"/>
                </a:solidFill>
                <a:latin typeface="EB Garamond"/>
                <a:ea typeface="EB Garamond"/>
                <a:cs typeface="EB Garamond"/>
                <a:sym typeface="EB Garamond"/>
              </a:rPr>
              <a:t>02</a:t>
            </a:r>
            <a:endParaRPr sz="1600">
              <a:solidFill>
                <a:schemeClr val="dk1"/>
              </a:solidFill>
              <a:latin typeface="EB Garamond"/>
              <a:ea typeface="EB Garamond"/>
              <a:cs typeface="EB Garamond"/>
              <a:sym typeface="EB Garamond"/>
            </a:endParaRPr>
          </a:p>
        </p:txBody>
      </p:sp>
      <p:sp>
        <p:nvSpPr>
          <p:cNvPr id="232" name="Google Shape;232;p8"/>
          <p:cNvSpPr/>
          <p:nvPr/>
        </p:nvSpPr>
        <p:spPr>
          <a:xfrm>
            <a:off x="1371600" y="3175397"/>
            <a:ext cx="1058227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2250">
                <a:solidFill>
                  <a:srgbClr val="0D1B4C"/>
                </a:solidFill>
                <a:latin typeface="EB Garamond"/>
                <a:ea typeface="EB Garamond"/>
                <a:cs typeface="EB Garamond"/>
                <a:sym typeface="EB Garamond"/>
              </a:rPr>
              <a:t>Hướng dẫn thủ tục chi tiết</a:t>
            </a:r>
            <a:endParaRPr sz="1600">
              <a:solidFill>
                <a:schemeClr val="dk1"/>
              </a:solidFill>
              <a:latin typeface="EB Garamond"/>
              <a:ea typeface="EB Garamond"/>
              <a:cs typeface="EB Garamond"/>
              <a:sym typeface="EB Garamond"/>
            </a:endParaRPr>
          </a:p>
        </p:txBody>
      </p:sp>
      <p:sp>
        <p:nvSpPr>
          <p:cNvPr id="233" name="Google Shape;233;p8"/>
          <p:cNvSpPr/>
          <p:nvPr/>
        </p:nvSpPr>
        <p:spPr>
          <a:xfrm>
            <a:off x="1371600" y="3632597"/>
            <a:ext cx="10525125" cy="27622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350">
                <a:solidFill>
                  <a:srgbClr val="1C2026"/>
                </a:solidFill>
                <a:latin typeface="EB Garamond"/>
                <a:ea typeface="EB Garamond"/>
                <a:cs typeface="EB Garamond"/>
                <a:sym typeface="EB Garamond"/>
              </a:rPr>
              <a:t>Cung cấp hướng dẫn từng bước rõ ràng cho các quy trình hành chính và học tập, giảm thiểu thờigian và sự nhầm lẫn.</a:t>
            </a:r>
            <a:endParaRPr sz="1600">
              <a:solidFill>
                <a:schemeClr val="dk1"/>
              </a:solidFill>
              <a:latin typeface="EB Garamond"/>
              <a:ea typeface="EB Garamond"/>
              <a:cs typeface="EB Garamond"/>
              <a:sym typeface="EB Garamond"/>
            </a:endParaRPr>
          </a:p>
        </p:txBody>
      </p:sp>
      <p:sp>
        <p:nvSpPr>
          <p:cNvPr id="234" name="Google Shape;234;p8"/>
          <p:cNvSpPr/>
          <p:nvPr/>
        </p:nvSpPr>
        <p:spPr>
          <a:xfrm>
            <a:off x="1390650" y="4101703"/>
            <a:ext cx="152400" cy="152400"/>
          </a:xfrm>
          <a:custGeom>
            <a:rect b="b" l="l" r="r" t="t"/>
            <a:pathLst>
              <a:path extrusionOk="0" h="152400" w="152400">
                <a:moveTo>
                  <a:pt x="0" y="21431"/>
                </a:moveTo>
                <a:cubicBezTo>
                  <a:pt x="0" y="17502"/>
                  <a:pt x="3185" y="14288"/>
                  <a:pt x="7144" y="14288"/>
                </a:cubicBezTo>
                <a:lnTo>
                  <a:pt x="21431" y="14288"/>
                </a:lnTo>
                <a:cubicBezTo>
                  <a:pt x="25390" y="14288"/>
                  <a:pt x="28575" y="17472"/>
                  <a:pt x="28575" y="21431"/>
                </a:cubicBezTo>
                <a:lnTo>
                  <a:pt x="28575" y="52388"/>
                </a:lnTo>
                <a:lnTo>
                  <a:pt x="35719" y="52388"/>
                </a:lnTo>
                <a:cubicBezTo>
                  <a:pt x="39678" y="52388"/>
                  <a:pt x="42863" y="55572"/>
                  <a:pt x="42863" y="59531"/>
                </a:cubicBezTo>
                <a:cubicBezTo>
                  <a:pt x="42863" y="63490"/>
                  <a:pt x="39678" y="66675"/>
                  <a:pt x="35719" y="66675"/>
                </a:cubicBezTo>
                <a:lnTo>
                  <a:pt x="7144" y="66675"/>
                </a:lnTo>
                <a:cubicBezTo>
                  <a:pt x="3185" y="66675"/>
                  <a:pt x="0" y="63490"/>
                  <a:pt x="0" y="59531"/>
                </a:cubicBezTo>
                <a:cubicBezTo>
                  <a:pt x="0" y="55572"/>
                  <a:pt x="3185" y="52388"/>
                  <a:pt x="7144" y="52388"/>
                </a:cubicBezTo>
                <a:lnTo>
                  <a:pt x="14288" y="52388"/>
                </a:lnTo>
                <a:lnTo>
                  <a:pt x="14288" y="28575"/>
                </a:lnTo>
                <a:lnTo>
                  <a:pt x="7144" y="28575"/>
                </a:lnTo>
                <a:cubicBezTo>
                  <a:pt x="3185" y="28575"/>
                  <a:pt x="0" y="25390"/>
                  <a:pt x="0" y="21431"/>
                </a:cubicBezTo>
                <a:close/>
                <a:moveTo>
                  <a:pt x="9049" y="89654"/>
                </a:moveTo>
                <a:cubicBezTo>
                  <a:pt x="12442" y="87094"/>
                  <a:pt x="16579" y="85725"/>
                  <a:pt x="20836" y="85725"/>
                </a:cubicBezTo>
                <a:lnTo>
                  <a:pt x="22294" y="85725"/>
                </a:lnTo>
                <a:cubicBezTo>
                  <a:pt x="32325" y="85725"/>
                  <a:pt x="40481" y="93881"/>
                  <a:pt x="40481" y="103912"/>
                </a:cubicBezTo>
                <a:cubicBezTo>
                  <a:pt x="40481" y="109746"/>
                  <a:pt x="37683" y="115193"/>
                  <a:pt x="32980" y="118616"/>
                </a:cubicBezTo>
                <a:lnTo>
                  <a:pt x="25837" y="123825"/>
                </a:lnTo>
                <a:lnTo>
                  <a:pt x="35719" y="123825"/>
                </a:lnTo>
                <a:cubicBezTo>
                  <a:pt x="39678" y="123825"/>
                  <a:pt x="42863" y="127010"/>
                  <a:pt x="42863" y="130969"/>
                </a:cubicBezTo>
                <a:cubicBezTo>
                  <a:pt x="42863" y="134928"/>
                  <a:pt x="39678" y="138113"/>
                  <a:pt x="35719" y="138113"/>
                </a:cubicBezTo>
                <a:lnTo>
                  <a:pt x="8721" y="138113"/>
                </a:lnTo>
                <a:cubicBezTo>
                  <a:pt x="3899" y="138113"/>
                  <a:pt x="0" y="134213"/>
                  <a:pt x="0" y="129391"/>
                </a:cubicBezTo>
                <a:cubicBezTo>
                  <a:pt x="0" y="126593"/>
                  <a:pt x="1339" y="123974"/>
                  <a:pt x="3602" y="122337"/>
                </a:cubicBezTo>
                <a:lnTo>
                  <a:pt x="24586" y="107067"/>
                </a:lnTo>
                <a:cubicBezTo>
                  <a:pt x="25598" y="106323"/>
                  <a:pt x="26194" y="105162"/>
                  <a:pt x="26194" y="103912"/>
                </a:cubicBezTo>
                <a:cubicBezTo>
                  <a:pt x="26194" y="101769"/>
                  <a:pt x="24438" y="100012"/>
                  <a:pt x="22294" y="100012"/>
                </a:cubicBezTo>
                <a:lnTo>
                  <a:pt x="20836" y="100013"/>
                </a:lnTo>
                <a:cubicBezTo>
                  <a:pt x="19675" y="100013"/>
                  <a:pt x="18544" y="100399"/>
                  <a:pt x="17621" y="101084"/>
                </a:cubicBezTo>
                <a:lnTo>
                  <a:pt x="11430" y="105728"/>
                </a:lnTo>
                <a:cubicBezTo>
                  <a:pt x="8275" y="108109"/>
                  <a:pt x="3810" y="107454"/>
                  <a:pt x="1429" y="104299"/>
                </a:cubicBezTo>
                <a:cubicBezTo>
                  <a:pt x="-953" y="101144"/>
                  <a:pt x="-298" y="96679"/>
                  <a:pt x="2858" y="94298"/>
                </a:cubicBezTo>
                <a:lnTo>
                  <a:pt x="9049" y="89654"/>
                </a:lnTo>
                <a:close/>
                <a:moveTo>
                  <a:pt x="66675" y="19050"/>
                </a:moveTo>
                <a:lnTo>
                  <a:pt x="142875" y="19050"/>
                </a:lnTo>
                <a:cubicBezTo>
                  <a:pt x="148144" y="19050"/>
                  <a:pt x="152400" y="23306"/>
                  <a:pt x="152400" y="28575"/>
                </a:cubicBezTo>
                <a:cubicBezTo>
                  <a:pt x="152400" y="33844"/>
                  <a:pt x="148144" y="38100"/>
                  <a:pt x="142875" y="38100"/>
                </a:cubicBezTo>
                <a:lnTo>
                  <a:pt x="66675" y="38100"/>
                </a:lnTo>
                <a:cubicBezTo>
                  <a:pt x="61406" y="38100"/>
                  <a:pt x="57150" y="33844"/>
                  <a:pt x="57150" y="28575"/>
                </a:cubicBezTo>
                <a:cubicBezTo>
                  <a:pt x="57150" y="23306"/>
                  <a:pt x="61406" y="19050"/>
                  <a:pt x="66675" y="19050"/>
                </a:cubicBezTo>
                <a:close/>
                <a:moveTo>
                  <a:pt x="66675" y="66675"/>
                </a:moveTo>
                <a:lnTo>
                  <a:pt x="142875" y="66675"/>
                </a:lnTo>
                <a:cubicBezTo>
                  <a:pt x="148144" y="66675"/>
                  <a:pt x="152400" y="70931"/>
                  <a:pt x="152400" y="76200"/>
                </a:cubicBezTo>
                <a:cubicBezTo>
                  <a:pt x="152400" y="81469"/>
                  <a:pt x="148144" y="85725"/>
                  <a:pt x="142875" y="85725"/>
                </a:cubicBezTo>
                <a:lnTo>
                  <a:pt x="66675" y="85725"/>
                </a:lnTo>
                <a:cubicBezTo>
                  <a:pt x="61406" y="85725"/>
                  <a:pt x="57150" y="81469"/>
                  <a:pt x="57150" y="76200"/>
                </a:cubicBezTo>
                <a:cubicBezTo>
                  <a:pt x="57150" y="70931"/>
                  <a:pt x="61406" y="66675"/>
                  <a:pt x="66675" y="66675"/>
                </a:cubicBezTo>
                <a:close/>
                <a:moveTo>
                  <a:pt x="66675" y="114300"/>
                </a:moveTo>
                <a:lnTo>
                  <a:pt x="142875" y="114300"/>
                </a:lnTo>
                <a:cubicBezTo>
                  <a:pt x="148144" y="114300"/>
                  <a:pt x="152400" y="118556"/>
                  <a:pt x="152400" y="123825"/>
                </a:cubicBezTo>
                <a:cubicBezTo>
                  <a:pt x="152400" y="129094"/>
                  <a:pt x="148144" y="133350"/>
                  <a:pt x="142875" y="133350"/>
                </a:cubicBezTo>
                <a:lnTo>
                  <a:pt x="66675" y="133350"/>
                </a:lnTo>
                <a:cubicBezTo>
                  <a:pt x="61406" y="133350"/>
                  <a:pt x="57150" y="129094"/>
                  <a:pt x="57150" y="123825"/>
                </a:cubicBezTo>
                <a:cubicBezTo>
                  <a:pt x="57150" y="118556"/>
                  <a:pt x="61406" y="114300"/>
                  <a:pt x="66675" y="11430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35" name="Google Shape;235;p8"/>
          <p:cNvSpPr/>
          <p:nvPr/>
        </p:nvSpPr>
        <p:spPr>
          <a:xfrm>
            <a:off x="1638300" y="4063603"/>
            <a:ext cx="13716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Step-by-step guide</a:t>
            </a:r>
            <a:endParaRPr sz="1600">
              <a:solidFill>
                <a:schemeClr val="dk1"/>
              </a:solidFill>
              <a:latin typeface="EB Garamond"/>
              <a:ea typeface="EB Garamond"/>
              <a:cs typeface="EB Garamond"/>
              <a:sym typeface="EB Garamond"/>
            </a:endParaRPr>
          </a:p>
        </p:txBody>
      </p:sp>
      <p:sp>
        <p:nvSpPr>
          <p:cNvPr id="236" name="Google Shape;236;p8"/>
          <p:cNvSpPr/>
          <p:nvPr/>
        </p:nvSpPr>
        <p:spPr>
          <a:xfrm>
            <a:off x="3083570" y="4101703"/>
            <a:ext cx="114300" cy="152400"/>
          </a:xfrm>
          <a:custGeom>
            <a:rect b="b" l="l" r="r" t="t"/>
            <a:pathLst>
              <a:path extrusionOk="0" h="152400" w="114300">
                <a:moveTo>
                  <a:pt x="92690" y="9525"/>
                </a:moveTo>
                <a:lnTo>
                  <a:pt x="95250" y="9525"/>
                </a:lnTo>
                <a:cubicBezTo>
                  <a:pt x="105757" y="9525"/>
                  <a:pt x="114300" y="18068"/>
                  <a:pt x="114300" y="28575"/>
                </a:cubicBezTo>
                <a:lnTo>
                  <a:pt x="114300" y="133350"/>
                </a:lnTo>
                <a:cubicBezTo>
                  <a:pt x="114300" y="143857"/>
                  <a:pt x="105757" y="152400"/>
                  <a:pt x="95250" y="152400"/>
                </a:cubicBezTo>
                <a:lnTo>
                  <a:pt x="19050" y="152400"/>
                </a:lnTo>
                <a:cubicBezTo>
                  <a:pt x="8543" y="152400"/>
                  <a:pt x="0" y="143857"/>
                  <a:pt x="0" y="133350"/>
                </a:cubicBezTo>
                <a:lnTo>
                  <a:pt x="0" y="28575"/>
                </a:lnTo>
                <a:cubicBezTo>
                  <a:pt x="0" y="18068"/>
                  <a:pt x="8543" y="9525"/>
                  <a:pt x="19050" y="9525"/>
                </a:cubicBezTo>
                <a:lnTo>
                  <a:pt x="21610" y="9525"/>
                </a:lnTo>
                <a:cubicBezTo>
                  <a:pt x="24884" y="3840"/>
                  <a:pt x="31046" y="0"/>
                  <a:pt x="38100" y="0"/>
                </a:cubicBezTo>
                <a:lnTo>
                  <a:pt x="76200" y="0"/>
                </a:lnTo>
                <a:cubicBezTo>
                  <a:pt x="83254" y="0"/>
                  <a:pt x="89416" y="3840"/>
                  <a:pt x="92690" y="9525"/>
                </a:cubicBezTo>
                <a:close/>
                <a:moveTo>
                  <a:pt x="73819" y="33338"/>
                </a:moveTo>
                <a:cubicBezTo>
                  <a:pt x="77778" y="33338"/>
                  <a:pt x="80962" y="30153"/>
                  <a:pt x="80962" y="26194"/>
                </a:cubicBezTo>
                <a:cubicBezTo>
                  <a:pt x="80962" y="22235"/>
                  <a:pt x="77778" y="19050"/>
                  <a:pt x="73819" y="19050"/>
                </a:cubicBezTo>
                <a:lnTo>
                  <a:pt x="40481" y="19050"/>
                </a:lnTo>
                <a:cubicBezTo>
                  <a:pt x="36522" y="19050"/>
                  <a:pt x="33338" y="22235"/>
                  <a:pt x="33338" y="26194"/>
                </a:cubicBezTo>
                <a:cubicBezTo>
                  <a:pt x="33338" y="30153"/>
                  <a:pt x="36522" y="33338"/>
                  <a:pt x="40481" y="33338"/>
                </a:cubicBezTo>
                <a:lnTo>
                  <a:pt x="73819" y="33338"/>
                </a:lnTo>
                <a:close/>
                <a:moveTo>
                  <a:pt x="82272" y="77599"/>
                </a:moveTo>
                <a:cubicBezTo>
                  <a:pt x="84356" y="74265"/>
                  <a:pt x="83344" y="69860"/>
                  <a:pt x="80010" y="67747"/>
                </a:cubicBezTo>
                <a:cubicBezTo>
                  <a:pt x="76676" y="65633"/>
                  <a:pt x="72271" y="66675"/>
                  <a:pt x="70158" y="70009"/>
                </a:cubicBezTo>
                <a:lnTo>
                  <a:pt x="51881" y="99268"/>
                </a:lnTo>
                <a:lnTo>
                  <a:pt x="43845" y="88553"/>
                </a:lnTo>
                <a:cubicBezTo>
                  <a:pt x="41464" y="85398"/>
                  <a:pt x="36999" y="84743"/>
                  <a:pt x="33844" y="87124"/>
                </a:cubicBezTo>
                <a:cubicBezTo>
                  <a:pt x="30688" y="89505"/>
                  <a:pt x="30034" y="93970"/>
                  <a:pt x="32415" y="97125"/>
                </a:cubicBezTo>
                <a:lnTo>
                  <a:pt x="46702" y="116175"/>
                </a:lnTo>
                <a:cubicBezTo>
                  <a:pt x="48101" y="118050"/>
                  <a:pt x="50363" y="119122"/>
                  <a:pt x="52715" y="119033"/>
                </a:cubicBezTo>
                <a:cubicBezTo>
                  <a:pt x="55066" y="118943"/>
                  <a:pt x="57210" y="117693"/>
                  <a:pt x="58460" y="115669"/>
                </a:cubicBezTo>
                <a:lnTo>
                  <a:pt x="82272" y="77569"/>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37" name="Google Shape;237;p8"/>
          <p:cNvSpPr/>
          <p:nvPr/>
        </p:nvSpPr>
        <p:spPr>
          <a:xfrm>
            <a:off x="3312170" y="4063603"/>
            <a:ext cx="12287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Checklist tự động</a:t>
            </a:r>
            <a:endParaRPr sz="1600">
              <a:solidFill>
                <a:schemeClr val="dk1"/>
              </a:solidFill>
              <a:latin typeface="EB Garamond"/>
              <a:ea typeface="EB Garamond"/>
              <a:cs typeface="EB Garamond"/>
              <a:sym typeface="EB Garamond"/>
            </a:endParaRPr>
          </a:p>
        </p:txBody>
      </p:sp>
      <p:sp>
        <p:nvSpPr>
          <p:cNvPr id="238" name="Google Shape;238;p8"/>
          <p:cNvSpPr/>
          <p:nvPr/>
        </p:nvSpPr>
        <p:spPr>
          <a:xfrm>
            <a:off x="4598045" y="4101703"/>
            <a:ext cx="152400" cy="152400"/>
          </a:xfrm>
          <a:custGeom>
            <a:rect b="b" l="l" r="r" t="t"/>
            <a:pathLst>
              <a:path extrusionOk="0" h="152400" w="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76200" y="52388"/>
                </a:moveTo>
                <a:cubicBezTo>
                  <a:pt x="70931" y="52388"/>
                  <a:pt x="66675" y="56644"/>
                  <a:pt x="66675" y="61912"/>
                </a:cubicBezTo>
                <a:cubicBezTo>
                  <a:pt x="66675" y="65871"/>
                  <a:pt x="63490" y="69056"/>
                  <a:pt x="59531" y="69056"/>
                </a:cubicBezTo>
                <a:cubicBezTo>
                  <a:pt x="55572" y="69056"/>
                  <a:pt x="52388" y="65871"/>
                  <a:pt x="52388" y="61912"/>
                </a:cubicBezTo>
                <a:cubicBezTo>
                  <a:pt x="52388" y="48756"/>
                  <a:pt x="63044" y="38100"/>
                  <a:pt x="76200" y="38100"/>
                </a:cubicBezTo>
                <a:cubicBezTo>
                  <a:pt x="89356" y="38100"/>
                  <a:pt x="100013" y="48756"/>
                  <a:pt x="100013" y="61912"/>
                </a:cubicBezTo>
                <a:cubicBezTo>
                  <a:pt x="100013" y="75962"/>
                  <a:pt x="89297" y="81915"/>
                  <a:pt x="83344" y="84088"/>
                </a:cubicBezTo>
                <a:lnTo>
                  <a:pt x="83344" y="85219"/>
                </a:lnTo>
                <a:cubicBezTo>
                  <a:pt x="83344" y="89178"/>
                  <a:pt x="80159" y="92363"/>
                  <a:pt x="76200" y="92363"/>
                </a:cubicBezTo>
                <a:cubicBezTo>
                  <a:pt x="72241" y="92363"/>
                  <a:pt x="69056" y="89178"/>
                  <a:pt x="69056" y="85219"/>
                </a:cubicBezTo>
                <a:lnTo>
                  <a:pt x="69056" y="82808"/>
                </a:lnTo>
                <a:cubicBezTo>
                  <a:pt x="69056" y="76706"/>
                  <a:pt x="73462" y="72330"/>
                  <a:pt x="78016" y="70842"/>
                </a:cubicBezTo>
                <a:cubicBezTo>
                  <a:pt x="79921" y="70217"/>
                  <a:pt x="81945" y="69205"/>
                  <a:pt x="83433" y="67776"/>
                </a:cubicBezTo>
                <a:cubicBezTo>
                  <a:pt x="84713" y="66526"/>
                  <a:pt x="85725" y="64800"/>
                  <a:pt x="85725" y="61942"/>
                </a:cubicBezTo>
                <a:cubicBezTo>
                  <a:pt x="85725" y="56674"/>
                  <a:pt x="81469" y="52417"/>
                  <a:pt x="76200" y="52417"/>
                </a:cubicBezTo>
                <a:close/>
                <a:moveTo>
                  <a:pt x="66675" y="109537"/>
                </a:moveTo>
                <a:cubicBezTo>
                  <a:pt x="66675" y="104281"/>
                  <a:pt x="70943" y="100013"/>
                  <a:pt x="76200" y="100013"/>
                </a:cubicBezTo>
                <a:cubicBezTo>
                  <a:pt x="81457" y="100013"/>
                  <a:pt x="85725" y="104281"/>
                  <a:pt x="85725" y="109537"/>
                </a:cubicBezTo>
                <a:cubicBezTo>
                  <a:pt x="85725" y="114794"/>
                  <a:pt x="81457" y="119062"/>
                  <a:pt x="76200" y="119062"/>
                </a:cubicBezTo>
                <a:cubicBezTo>
                  <a:pt x="70943" y="119062"/>
                  <a:pt x="66675" y="114794"/>
                  <a:pt x="66675" y="109537"/>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39" name="Google Shape;239;p8"/>
          <p:cNvSpPr/>
          <p:nvPr/>
        </p:nvSpPr>
        <p:spPr>
          <a:xfrm>
            <a:off x="4845695" y="4063603"/>
            <a:ext cx="10001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FAQ tổng hợp</a:t>
            </a:r>
            <a:endParaRPr sz="1600">
              <a:solidFill>
                <a:schemeClr val="dk1"/>
              </a:solidFill>
              <a:latin typeface="EB Garamond"/>
              <a:ea typeface="EB Garamond"/>
              <a:cs typeface="EB Garamond"/>
              <a:sym typeface="EB Garamond"/>
            </a:endParaRPr>
          </a:p>
        </p:txBody>
      </p:sp>
      <p:sp>
        <p:nvSpPr>
          <p:cNvPr id="240" name="Google Shape;240;p8"/>
          <p:cNvSpPr/>
          <p:nvPr/>
        </p:nvSpPr>
        <p:spPr>
          <a:xfrm>
            <a:off x="381000" y="4293394"/>
            <a:ext cx="762000" cy="762000"/>
          </a:xfrm>
          <a:custGeom>
            <a:rect b="b" l="l" r="r" t="t"/>
            <a:pathLst>
              <a:path extrusionOk="0" h="762000" w="762000">
                <a:moveTo>
                  <a:pt x="381000" y="0"/>
                </a:moveTo>
                <a:lnTo>
                  <a:pt x="381000" y="0"/>
                </a:lnTo>
                <a:cubicBezTo>
                  <a:pt x="591280" y="0"/>
                  <a:pt x="762000" y="170720"/>
                  <a:pt x="762000" y="381000"/>
                </a:cubicBezTo>
                <a:lnTo>
                  <a:pt x="762000" y="381000"/>
                </a:lnTo>
                <a:cubicBezTo>
                  <a:pt x="762000" y="591280"/>
                  <a:pt x="591280" y="762000"/>
                  <a:pt x="381000" y="762000"/>
                </a:cubicBezTo>
                <a:lnTo>
                  <a:pt x="381000" y="762000"/>
                </a:lnTo>
                <a:cubicBezTo>
                  <a:pt x="170720" y="762000"/>
                  <a:pt x="0" y="591280"/>
                  <a:pt x="0" y="381000"/>
                </a:cubicBezTo>
                <a:lnTo>
                  <a:pt x="0" y="381000"/>
                </a:lnTo>
                <a:cubicBezTo>
                  <a:pt x="0" y="170720"/>
                  <a:pt x="170720" y="0"/>
                  <a:pt x="3810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41" name="Google Shape;241;p8"/>
          <p:cNvSpPr/>
          <p:nvPr/>
        </p:nvSpPr>
        <p:spPr>
          <a:xfrm>
            <a:off x="295275" y="4293394"/>
            <a:ext cx="933450" cy="762000"/>
          </a:xfrm>
          <a:prstGeom prst="rect">
            <a:avLst/>
          </a:prstGeom>
          <a:noFill/>
          <a:ln>
            <a:noFill/>
          </a:ln>
        </p:spPr>
        <p:txBody>
          <a:bodyPr anchorCtr="0" anchor="ctr" bIns="0" lIns="0" spcFirstLastPara="1" rIns="0" wrap="square" tIns="0">
            <a:noAutofit/>
          </a:bodyPr>
          <a:lstStyle/>
          <a:p>
            <a:pPr indent="0" lvl="0" marL="0" marR="0" rtl="0" algn="ctr">
              <a:lnSpc>
                <a:spcPct val="90000"/>
              </a:lnSpc>
              <a:spcBef>
                <a:spcPts val="0"/>
              </a:spcBef>
              <a:spcAft>
                <a:spcPts val="0"/>
              </a:spcAft>
              <a:buNone/>
            </a:pPr>
            <a:r>
              <a:rPr b="1" lang="en-US" sz="2700">
                <a:solidFill>
                  <a:srgbClr val="FFFFFF"/>
                </a:solidFill>
                <a:latin typeface="EB Garamond"/>
                <a:ea typeface="EB Garamond"/>
                <a:cs typeface="EB Garamond"/>
                <a:sym typeface="EB Garamond"/>
              </a:rPr>
              <a:t>03</a:t>
            </a:r>
            <a:endParaRPr sz="1600">
              <a:solidFill>
                <a:schemeClr val="dk1"/>
              </a:solidFill>
              <a:latin typeface="EB Garamond"/>
              <a:ea typeface="EB Garamond"/>
              <a:cs typeface="EB Garamond"/>
              <a:sym typeface="EB Garamond"/>
            </a:endParaRPr>
          </a:p>
        </p:txBody>
      </p:sp>
      <p:sp>
        <p:nvSpPr>
          <p:cNvPr id="242" name="Google Shape;242;p8"/>
          <p:cNvSpPr/>
          <p:nvPr/>
        </p:nvSpPr>
        <p:spPr>
          <a:xfrm>
            <a:off x="1371600" y="4369594"/>
            <a:ext cx="10582275" cy="3429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2250">
                <a:solidFill>
                  <a:srgbClr val="0D1B4C"/>
                </a:solidFill>
                <a:latin typeface="EB Garamond"/>
                <a:ea typeface="EB Garamond"/>
                <a:cs typeface="EB Garamond"/>
                <a:sym typeface="EB Garamond"/>
              </a:rPr>
              <a:t>Tích hợp công cụ hỗ trợ</a:t>
            </a:r>
            <a:endParaRPr sz="1600">
              <a:solidFill>
                <a:schemeClr val="dk1"/>
              </a:solidFill>
              <a:latin typeface="EB Garamond"/>
              <a:ea typeface="EB Garamond"/>
              <a:cs typeface="EB Garamond"/>
              <a:sym typeface="EB Garamond"/>
            </a:endParaRPr>
          </a:p>
        </p:txBody>
      </p:sp>
      <p:sp>
        <p:nvSpPr>
          <p:cNvPr id="243" name="Google Shape;243;p8"/>
          <p:cNvSpPr/>
          <p:nvPr/>
        </p:nvSpPr>
        <p:spPr>
          <a:xfrm>
            <a:off x="1371600" y="4826794"/>
            <a:ext cx="10525125" cy="27622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350">
                <a:solidFill>
                  <a:srgbClr val="1C2026"/>
                </a:solidFill>
                <a:latin typeface="EB Garamond"/>
                <a:ea typeface="EB Garamond"/>
                <a:cs typeface="EB Garamond"/>
                <a:sym typeface="EB Garamond"/>
              </a:rPr>
              <a:t>Tích hợp các công cụ quản lý thời gian, học tập và giao việc để nâng cao hiệu quả học tập của sinh viên.</a:t>
            </a:r>
            <a:endParaRPr sz="1600">
              <a:solidFill>
                <a:schemeClr val="dk1"/>
              </a:solidFill>
              <a:latin typeface="EB Garamond"/>
              <a:ea typeface="EB Garamond"/>
              <a:cs typeface="EB Garamond"/>
              <a:sym typeface="EB Garamond"/>
            </a:endParaRPr>
          </a:p>
        </p:txBody>
      </p:sp>
      <p:sp>
        <p:nvSpPr>
          <p:cNvPr id="244" name="Google Shape;244;p8"/>
          <p:cNvSpPr/>
          <p:nvPr/>
        </p:nvSpPr>
        <p:spPr>
          <a:xfrm>
            <a:off x="1400175" y="5295900"/>
            <a:ext cx="133350" cy="152400"/>
          </a:xfrm>
          <a:custGeom>
            <a:rect b="b" l="l" r="r" t="t"/>
            <a:pathLst>
              <a:path extrusionOk="0" h="152400" w="133350">
                <a:moveTo>
                  <a:pt x="38100" y="0"/>
                </a:moveTo>
                <a:cubicBezTo>
                  <a:pt x="43369" y="0"/>
                  <a:pt x="47625" y="4256"/>
                  <a:pt x="47625" y="9525"/>
                </a:cubicBezTo>
                <a:lnTo>
                  <a:pt x="47625" y="19050"/>
                </a:lnTo>
                <a:lnTo>
                  <a:pt x="85725" y="19050"/>
                </a:lnTo>
                <a:lnTo>
                  <a:pt x="85725" y="9525"/>
                </a:lnTo>
                <a:cubicBezTo>
                  <a:pt x="85725" y="4256"/>
                  <a:pt x="89981" y="0"/>
                  <a:pt x="95250" y="0"/>
                </a:cubicBezTo>
                <a:cubicBezTo>
                  <a:pt x="100519" y="0"/>
                  <a:pt x="104775" y="4256"/>
                  <a:pt x="104775" y="9525"/>
                </a:cubicBezTo>
                <a:lnTo>
                  <a:pt x="104775" y="19050"/>
                </a:lnTo>
                <a:lnTo>
                  <a:pt x="114300" y="19050"/>
                </a:lnTo>
                <a:cubicBezTo>
                  <a:pt x="124807" y="19050"/>
                  <a:pt x="133350" y="27593"/>
                  <a:pt x="133350" y="38100"/>
                </a:cubicBezTo>
                <a:lnTo>
                  <a:pt x="133350" y="123825"/>
                </a:lnTo>
                <a:cubicBezTo>
                  <a:pt x="133350" y="134332"/>
                  <a:pt x="124807" y="142875"/>
                  <a:pt x="114300" y="142875"/>
                </a:cubicBezTo>
                <a:lnTo>
                  <a:pt x="19050" y="142875"/>
                </a:lnTo>
                <a:cubicBezTo>
                  <a:pt x="8543" y="142875"/>
                  <a:pt x="0" y="134332"/>
                  <a:pt x="0" y="123825"/>
                </a:cubicBezTo>
                <a:lnTo>
                  <a:pt x="0" y="38100"/>
                </a:lnTo>
                <a:cubicBezTo>
                  <a:pt x="0" y="27593"/>
                  <a:pt x="8543" y="19050"/>
                  <a:pt x="19050" y="19050"/>
                </a:cubicBezTo>
                <a:lnTo>
                  <a:pt x="28575" y="19050"/>
                </a:lnTo>
                <a:lnTo>
                  <a:pt x="28575" y="9525"/>
                </a:lnTo>
                <a:cubicBezTo>
                  <a:pt x="28575" y="4256"/>
                  <a:pt x="32831" y="0"/>
                  <a:pt x="38100" y="0"/>
                </a:cubicBezTo>
                <a:close/>
                <a:moveTo>
                  <a:pt x="19050" y="71438"/>
                </a:moveTo>
                <a:lnTo>
                  <a:pt x="19050" y="80962"/>
                </a:lnTo>
                <a:cubicBezTo>
                  <a:pt x="19050" y="83582"/>
                  <a:pt x="21193" y="85725"/>
                  <a:pt x="23813" y="85725"/>
                </a:cubicBezTo>
                <a:lnTo>
                  <a:pt x="33338" y="85725"/>
                </a:lnTo>
                <a:cubicBezTo>
                  <a:pt x="35957" y="85725"/>
                  <a:pt x="38100" y="83582"/>
                  <a:pt x="38100" y="80962"/>
                </a:cubicBezTo>
                <a:lnTo>
                  <a:pt x="38100" y="71438"/>
                </a:lnTo>
                <a:cubicBezTo>
                  <a:pt x="38100" y="68818"/>
                  <a:pt x="35957" y="66675"/>
                  <a:pt x="33338" y="66675"/>
                </a:cubicBezTo>
                <a:lnTo>
                  <a:pt x="23813" y="66675"/>
                </a:lnTo>
                <a:cubicBezTo>
                  <a:pt x="21193" y="66675"/>
                  <a:pt x="19050" y="68818"/>
                  <a:pt x="19050" y="71438"/>
                </a:cubicBezTo>
                <a:close/>
                <a:moveTo>
                  <a:pt x="57150" y="71438"/>
                </a:moveTo>
                <a:lnTo>
                  <a:pt x="57150" y="80962"/>
                </a:lnTo>
                <a:cubicBezTo>
                  <a:pt x="57150" y="83582"/>
                  <a:pt x="59293" y="85725"/>
                  <a:pt x="61912" y="85725"/>
                </a:cubicBezTo>
                <a:lnTo>
                  <a:pt x="71438" y="85725"/>
                </a:lnTo>
                <a:cubicBezTo>
                  <a:pt x="74057" y="85725"/>
                  <a:pt x="76200" y="83582"/>
                  <a:pt x="76200" y="80962"/>
                </a:cubicBezTo>
                <a:lnTo>
                  <a:pt x="76200" y="71438"/>
                </a:lnTo>
                <a:cubicBezTo>
                  <a:pt x="76200" y="68818"/>
                  <a:pt x="74057" y="66675"/>
                  <a:pt x="71438" y="66675"/>
                </a:cubicBezTo>
                <a:lnTo>
                  <a:pt x="61912" y="66675"/>
                </a:lnTo>
                <a:cubicBezTo>
                  <a:pt x="59293" y="66675"/>
                  <a:pt x="57150" y="68818"/>
                  <a:pt x="57150" y="71438"/>
                </a:cubicBezTo>
                <a:close/>
                <a:moveTo>
                  <a:pt x="100013" y="66675"/>
                </a:moveTo>
                <a:cubicBezTo>
                  <a:pt x="97393" y="66675"/>
                  <a:pt x="95250" y="68818"/>
                  <a:pt x="95250" y="71438"/>
                </a:cubicBezTo>
                <a:lnTo>
                  <a:pt x="95250" y="80962"/>
                </a:lnTo>
                <a:cubicBezTo>
                  <a:pt x="95250" y="83582"/>
                  <a:pt x="97393" y="85725"/>
                  <a:pt x="100013" y="85725"/>
                </a:cubicBezTo>
                <a:lnTo>
                  <a:pt x="109537" y="85725"/>
                </a:lnTo>
                <a:cubicBezTo>
                  <a:pt x="112157" y="85725"/>
                  <a:pt x="114300" y="83582"/>
                  <a:pt x="114300" y="80962"/>
                </a:cubicBezTo>
                <a:lnTo>
                  <a:pt x="114300" y="71438"/>
                </a:lnTo>
                <a:cubicBezTo>
                  <a:pt x="114300" y="68818"/>
                  <a:pt x="112157" y="66675"/>
                  <a:pt x="109537" y="66675"/>
                </a:cubicBezTo>
                <a:lnTo>
                  <a:pt x="100013" y="66675"/>
                </a:lnTo>
                <a:close/>
                <a:moveTo>
                  <a:pt x="19050" y="109537"/>
                </a:moveTo>
                <a:lnTo>
                  <a:pt x="19050" y="119062"/>
                </a:lnTo>
                <a:cubicBezTo>
                  <a:pt x="19050" y="121682"/>
                  <a:pt x="21193" y="123825"/>
                  <a:pt x="23813" y="123825"/>
                </a:cubicBezTo>
                <a:lnTo>
                  <a:pt x="33338" y="123825"/>
                </a:lnTo>
                <a:cubicBezTo>
                  <a:pt x="35957" y="123825"/>
                  <a:pt x="38100" y="121682"/>
                  <a:pt x="38100" y="119062"/>
                </a:cubicBezTo>
                <a:lnTo>
                  <a:pt x="38100" y="109537"/>
                </a:lnTo>
                <a:cubicBezTo>
                  <a:pt x="38100" y="106918"/>
                  <a:pt x="35957" y="104775"/>
                  <a:pt x="33338" y="104775"/>
                </a:cubicBezTo>
                <a:lnTo>
                  <a:pt x="23813" y="104775"/>
                </a:lnTo>
                <a:cubicBezTo>
                  <a:pt x="21193" y="104775"/>
                  <a:pt x="19050" y="106918"/>
                  <a:pt x="19050" y="109537"/>
                </a:cubicBezTo>
                <a:close/>
                <a:moveTo>
                  <a:pt x="61912" y="104775"/>
                </a:moveTo>
                <a:cubicBezTo>
                  <a:pt x="59293" y="104775"/>
                  <a:pt x="57150" y="106918"/>
                  <a:pt x="57150" y="109537"/>
                </a:cubicBezTo>
                <a:lnTo>
                  <a:pt x="57150" y="119062"/>
                </a:lnTo>
                <a:cubicBezTo>
                  <a:pt x="57150" y="121682"/>
                  <a:pt x="59293" y="123825"/>
                  <a:pt x="61912" y="123825"/>
                </a:cubicBezTo>
                <a:lnTo>
                  <a:pt x="71438" y="123825"/>
                </a:lnTo>
                <a:cubicBezTo>
                  <a:pt x="74057" y="123825"/>
                  <a:pt x="76200" y="121682"/>
                  <a:pt x="76200" y="119062"/>
                </a:cubicBezTo>
                <a:lnTo>
                  <a:pt x="76200" y="109537"/>
                </a:lnTo>
                <a:cubicBezTo>
                  <a:pt x="76200" y="106918"/>
                  <a:pt x="74057" y="104775"/>
                  <a:pt x="71438" y="104775"/>
                </a:cubicBezTo>
                <a:lnTo>
                  <a:pt x="61912" y="104775"/>
                </a:lnTo>
                <a:close/>
                <a:moveTo>
                  <a:pt x="95250" y="109537"/>
                </a:moveTo>
                <a:lnTo>
                  <a:pt x="95250" y="119062"/>
                </a:lnTo>
                <a:cubicBezTo>
                  <a:pt x="95250" y="121682"/>
                  <a:pt x="97393" y="123825"/>
                  <a:pt x="100013" y="123825"/>
                </a:cubicBezTo>
                <a:lnTo>
                  <a:pt x="109537" y="123825"/>
                </a:lnTo>
                <a:cubicBezTo>
                  <a:pt x="112157" y="123825"/>
                  <a:pt x="114300" y="121682"/>
                  <a:pt x="114300" y="119062"/>
                </a:cubicBezTo>
                <a:lnTo>
                  <a:pt x="114300" y="109537"/>
                </a:lnTo>
                <a:cubicBezTo>
                  <a:pt x="114300" y="106918"/>
                  <a:pt x="112157" y="104775"/>
                  <a:pt x="109537" y="104775"/>
                </a:cubicBezTo>
                <a:lnTo>
                  <a:pt x="100013" y="104775"/>
                </a:lnTo>
                <a:cubicBezTo>
                  <a:pt x="97393" y="104775"/>
                  <a:pt x="95250" y="106918"/>
                  <a:pt x="95250" y="109537"/>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45" name="Google Shape;245;p8"/>
          <p:cNvSpPr/>
          <p:nvPr/>
        </p:nvSpPr>
        <p:spPr>
          <a:xfrm>
            <a:off x="1638300" y="5257800"/>
            <a:ext cx="8667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Quản lý lịch</a:t>
            </a:r>
            <a:endParaRPr sz="1600">
              <a:solidFill>
                <a:schemeClr val="dk1"/>
              </a:solidFill>
              <a:latin typeface="EB Garamond"/>
              <a:ea typeface="EB Garamond"/>
              <a:cs typeface="EB Garamond"/>
              <a:sym typeface="EB Garamond"/>
            </a:endParaRPr>
          </a:p>
        </p:txBody>
      </p:sp>
      <p:sp>
        <p:nvSpPr>
          <p:cNvPr id="246" name="Google Shape;246;p8"/>
          <p:cNvSpPr/>
          <p:nvPr/>
        </p:nvSpPr>
        <p:spPr>
          <a:xfrm>
            <a:off x="2557611" y="5295900"/>
            <a:ext cx="152400" cy="152400"/>
          </a:xfrm>
          <a:custGeom>
            <a:rect b="b" l="l" r="r" t="t"/>
            <a:pathLst>
              <a:path extrusionOk="0" h="152400" w="152400">
                <a:moveTo>
                  <a:pt x="39826" y="10805"/>
                </a:moveTo>
                <a:cubicBezTo>
                  <a:pt x="43071" y="13067"/>
                  <a:pt x="43845" y="17532"/>
                  <a:pt x="41583" y="20747"/>
                </a:cubicBezTo>
                <a:lnTo>
                  <a:pt x="24914" y="44559"/>
                </a:lnTo>
                <a:cubicBezTo>
                  <a:pt x="23693" y="46286"/>
                  <a:pt x="21788" y="47387"/>
                  <a:pt x="19675" y="47565"/>
                </a:cubicBezTo>
                <a:cubicBezTo>
                  <a:pt x="17562" y="47744"/>
                  <a:pt x="15478" y="47030"/>
                  <a:pt x="13990" y="45541"/>
                </a:cubicBezTo>
                <a:lnTo>
                  <a:pt x="2084" y="33635"/>
                </a:lnTo>
                <a:cubicBezTo>
                  <a:pt x="-685" y="30837"/>
                  <a:pt x="-685" y="26313"/>
                  <a:pt x="2084" y="23515"/>
                </a:cubicBezTo>
                <a:cubicBezTo>
                  <a:pt x="4852" y="20717"/>
                  <a:pt x="9406" y="20747"/>
                  <a:pt x="12204" y="23515"/>
                </a:cubicBezTo>
                <a:lnTo>
                  <a:pt x="18098" y="29408"/>
                </a:lnTo>
                <a:lnTo>
                  <a:pt x="29885" y="12561"/>
                </a:lnTo>
                <a:cubicBezTo>
                  <a:pt x="32147" y="9317"/>
                  <a:pt x="36612" y="8543"/>
                  <a:pt x="39826" y="10805"/>
                </a:cubicBezTo>
                <a:close/>
                <a:moveTo>
                  <a:pt x="39826" y="58430"/>
                </a:moveTo>
                <a:cubicBezTo>
                  <a:pt x="43071" y="60692"/>
                  <a:pt x="43845" y="65157"/>
                  <a:pt x="41583" y="68372"/>
                </a:cubicBezTo>
                <a:lnTo>
                  <a:pt x="24914" y="92184"/>
                </a:lnTo>
                <a:cubicBezTo>
                  <a:pt x="23693" y="93911"/>
                  <a:pt x="21788" y="95012"/>
                  <a:pt x="19675" y="95190"/>
                </a:cubicBezTo>
                <a:cubicBezTo>
                  <a:pt x="17562" y="95369"/>
                  <a:pt x="15478" y="94655"/>
                  <a:pt x="13990" y="93166"/>
                </a:cubicBezTo>
                <a:lnTo>
                  <a:pt x="2084" y="81260"/>
                </a:lnTo>
                <a:cubicBezTo>
                  <a:pt x="-714" y="78462"/>
                  <a:pt x="-714" y="73938"/>
                  <a:pt x="2084" y="71170"/>
                </a:cubicBezTo>
                <a:cubicBezTo>
                  <a:pt x="4882" y="68401"/>
                  <a:pt x="9406" y="68372"/>
                  <a:pt x="12174" y="71170"/>
                </a:cubicBezTo>
                <a:lnTo>
                  <a:pt x="18068" y="77063"/>
                </a:lnTo>
                <a:lnTo>
                  <a:pt x="29855" y="60216"/>
                </a:lnTo>
                <a:cubicBezTo>
                  <a:pt x="32117" y="56971"/>
                  <a:pt x="36582" y="56197"/>
                  <a:pt x="39797" y="58460"/>
                </a:cubicBezTo>
                <a:close/>
                <a:moveTo>
                  <a:pt x="66675" y="28575"/>
                </a:moveTo>
                <a:cubicBezTo>
                  <a:pt x="66675" y="23306"/>
                  <a:pt x="70931" y="19050"/>
                  <a:pt x="76200" y="19050"/>
                </a:cubicBezTo>
                <a:lnTo>
                  <a:pt x="142875" y="19050"/>
                </a:lnTo>
                <a:cubicBezTo>
                  <a:pt x="148144" y="19050"/>
                  <a:pt x="152400" y="23306"/>
                  <a:pt x="152400" y="28575"/>
                </a:cubicBezTo>
                <a:cubicBezTo>
                  <a:pt x="152400" y="33844"/>
                  <a:pt x="148144" y="38100"/>
                  <a:pt x="142875" y="38100"/>
                </a:cubicBezTo>
                <a:lnTo>
                  <a:pt x="76200" y="38100"/>
                </a:lnTo>
                <a:cubicBezTo>
                  <a:pt x="70931" y="38100"/>
                  <a:pt x="66675" y="33844"/>
                  <a:pt x="66675" y="28575"/>
                </a:cubicBezTo>
                <a:close/>
                <a:moveTo>
                  <a:pt x="66675" y="76200"/>
                </a:moveTo>
                <a:cubicBezTo>
                  <a:pt x="66675" y="70931"/>
                  <a:pt x="70931" y="66675"/>
                  <a:pt x="76200" y="66675"/>
                </a:cubicBezTo>
                <a:lnTo>
                  <a:pt x="142875" y="66675"/>
                </a:lnTo>
                <a:cubicBezTo>
                  <a:pt x="148144" y="66675"/>
                  <a:pt x="152400" y="70931"/>
                  <a:pt x="152400" y="76200"/>
                </a:cubicBezTo>
                <a:cubicBezTo>
                  <a:pt x="152400" y="81469"/>
                  <a:pt x="148144" y="85725"/>
                  <a:pt x="142875" y="85725"/>
                </a:cubicBezTo>
                <a:lnTo>
                  <a:pt x="76200" y="85725"/>
                </a:lnTo>
                <a:cubicBezTo>
                  <a:pt x="70931" y="85725"/>
                  <a:pt x="66675" y="81469"/>
                  <a:pt x="66675" y="76200"/>
                </a:cubicBezTo>
                <a:close/>
                <a:moveTo>
                  <a:pt x="47625" y="123825"/>
                </a:moveTo>
                <a:cubicBezTo>
                  <a:pt x="47625" y="118556"/>
                  <a:pt x="51881" y="114300"/>
                  <a:pt x="57150" y="114300"/>
                </a:cubicBezTo>
                <a:lnTo>
                  <a:pt x="142875" y="114300"/>
                </a:lnTo>
                <a:cubicBezTo>
                  <a:pt x="148144" y="114300"/>
                  <a:pt x="152400" y="118556"/>
                  <a:pt x="152400" y="123825"/>
                </a:cubicBezTo>
                <a:cubicBezTo>
                  <a:pt x="152400" y="129094"/>
                  <a:pt x="148144" y="133350"/>
                  <a:pt x="142875" y="133350"/>
                </a:cubicBezTo>
                <a:lnTo>
                  <a:pt x="57150" y="133350"/>
                </a:lnTo>
                <a:cubicBezTo>
                  <a:pt x="51881" y="133350"/>
                  <a:pt x="47625" y="129094"/>
                  <a:pt x="47625" y="123825"/>
                </a:cubicBezTo>
                <a:close/>
                <a:moveTo>
                  <a:pt x="19050" y="111919"/>
                </a:moveTo>
                <a:cubicBezTo>
                  <a:pt x="25621" y="111919"/>
                  <a:pt x="30956" y="117254"/>
                  <a:pt x="30956" y="123825"/>
                </a:cubicBezTo>
                <a:cubicBezTo>
                  <a:pt x="30956" y="130396"/>
                  <a:pt x="25621" y="135731"/>
                  <a:pt x="19050" y="135731"/>
                </a:cubicBezTo>
                <a:cubicBezTo>
                  <a:pt x="12479" y="135731"/>
                  <a:pt x="7144" y="130396"/>
                  <a:pt x="7144" y="123825"/>
                </a:cubicBezTo>
                <a:cubicBezTo>
                  <a:pt x="7144" y="117254"/>
                  <a:pt x="12479" y="111919"/>
                  <a:pt x="19050" y="111919"/>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47" name="Google Shape;247;p8"/>
          <p:cNvSpPr/>
          <p:nvPr/>
        </p:nvSpPr>
        <p:spPr>
          <a:xfrm>
            <a:off x="2805261" y="5257800"/>
            <a:ext cx="11430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Theo dõi tiến độ</a:t>
            </a:r>
            <a:endParaRPr sz="1600">
              <a:solidFill>
                <a:schemeClr val="dk1"/>
              </a:solidFill>
              <a:latin typeface="EB Garamond"/>
              <a:ea typeface="EB Garamond"/>
              <a:cs typeface="EB Garamond"/>
              <a:sym typeface="EB Garamond"/>
            </a:endParaRPr>
          </a:p>
        </p:txBody>
      </p:sp>
      <p:sp>
        <p:nvSpPr>
          <p:cNvPr id="248" name="Google Shape;248;p8"/>
          <p:cNvSpPr/>
          <p:nvPr/>
        </p:nvSpPr>
        <p:spPr>
          <a:xfrm>
            <a:off x="4015829" y="5295900"/>
            <a:ext cx="133350" cy="152400"/>
          </a:xfrm>
          <a:custGeom>
            <a:rect b="b" l="l" r="r" t="t"/>
            <a:pathLst>
              <a:path extrusionOk="0" h="152400" w="133350">
                <a:moveTo>
                  <a:pt x="66675" y="0"/>
                </a:moveTo>
                <a:cubicBezTo>
                  <a:pt x="61406" y="0"/>
                  <a:pt x="57150" y="4256"/>
                  <a:pt x="57150" y="9525"/>
                </a:cubicBezTo>
                <a:lnTo>
                  <a:pt x="57150" y="10478"/>
                </a:lnTo>
                <a:cubicBezTo>
                  <a:pt x="35421" y="14883"/>
                  <a:pt x="19050" y="34111"/>
                  <a:pt x="19050" y="57150"/>
                </a:cubicBezTo>
                <a:lnTo>
                  <a:pt x="19050" y="63609"/>
                </a:lnTo>
                <a:cubicBezTo>
                  <a:pt x="19050" y="77926"/>
                  <a:pt x="14168" y="91827"/>
                  <a:pt x="5239" y="103019"/>
                </a:cubicBezTo>
                <a:lnTo>
                  <a:pt x="2322" y="106650"/>
                </a:lnTo>
                <a:cubicBezTo>
                  <a:pt x="804" y="108525"/>
                  <a:pt x="0" y="110847"/>
                  <a:pt x="0" y="113258"/>
                </a:cubicBezTo>
                <a:cubicBezTo>
                  <a:pt x="0" y="119092"/>
                  <a:pt x="4733" y="123825"/>
                  <a:pt x="10567" y="123825"/>
                </a:cubicBezTo>
                <a:lnTo>
                  <a:pt x="122753" y="123825"/>
                </a:lnTo>
                <a:cubicBezTo>
                  <a:pt x="128588" y="123825"/>
                  <a:pt x="133320" y="119092"/>
                  <a:pt x="133320" y="113258"/>
                </a:cubicBezTo>
                <a:cubicBezTo>
                  <a:pt x="133320" y="110847"/>
                  <a:pt x="132517" y="108525"/>
                  <a:pt x="130999" y="106650"/>
                </a:cubicBezTo>
                <a:lnTo>
                  <a:pt x="128081" y="103019"/>
                </a:lnTo>
                <a:cubicBezTo>
                  <a:pt x="119182" y="91827"/>
                  <a:pt x="114300" y="77926"/>
                  <a:pt x="114300" y="63609"/>
                </a:cubicBezTo>
                <a:lnTo>
                  <a:pt x="114300" y="57150"/>
                </a:lnTo>
                <a:cubicBezTo>
                  <a:pt x="114300" y="34111"/>
                  <a:pt x="97929" y="14883"/>
                  <a:pt x="76200" y="10477"/>
                </a:cubicBezTo>
                <a:lnTo>
                  <a:pt x="76200" y="9525"/>
                </a:lnTo>
                <a:cubicBezTo>
                  <a:pt x="76200" y="4256"/>
                  <a:pt x="71944" y="0"/>
                  <a:pt x="66675" y="0"/>
                </a:cubicBezTo>
                <a:close/>
                <a:moveTo>
                  <a:pt x="48220" y="138113"/>
                </a:moveTo>
                <a:cubicBezTo>
                  <a:pt x="50334" y="146328"/>
                  <a:pt x="57805" y="152400"/>
                  <a:pt x="66675" y="152400"/>
                </a:cubicBezTo>
                <a:cubicBezTo>
                  <a:pt x="75545" y="152400"/>
                  <a:pt x="83016" y="146328"/>
                  <a:pt x="85130" y="138113"/>
                </a:cubicBezTo>
                <a:lnTo>
                  <a:pt x="48220" y="138113"/>
                </a:ln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49" name="Google Shape;249;p8"/>
          <p:cNvSpPr/>
          <p:nvPr/>
        </p:nvSpPr>
        <p:spPr>
          <a:xfrm>
            <a:off x="4253954" y="5257800"/>
            <a:ext cx="15144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1C2026"/>
                </a:solidFill>
                <a:latin typeface="EB Garamond"/>
                <a:ea typeface="EB Garamond"/>
                <a:cs typeface="EB Garamond"/>
                <a:sym typeface="EB Garamond"/>
              </a:rPr>
              <a:t>Nhắc nhở thông minh</a:t>
            </a:r>
            <a:endParaRPr sz="1600">
              <a:solidFill>
                <a:schemeClr val="dk1"/>
              </a:solidFill>
              <a:latin typeface="EB Garamond"/>
              <a:ea typeface="EB Garamond"/>
              <a:cs typeface="EB Garamond"/>
              <a:sym typeface="EB Garamond"/>
            </a:endParaRPr>
          </a:p>
        </p:txBody>
      </p:sp>
      <p:sp>
        <p:nvSpPr>
          <p:cNvPr id="250" name="Google Shape;250;p8"/>
          <p:cNvSpPr/>
          <p:nvPr/>
        </p:nvSpPr>
        <p:spPr>
          <a:xfrm>
            <a:off x="385763" y="5719763"/>
            <a:ext cx="11420475" cy="752475"/>
          </a:xfrm>
          <a:custGeom>
            <a:rect b="b" l="l" r="r" t="t"/>
            <a:pathLst>
              <a:path extrusionOk="0" h="752475" w="11420475">
                <a:moveTo>
                  <a:pt x="152399" y="0"/>
                </a:moveTo>
                <a:lnTo>
                  <a:pt x="11268076" y="0"/>
                </a:lnTo>
                <a:cubicBezTo>
                  <a:pt x="11352244" y="0"/>
                  <a:pt x="11420475" y="68231"/>
                  <a:pt x="11420475" y="152399"/>
                </a:cubicBezTo>
                <a:lnTo>
                  <a:pt x="11420475" y="600076"/>
                </a:lnTo>
                <a:cubicBezTo>
                  <a:pt x="11420475" y="684244"/>
                  <a:pt x="11352244" y="752475"/>
                  <a:pt x="11268076" y="752475"/>
                </a:cubicBezTo>
                <a:lnTo>
                  <a:pt x="152399" y="752475"/>
                </a:lnTo>
                <a:cubicBezTo>
                  <a:pt x="68288" y="752475"/>
                  <a:pt x="0" y="684187"/>
                  <a:pt x="0" y="600076"/>
                </a:cubicBezTo>
                <a:lnTo>
                  <a:pt x="0" y="152399"/>
                </a:lnTo>
                <a:cubicBezTo>
                  <a:pt x="0" y="68288"/>
                  <a:pt x="68288" y="0"/>
                  <a:pt x="152399" y="0"/>
                </a:cubicBezTo>
                <a:close/>
              </a:path>
            </a:pathLst>
          </a:custGeom>
          <a:gradFill>
            <a:gsLst>
              <a:gs pos="0">
                <a:srgbClr val="295EDF">
                  <a:alpha val="9803"/>
                </a:srgbClr>
              </a:gs>
              <a:gs pos="100000">
                <a:srgbClr val="FF9045">
                  <a:alpha val="9803"/>
                </a:srgbClr>
              </a:gs>
            </a:gsLst>
            <a:lin ang="0" scaled="0"/>
          </a:gradFill>
          <a:ln cap="flat" cmpd="sng" w="12700">
            <a:solidFill>
              <a:srgbClr val="295ED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51" name="Google Shape;251;p8"/>
          <p:cNvSpPr/>
          <p:nvPr/>
        </p:nvSpPr>
        <p:spPr>
          <a:xfrm>
            <a:off x="639366" y="5953125"/>
            <a:ext cx="321469" cy="285750"/>
          </a:xfrm>
          <a:custGeom>
            <a:rect b="b" l="l" r="r" t="t"/>
            <a:pathLst>
              <a:path extrusionOk="0" h="285750" w="321469">
                <a:moveTo>
                  <a:pt x="172734" y="-10548"/>
                </a:moveTo>
                <a:cubicBezTo>
                  <a:pt x="170445" y="-15013"/>
                  <a:pt x="165813" y="-17859"/>
                  <a:pt x="160790" y="-17859"/>
                </a:cubicBezTo>
                <a:cubicBezTo>
                  <a:pt x="155767" y="-17859"/>
                  <a:pt x="151135" y="-15013"/>
                  <a:pt x="148847" y="-10548"/>
                </a:cubicBezTo>
                <a:lnTo>
                  <a:pt x="107770" y="69931"/>
                </a:lnTo>
                <a:lnTo>
                  <a:pt x="18529" y="84106"/>
                </a:lnTo>
                <a:cubicBezTo>
                  <a:pt x="13562" y="84888"/>
                  <a:pt x="9432" y="88404"/>
                  <a:pt x="7869" y="93204"/>
                </a:cubicBezTo>
                <a:cubicBezTo>
                  <a:pt x="6307" y="98003"/>
                  <a:pt x="7590" y="103250"/>
                  <a:pt x="11106" y="106821"/>
                </a:cubicBezTo>
                <a:lnTo>
                  <a:pt x="74954" y="170724"/>
                </a:lnTo>
                <a:lnTo>
                  <a:pt x="60889" y="259966"/>
                </a:lnTo>
                <a:cubicBezTo>
                  <a:pt x="60108" y="264933"/>
                  <a:pt x="62173" y="269956"/>
                  <a:pt x="66247" y="272914"/>
                </a:cubicBezTo>
                <a:cubicBezTo>
                  <a:pt x="70321" y="275872"/>
                  <a:pt x="75679" y="276318"/>
                  <a:pt x="80200" y="274030"/>
                </a:cubicBezTo>
                <a:lnTo>
                  <a:pt x="160790" y="233065"/>
                </a:lnTo>
                <a:lnTo>
                  <a:pt x="241325" y="274030"/>
                </a:lnTo>
                <a:cubicBezTo>
                  <a:pt x="245790" y="276318"/>
                  <a:pt x="251203" y="275872"/>
                  <a:pt x="255277" y="272914"/>
                </a:cubicBezTo>
                <a:cubicBezTo>
                  <a:pt x="259352" y="269956"/>
                  <a:pt x="261417" y="264988"/>
                  <a:pt x="260635" y="259966"/>
                </a:cubicBezTo>
                <a:lnTo>
                  <a:pt x="246515" y="170724"/>
                </a:lnTo>
                <a:lnTo>
                  <a:pt x="310362" y="106821"/>
                </a:lnTo>
                <a:cubicBezTo>
                  <a:pt x="313934" y="103250"/>
                  <a:pt x="315162" y="98003"/>
                  <a:pt x="313599" y="93204"/>
                </a:cubicBezTo>
                <a:cubicBezTo>
                  <a:pt x="312037" y="88404"/>
                  <a:pt x="307963" y="84888"/>
                  <a:pt x="302940" y="84106"/>
                </a:cubicBezTo>
                <a:lnTo>
                  <a:pt x="213754" y="69931"/>
                </a:lnTo>
                <a:lnTo>
                  <a:pt x="172734" y="-10548"/>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252" name="Google Shape;252;p8"/>
          <p:cNvSpPr/>
          <p:nvPr/>
        </p:nvSpPr>
        <p:spPr>
          <a:xfrm>
            <a:off x="1128713" y="5962650"/>
            <a:ext cx="73437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Hệ thống hướng đến việc trở thành </a:t>
            </a:r>
            <a:r>
              <a:rPr b="1" lang="en-US" sz="1500">
                <a:solidFill>
                  <a:srgbClr val="295EDF"/>
                </a:solidFill>
                <a:latin typeface="EB Garamond"/>
                <a:ea typeface="EB Garamond"/>
                <a:cs typeface="EB Garamond"/>
                <a:sym typeface="EB Garamond"/>
              </a:rPr>
              <a:t>kênh thông tin chính thống</a:t>
            </a:r>
            <a:r>
              <a:rPr b="1" lang="en-US" sz="1500">
                <a:solidFill>
                  <a:srgbClr val="0D1B4C"/>
                </a:solidFill>
                <a:latin typeface="EB Garamond"/>
                <a:ea typeface="EB Garamond"/>
                <a:cs typeface="EB Garamond"/>
                <a:sym typeface="EB Garamond"/>
              </a:rPr>
              <a:t> - tiện lợi - đáng tin cậy</a:t>
            </a:r>
            <a:endParaRPr sz="1600">
              <a:solidFill>
                <a:schemeClr val="dk1"/>
              </a:solidFill>
              <a:latin typeface="EB Garamond"/>
              <a:ea typeface="EB Garamond"/>
              <a:cs typeface="EB Garamond"/>
              <a:sym typeface="EB Garamond"/>
            </a:endParaRPr>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257" name="Shape 257"/>
        <p:cNvGrpSpPr/>
        <p:nvPr/>
      </p:nvGrpSpPr>
      <p:grpSpPr>
        <a:xfrm>
          <a:off x="0" y="0"/>
          <a:ext cx="0" cy="0"/>
          <a:chOff x="0" y="0"/>
          <a:chExt cx="0" cy="0"/>
        </a:xfrm>
      </p:grpSpPr>
      <p:sp>
        <p:nvSpPr>
          <p:cNvPr id="258" name="Google Shape;258;p9"/>
          <p:cNvSpPr/>
          <p:nvPr/>
        </p:nvSpPr>
        <p:spPr>
          <a:xfrm>
            <a:off x="324255" y="324255"/>
            <a:ext cx="11608340" cy="194553"/>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021">
                <a:solidFill>
                  <a:srgbClr val="295EDF"/>
                </a:solidFill>
                <a:latin typeface="EB Garamond"/>
                <a:ea typeface="EB Garamond"/>
                <a:cs typeface="EB Garamond"/>
                <a:sym typeface="EB Garamond"/>
              </a:rPr>
              <a:t>CHAPTER 02</a:t>
            </a:r>
            <a:endParaRPr sz="1600">
              <a:solidFill>
                <a:schemeClr val="dk1"/>
              </a:solidFill>
              <a:latin typeface="EB Garamond"/>
              <a:ea typeface="EB Garamond"/>
              <a:cs typeface="EB Garamond"/>
              <a:sym typeface="EB Garamond"/>
            </a:endParaRPr>
          </a:p>
        </p:txBody>
      </p:sp>
      <p:sp>
        <p:nvSpPr>
          <p:cNvPr id="259" name="Google Shape;259;p9"/>
          <p:cNvSpPr/>
          <p:nvPr/>
        </p:nvSpPr>
        <p:spPr>
          <a:xfrm>
            <a:off x="324255" y="1435020"/>
            <a:ext cx="11738043" cy="389106"/>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US" sz="3064">
                <a:solidFill>
                  <a:srgbClr val="0D1B4C"/>
                </a:solidFill>
                <a:latin typeface="EB Garamond"/>
                <a:ea typeface="EB Garamond"/>
                <a:cs typeface="EB Garamond"/>
                <a:sym typeface="EB Garamond"/>
              </a:rPr>
              <a:t>Lợi ích mang lại</a:t>
            </a:r>
            <a:endParaRPr sz="1600">
              <a:solidFill>
                <a:schemeClr val="dk1"/>
              </a:solidFill>
              <a:latin typeface="EB Garamond"/>
              <a:ea typeface="EB Garamond"/>
              <a:cs typeface="EB Garamond"/>
              <a:sym typeface="EB Garamond"/>
            </a:endParaRPr>
          </a:p>
        </p:txBody>
      </p:sp>
      <p:sp>
        <p:nvSpPr>
          <p:cNvPr id="260" name="Google Shape;260;p9"/>
          <p:cNvSpPr/>
          <p:nvPr/>
        </p:nvSpPr>
        <p:spPr>
          <a:xfrm>
            <a:off x="324255" y="1888977"/>
            <a:ext cx="11616447" cy="226979"/>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149">
                <a:solidFill>
                  <a:srgbClr val="1C2026"/>
                </a:solidFill>
                <a:latin typeface="EB Garamond"/>
                <a:ea typeface="EB Garamond"/>
                <a:cs typeface="EB Garamond"/>
                <a:sym typeface="EB Garamond"/>
              </a:rPr>
              <a:t>Những giá trị thiết thực mà FPT Student Hub mang đến cho cộng đồng sinh viên</a:t>
            </a:r>
            <a:endParaRPr sz="1600">
              <a:solidFill>
                <a:schemeClr val="dk1"/>
              </a:solidFill>
              <a:latin typeface="EB Garamond"/>
              <a:ea typeface="EB Garamond"/>
              <a:cs typeface="EB Garamond"/>
              <a:sym typeface="EB Garamond"/>
            </a:endParaRPr>
          </a:p>
        </p:txBody>
      </p:sp>
      <p:sp>
        <p:nvSpPr>
          <p:cNvPr id="261" name="Google Shape;261;p9"/>
          <p:cNvSpPr/>
          <p:nvPr/>
        </p:nvSpPr>
        <p:spPr>
          <a:xfrm>
            <a:off x="340468" y="2569913"/>
            <a:ext cx="5674468" cy="2707532"/>
          </a:xfrm>
          <a:custGeom>
            <a:rect b="b" l="l" r="r" t="t"/>
            <a:pathLst>
              <a:path extrusionOk="0" h="2707532" w="5674468">
                <a:moveTo>
                  <a:pt x="32426" y="0"/>
                </a:moveTo>
                <a:lnTo>
                  <a:pt x="5544777" y="0"/>
                </a:lnTo>
                <a:cubicBezTo>
                  <a:pt x="5616404" y="0"/>
                  <a:pt x="5674468" y="58065"/>
                  <a:pt x="5674468" y="129691"/>
                </a:cubicBezTo>
                <a:lnTo>
                  <a:pt x="5674468" y="2577841"/>
                </a:lnTo>
                <a:cubicBezTo>
                  <a:pt x="5674468" y="2649467"/>
                  <a:pt x="5616404" y="2707532"/>
                  <a:pt x="5544777" y="2707532"/>
                </a:cubicBezTo>
                <a:lnTo>
                  <a:pt x="32426" y="2707532"/>
                </a:lnTo>
                <a:cubicBezTo>
                  <a:pt x="14517" y="2707532"/>
                  <a:pt x="0" y="2693015"/>
                  <a:pt x="0" y="2675106"/>
                </a:cubicBezTo>
                <a:lnTo>
                  <a:pt x="0" y="32426"/>
                </a:lnTo>
                <a:cubicBezTo>
                  <a:pt x="0" y="14517"/>
                  <a:pt x="14517" y="0"/>
                  <a:pt x="32426" y="0"/>
                </a:cubicBezTo>
                <a:close/>
              </a:path>
            </a:pathLst>
          </a:custGeom>
          <a:solidFill>
            <a:srgbClr val="FFFFFF"/>
          </a:solidFill>
          <a:ln>
            <a:noFill/>
          </a:ln>
          <a:effectLst>
            <a:outerShdw blurRad="48638" rotWithShape="0" algn="bl" dir="5400000" dist="32426">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9"/>
          <p:cNvSpPr/>
          <p:nvPr/>
        </p:nvSpPr>
        <p:spPr>
          <a:xfrm>
            <a:off x="340468" y="2569913"/>
            <a:ext cx="32426" cy="2707532"/>
          </a:xfrm>
          <a:custGeom>
            <a:rect b="b" l="l" r="r" t="t"/>
            <a:pathLst>
              <a:path extrusionOk="0" h="2707532" w="32426">
                <a:moveTo>
                  <a:pt x="32426" y="0"/>
                </a:moveTo>
                <a:lnTo>
                  <a:pt x="32426" y="0"/>
                </a:lnTo>
                <a:lnTo>
                  <a:pt x="32426" y="2707532"/>
                </a:lnTo>
                <a:lnTo>
                  <a:pt x="32426" y="2707532"/>
                </a:lnTo>
                <a:cubicBezTo>
                  <a:pt x="14517" y="2707532"/>
                  <a:pt x="0" y="2693015"/>
                  <a:pt x="0" y="2675106"/>
                </a:cubicBezTo>
                <a:lnTo>
                  <a:pt x="0" y="32426"/>
                </a:lnTo>
                <a:cubicBezTo>
                  <a:pt x="0" y="14517"/>
                  <a:pt x="14517" y="0"/>
                  <a:pt x="32426"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3" name="Google Shape;263;p9"/>
          <p:cNvSpPr/>
          <p:nvPr/>
        </p:nvSpPr>
        <p:spPr>
          <a:xfrm>
            <a:off x="551234" y="2764467"/>
            <a:ext cx="453957" cy="453957"/>
          </a:xfrm>
          <a:custGeom>
            <a:rect b="b" l="l" r="r" t="t"/>
            <a:pathLst>
              <a:path extrusionOk="0" h="453957" w="453957">
                <a:moveTo>
                  <a:pt x="226979" y="0"/>
                </a:moveTo>
                <a:lnTo>
                  <a:pt x="226979" y="0"/>
                </a:lnTo>
                <a:cubicBezTo>
                  <a:pt x="352252" y="0"/>
                  <a:pt x="453957" y="101706"/>
                  <a:pt x="453957" y="226979"/>
                </a:cubicBezTo>
                <a:lnTo>
                  <a:pt x="453957" y="226979"/>
                </a:lnTo>
                <a:cubicBezTo>
                  <a:pt x="453957" y="352252"/>
                  <a:pt x="352252" y="453957"/>
                  <a:pt x="226979" y="453957"/>
                </a:cubicBezTo>
                <a:lnTo>
                  <a:pt x="226979" y="453957"/>
                </a:lnTo>
                <a:cubicBezTo>
                  <a:pt x="101706" y="453957"/>
                  <a:pt x="0" y="352252"/>
                  <a:pt x="0" y="226979"/>
                </a:cubicBezTo>
                <a:lnTo>
                  <a:pt x="0" y="226979"/>
                </a:lnTo>
                <a:cubicBezTo>
                  <a:pt x="0" y="101706"/>
                  <a:pt x="101706" y="0"/>
                  <a:pt x="226979"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9"/>
          <p:cNvSpPr/>
          <p:nvPr/>
        </p:nvSpPr>
        <p:spPr>
          <a:xfrm>
            <a:off x="680936" y="2894169"/>
            <a:ext cx="194553" cy="194553"/>
          </a:xfrm>
          <a:custGeom>
            <a:rect b="b" l="l" r="r" t="t"/>
            <a:pathLst>
              <a:path extrusionOk="0" h="194553" w="194553">
                <a:moveTo>
                  <a:pt x="97277" y="0"/>
                </a:moveTo>
                <a:cubicBezTo>
                  <a:pt x="150965" y="0"/>
                  <a:pt x="194553" y="43588"/>
                  <a:pt x="194553" y="97277"/>
                </a:cubicBezTo>
                <a:cubicBezTo>
                  <a:pt x="194553" y="150965"/>
                  <a:pt x="150965" y="194553"/>
                  <a:pt x="97277" y="194553"/>
                </a:cubicBezTo>
                <a:cubicBezTo>
                  <a:pt x="43588" y="194553"/>
                  <a:pt x="0" y="150965"/>
                  <a:pt x="0" y="97277"/>
                </a:cubicBezTo>
                <a:cubicBezTo>
                  <a:pt x="0" y="43588"/>
                  <a:pt x="43588" y="0"/>
                  <a:pt x="97277" y="0"/>
                </a:cubicBezTo>
                <a:close/>
                <a:moveTo>
                  <a:pt x="88157" y="45598"/>
                </a:moveTo>
                <a:lnTo>
                  <a:pt x="88157" y="97277"/>
                </a:lnTo>
                <a:cubicBezTo>
                  <a:pt x="88157" y="100316"/>
                  <a:pt x="89677" y="103166"/>
                  <a:pt x="92223" y="104876"/>
                </a:cubicBezTo>
                <a:lnTo>
                  <a:pt x="128701" y="129195"/>
                </a:lnTo>
                <a:cubicBezTo>
                  <a:pt x="132881" y="132007"/>
                  <a:pt x="138543" y="130867"/>
                  <a:pt x="141355" y="126650"/>
                </a:cubicBezTo>
                <a:cubicBezTo>
                  <a:pt x="144167" y="122432"/>
                  <a:pt x="143027" y="116808"/>
                  <a:pt x="138809" y="113996"/>
                </a:cubicBezTo>
                <a:lnTo>
                  <a:pt x="106396" y="92413"/>
                </a:lnTo>
                <a:lnTo>
                  <a:pt x="106396" y="45598"/>
                </a:lnTo>
                <a:cubicBezTo>
                  <a:pt x="106396" y="40545"/>
                  <a:pt x="102330" y="36479"/>
                  <a:pt x="97277" y="36479"/>
                </a:cubicBezTo>
                <a:cubicBezTo>
                  <a:pt x="92223" y="36479"/>
                  <a:pt x="88157" y="40545"/>
                  <a:pt x="88157" y="45598"/>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9"/>
          <p:cNvSpPr/>
          <p:nvPr/>
        </p:nvSpPr>
        <p:spPr>
          <a:xfrm>
            <a:off x="1134894" y="2861743"/>
            <a:ext cx="1661809" cy="25940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532">
                <a:solidFill>
                  <a:srgbClr val="0D1B4C"/>
                </a:solidFill>
                <a:latin typeface="EB Garamond"/>
                <a:ea typeface="EB Garamond"/>
                <a:cs typeface="EB Garamond"/>
                <a:sym typeface="EB Garamond"/>
              </a:rPr>
              <a:t>Tiết </a:t>
            </a:r>
            <a:r>
              <a:rPr b="1" lang="en-US" sz="1532">
                <a:solidFill>
                  <a:srgbClr val="0D1B4C"/>
                </a:solidFill>
                <a:latin typeface="EB Garamond"/>
                <a:ea typeface="EB Garamond"/>
                <a:cs typeface="EB Garamond"/>
                <a:sym typeface="EB Garamond"/>
              </a:rPr>
              <a:t>kiệm</a:t>
            </a:r>
            <a:r>
              <a:rPr b="1" lang="en-US" sz="1532">
                <a:solidFill>
                  <a:srgbClr val="0D1B4C"/>
                </a:solidFill>
                <a:latin typeface="EB Garamond"/>
                <a:ea typeface="EB Garamond"/>
                <a:cs typeface="EB Garamond"/>
                <a:sym typeface="EB Garamond"/>
              </a:rPr>
              <a:t> thời gian</a:t>
            </a:r>
            <a:endParaRPr sz="1600">
              <a:solidFill>
                <a:schemeClr val="dk1"/>
              </a:solidFill>
              <a:latin typeface="EB Garamond"/>
              <a:ea typeface="EB Garamond"/>
              <a:cs typeface="EB Garamond"/>
              <a:sym typeface="EB Garamond"/>
            </a:endParaRPr>
          </a:p>
        </p:txBody>
      </p:sp>
      <p:sp>
        <p:nvSpPr>
          <p:cNvPr id="266" name="Google Shape;266;p9"/>
          <p:cNvSpPr/>
          <p:nvPr/>
        </p:nvSpPr>
        <p:spPr>
          <a:xfrm>
            <a:off x="551234" y="3348126"/>
            <a:ext cx="5334000" cy="859277"/>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1C2026"/>
                </a:solidFill>
                <a:latin typeface="EB Garamond"/>
                <a:ea typeface="EB Garamond"/>
                <a:cs typeface="EB Garamond"/>
                <a:sym typeface="EB Garamond"/>
              </a:rPr>
              <a:t>Giảm </a:t>
            </a:r>
            <a:r>
              <a:rPr b="1" lang="en-US" sz="1200">
                <a:solidFill>
                  <a:srgbClr val="295EDF"/>
                </a:solidFill>
                <a:latin typeface="EB Garamond"/>
                <a:ea typeface="EB Garamond"/>
                <a:cs typeface="EB Garamond"/>
                <a:sym typeface="EB Garamond"/>
              </a:rPr>
              <a:t>60-80% thời gian</a:t>
            </a:r>
            <a:r>
              <a:rPr lang="en-US" sz="1200">
                <a:solidFill>
                  <a:srgbClr val="1C2026"/>
                </a:solidFill>
                <a:latin typeface="EB Garamond"/>
                <a:ea typeface="EB Garamond"/>
                <a:cs typeface="EB Garamond"/>
                <a:sym typeface="EB Garamond"/>
              </a:rPr>
              <a:t> tìm kiếm thông tin nhờ tích hợp mọi thứ vào một nơi. Không cần chuyển đổi giữa nhiều nền tảng, tất cả chỉ cách một click chuột.</a:t>
            </a:r>
            <a:endParaRPr sz="1200">
              <a:solidFill>
                <a:schemeClr val="dk1"/>
              </a:solidFill>
              <a:latin typeface="EB Garamond"/>
              <a:ea typeface="EB Garamond"/>
              <a:cs typeface="EB Garamond"/>
              <a:sym typeface="EB Garamond"/>
            </a:endParaRPr>
          </a:p>
        </p:txBody>
      </p:sp>
      <p:sp>
        <p:nvSpPr>
          <p:cNvPr id="267" name="Google Shape;267;p9"/>
          <p:cNvSpPr/>
          <p:nvPr/>
        </p:nvSpPr>
        <p:spPr>
          <a:xfrm>
            <a:off x="551234" y="4337232"/>
            <a:ext cx="5269149" cy="745787"/>
          </a:xfrm>
          <a:custGeom>
            <a:rect b="b" l="l" r="r" t="t"/>
            <a:pathLst>
              <a:path extrusionOk="0" h="745787" w="5269149">
                <a:moveTo>
                  <a:pt x="97273" y="0"/>
                </a:moveTo>
                <a:lnTo>
                  <a:pt x="5171876" y="0"/>
                </a:lnTo>
                <a:cubicBezTo>
                  <a:pt x="5225598" y="0"/>
                  <a:pt x="5269149" y="43551"/>
                  <a:pt x="5269149" y="97273"/>
                </a:cubicBezTo>
                <a:lnTo>
                  <a:pt x="5269149" y="648514"/>
                </a:lnTo>
                <a:cubicBezTo>
                  <a:pt x="5269149" y="702237"/>
                  <a:pt x="5225598" y="745787"/>
                  <a:pt x="5171876" y="745787"/>
                </a:cubicBezTo>
                <a:lnTo>
                  <a:pt x="97273" y="745787"/>
                </a:lnTo>
                <a:cubicBezTo>
                  <a:pt x="43587" y="745787"/>
                  <a:pt x="0" y="702201"/>
                  <a:pt x="0" y="648514"/>
                </a:cubicBezTo>
                <a:lnTo>
                  <a:pt x="0" y="97273"/>
                </a:lnTo>
                <a:cubicBezTo>
                  <a:pt x="0" y="43587"/>
                  <a:pt x="43587" y="0"/>
                  <a:pt x="97273" y="0"/>
                </a:cubicBezTo>
                <a:close/>
              </a:path>
            </a:pathLst>
          </a:custGeom>
          <a:solidFill>
            <a:srgbClr val="295ED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9"/>
          <p:cNvSpPr/>
          <p:nvPr/>
        </p:nvSpPr>
        <p:spPr>
          <a:xfrm>
            <a:off x="1071309" y="4466934"/>
            <a:ext cx="1475362" cy="29183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915">
                <a:solidFill>
                  <a:srgbClr val="295EDF"/>
                </a:solidFill>
                <a:latin typeface="Quattrocento Sans"/>
                <a:ea typeface="Quattrocento Sans"/>
                <a:cs typeface="Quattrocento Sans"/>
                <a:sym typeface="Quattrocento Sans"/>
              </a:rPr>
              <a:t>60-80%</a:t>
            </a:r>
            <a:endParaRPr sz="1600">
              <a:solidFill>
                <a:schemeClr val="dk1"/>
              </a:solidFill>
              <a:latin typeface="Calibri"/>
              <a:ea typeface="Calibri"/>
              <a:cs typeface="Calibri"/>
              <a:sym typeface="Calibri"/>
            </a:endParaRPr>
          </a:p>
        </p:txBody>
      </p:sp>
      <p:sp>
        <p:nvSpPr>
          <p:cNvPr id="269" name="Google Shape;269;p9"/>
          <p:cNvSpPr/>
          <p:nvPr/>
        </p:nvSpPr>
        <p:spPr>
          <a:xfrm>
            <a:off x="1099682" y="4758763"/>
            <a:ext cx="1418617" cy="194553"/>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021">
                <a:solidFill>
                  <a:srgbClr val="1C2026"/>
                </a:solidFill>
                <a:latin typeface="Quattrocento Sans"/>
                <a:ea typeface="Quattrocento Sans"/>
                <a:cs typeface="Quattrocento Sans"/>
                <a:sym typeface="Quattrocento Sans"/>
              </a:rPr>
              <a:t>Thời gian được tiết kiệm</a:t>
            </a:r>
            <a:endParaRPr sz="1600">
              <a:solidFill>
                <a:schemeClr val="dk1"/>
              </a:solidFill>
              <a:latin typeface="Calibri"/>
              <a:ea typeface="Calibri"/>
              <a:cs typeface="Calibri"/>
              <a:sym typeface="Calibri"/>
            </a:endParaRPr>
          </a:p>
        </p:txBody>
      </p:sp>
      <p:sp>
        <p:nvSpPr>
          <p:cNvPr id="270" name="Google Shape;270;p9"/>
          <p:cNvSpPr/>
          <p:nvPr/>
        </p:nvSpPr>
        <p:spPr>
          <a:xfrm>
            <a:off x="3389355" y="4515572"/>
            <a:ext cx="8106" cy="389106"/>
          </a:xfrm>
          <a:custGeom>
            <a:rect b="b" l="l" r="r" t="t"/>
            <a:pathLst>
              <a:path extrusionOk="0" h="389106" w="8106">
                <a:moveTo>
                  <a:pt x="0" y="0"/>
                </a:moveTo>
                <a:lnTo>
                  <a:pt x="8106" y="0"/>
                </a:lnTo>
                <a:lnTo>
                  <a:pt x="8106" y="389106"/>
                </a:lnTo>
                <a:lnTo>
                  <a:pt x="0" y="389106"/>
                </a:lnTo>
                <a:lnTo>
                  <a:pt x="0" y="0"/>
                </a:lnTo>
                <a:close/>
              </a:path>
            </a:pathLst>
          </a:custGeom>
          <a:solidFill>
            <a:srgbClr val="295EDF">
              <a:alpha val="29803"/>
            </a:srgbClr>
          </a:solidFill>
          <a:ln>
            <a:noFill/>
          </a:ln>
        </p:spPr>
      </p:sp>
      <p:sp>
        <p:nvSpPr>
          <p:cNvPr id="271" name="Google Shape;271;p9"/>
          <p:cNvSpPr/>
          <p:nvPr/>
        </p:nvSpPr>
        <p:spPr>
          <a:xfrm>
            <a:off x="4239132" y="4466934"/>
            <a:ext cx="1061936" cy="29183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915">
                <a:solidFill>
                  <a:srgbClr val="295EDF"/>
                </a:solidFill>
                <a:latin typeface="Quattrocento Sans"/>
                <a:ea typeface="Quattrocento Sans"/>
                <a:cs typeface="Quattrocento Sans"/>
                <a:sym typeface="Quattrocento Sans"/>
              </a:rPr>
              <a:t>24/7</a:t>
            </a:r>
            <a:endParaRPr sz="1600">
              <a:solidFill>
                <a:schemeClr val="dk1"/>
              </a:solidFill>
              <a:latin typeface="Calibri"/>
              <a:ea typeface="Calibri"/>
              <a:cs typeface="Calibri"/>
              <a:sym typeface="Calibri"/>
            </a:endParaRPr>
          </a:p>
        </p:txBody>
      </p:sp>
      <p:sp>
        <p:nvSpPr>
          <p:cNvPr id="272" name="Google Shape;272;p9"/>
          <p:cNvSpPr/>
          <p:nvPr/>
        </p:nvSpPr>
        <p:spPr>
          <a:xfrm>
            <a:off x="4267504" y="4758763"/>
            <a:ext cx="1005191" cy="194553"/>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021">
                <a:solidFill>
                  <a:srgbClr val="1C2026"/>
                </a:solidFill>
                <a:latin typeface="Quattrocento Sans"/>
                <a:ea typeface="Quattrocento Sans"/>
                <a:cs typeface="Quattrocento Sans"/>
                <a:sym typeface="Quattrocento Sans"/>
              </a:rPr>
              <a:t>Truy cập mọi lúc</a:t>
            </a:r>
            <a:endParaRPr sz="1600">
              <a:solidFill>
                <a:schemeClr val="dk1"/>
              </a:solidFill>
              <a:latin typeface="Calibri"/>
              <a:ea typeface="Calibri"/>
              <a:cs typeface="Calibri"/>
              <a:sym typeface="Calibri"/>
            </a:endParaRPr>
          </a:p>
        </p:txBody>
      </p:sp>
      <p:sp>
        <p:nvSpPr>
          <p:cNvPr id="273" name="Google Shape;273;p9"/>
          <p:cNvSpPr/>
          <p:nvPr/>
        </p:nvSpPr>
        <p:spPr>
          <a:xfrm>
            <a:off x="6193277" y="2569913"/>
            <a:ext cx="5674468" cy="2707532"/>
          </a:xfrm>
          <a:custGeom>
            <a:rect b="b" l="l" r="r" t="t"/>
            <a:pathLst>
              <a:path extrusionOk="0" h="2707532" w="5674468">
                <a:moveTo>
                  <a:pt x="32426" y="0"/>
                </a:moveTo>
                <a:lnTo>
                  <a:pt x="5544777" y="0"/>
                </a:lnTo>
                <a:cubicBezTo>
                  <a:pt x="5616404" y="0"/>
                  <a:pt x="5674468" y="58065"/>
                  <a:pt x="5674468" y="129691"/>
                </a:cubicBezTo>
                <a:lnTo>
                  <a:pt x="5674468" y="2577841"/>
                </a:lnTo>
                <a:cubicBezTo>
                  <a:pt x="5674468" y="2649467"/>
                  <a:pt x="5616404" y="2707532"/>
                  <a:pt x="5544777" y="2707532"/>
                </a:cubicBezTo>
                <a:lnTo>
                  <a:pt x="32426" y="2707532"/>
                </a:lnTo>
                <a:cubicBezTo>
                  <a:pt x="14517" y="2707532"/>
                  <a:pt x="0" y="2693015"/>
                  <a:pt x="0" y="2675106"/>
                </a:cubicBezTo>
                <a:lnTo>
                  <a:pt x="0" y="32426"/>
                </a:lnTo>
                <a:cubicBezTo>
                  <a:pt x="0" y="14517"/>
                  <a:pt x="14517" y="0"/>
                  <a:pt x="32426" y="0"/>
                </a:cubicBezTo>
                <a:close/>
              </a:path>
            </a:pathLst>
          </a:custGeom>
          <a:solidFill>
            <a:srgbClr val="FFFFFF"/>
          </a:solidFill>
          <a:ln>
            <a:noFill/>
          </a:ln>
          <a:effectLst>
            <a:outerShdw blurRad="48638" rotWithShape="0" algn="bl" dir="5400000" dist="32426">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9"/>
          <p:cNvSpPr/>
          <p:nvPr/>
        </p:nvSpPr>
        <p:spPr>
          <a:xfrm>
            <a:off x="6193277" y="2569913"/>
            <a:ext cx="32426" cy="2707532"/>
          </a:xfrm>
          <a:custGeom>
            <a:rect b="b" l="l" r="r" t="t"/>
            <a:pathLst>
              <a:path extrusionOk="0" h="2707532" w="32426">
                <a:moveTo>
                  <a:pt x="32426" y="0"/>
                </a:moveTo>
                <a:lnTo>
                  <a:pt x="32426" y="0"/>
                </a:lnTo>
                <a:lnTo>
                  <a:pt x="32426" y="2707532"/>
                </a:lnTo>
                <a:lnTo>
                  <a:pt x="32426" y="2707532"/>
                </a:lnTo>
                <a:cubicBezTo>
                  <a:pt x="14517" y="2707532"/>
                  <a:pt x="0" y="2693015"/>
                  <a:pt x="0" y="2675106"/>
                </a:cubicBezTo>
                <a:lnTo>
                  <a:pt x="0" y="32426"/>
                </a:lnTo>
                <a:cubicBezTo>
                  <a:pt x="0" y="14517"/>
                  <a:pt x="14517" y="0"/>
                  <a:pt x="32426"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9"/>
          <p:cNvSpPr/>
          <p:nvPr/>
        </p:nvSpPr>
        <p:spPr>
          <a:xfrm>
            <a:off x="6404043" y="2764467"/>
            <a:ext cx="453957" cy="453957"/>
          </a:xfrm>
          <a:custGeom>
            <a:rect b="b" l="l" r="r" t="t"/>
            <a:pathLst>
              <a:path extrusionOk="0" h="453957" w="453957">
                <a:moveTo>
                  <a:pt x="226979" y="0"/>
                </a:moveTo>
                <a:lnTo>
                  <a:pt x="226979" y="0"/>
                </a:lnTo>
                <a:cubicBezTo>
                  <a:pt x="352252" y="0"/>
                  <a:pt x="453957" y="101706"/>
                  <a:pt x="453957" y="226979"/>
                </a:cubicBezTo>
                <a:lnTo>
                  <a:pt x="453957" y="226979"/>
                </a:lnTo>
                <a:cubicBezTo>
                  <a:pt x="453957" y="352252"/>
                  <a:pt x="352252" y="453957"/>
                  <a:pt x="226979" y="453957"/>
                </a:cubicBezTo>
                <a:lnTo>
                  <a:pt x="226979" y="453957"/>
                </a:lnTo>
                <a:cubicBezTo>
                  <a:pt x="101706" y="453957"/>
                  <a:pt x="0" y="352252"/>
                  <a:pt x="0" y="226979"/>
                </a:cubicBezTo>
                <a:lnTo>
                  <a:pt x="0" y="226979"/>
                </a:lnTo>
                <a:cubicBezTo>
                  <a:pt x="0" y="101706"/>
                  <a:pt x="101706" y="0"/>
                  <a:pt x="226979"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9"/>
          <p:cNvSpPr/>
          <p:nvPr/>
        </p:nvSpPr>
        <p:spPr>
          <a:xfrm>
            <a:off x="6533745" y="2894169"/>
            <a:ext cx="194553" cy="194553"/>
          </a:xfrm>
          <a:custGeom>
            <a:rect b="b" l="l" r="r" t="t"/>
            <a:pathLst>
              <a:path extrusionOk="0" h="194553" w="194553">
                <a:moveTo>
                  <a:pt x="151425" y="4636"/>
                </a:moveTo>
                <a:lnTo>
                  <a:pt x="117910" y="38151"/>
                </a:lnTo>
                <a:lnTo>
                  <a:pt x="156403" y="76643"/>
                </a:lnTo>
                <a:lnTo>
                  <a:pt x="189917" y="43128"/>
                </a:lnTo>
                <a:cubicBezTo>
                  <a:pt x="192881" y="40127"/>
                  <a:pt x="194553" y="36099"/>
                  <a:pt x="194553" y="31919"/>
                </a:cubicBezTo>
                <a:cubicBezTo>
                  <a:pt x="194553" y="27739"/>
                  <a:pt x="192881" y="23711"/>
                  <a:pt x="189917" y="20709"/>
                </a:cubicBezTo>
                <a:lnTo>
                  <a:pt x="173844" y="4636"/>
                </a:lnTo>
                <a:cubicBezTo>
                  <a:pt x="170842" y="1672"/>
                  <a:pt x="166814" y="0"/>
                  <a:pt x="162634" y="0"/>
                </a:cubicBezTo>
                <a:cubicBezTo>
                  <a:pt x="158454" y="0"/>
                  <a:pt x="154427" y="1672"/>
                  <a:pt x="151425" y="4636"/>
                </a:cubicBezTo>
                <a:close/>
                <a:moveTo>
                  <a:pt x="105028" y="51032"/>
                </a:moveTo>
                <a:lnTo>
                  <a:pt x="4636" y="151425"/>
                </a:lnTo>
                <a:cubicBezTo>
                  <a:pt x="1672" y="154427"/>
                  <a:pt x="0" y="158454"/>
                  <a:pt x="0" y="162634"/>
                </a:cubicBezTo>
                <a:cubicBezTo>
                  <a:pt x="0" y="166814"/>
                  <a:pt x="1672" y="170842"/>
                  <a:pt x="4636" y="173844"/>
                </a:cubicBezTo>
                <a:lnTo>
                  <a:pt x="20709" y="189917"/>
                </a:lnTo>
                <a:cubicBezTo>
                  <a:pt x="23711" y="192881"/>
                  <a:pt x="27739" y="194553"/>
                  <a:pt x="31919" y="194553"/>
                </a:cubicBezTo>
                <a:cubicBezTo>
                  <a:pt x="36099" y="194553"/>
                  <a:pt x="40127" y="192881"/>
                  <a:pt x="43128" y="189917"/>
                </a:cubicBezTo>
                <a:lnTo>
                  <a:pt x="143521" y="89525"/>
                </a:lnTo>
                <a:lnTo>
                  <a:pt x="105028" y="51032"/>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9"/>
          <p:cNvSpPr/>
          <p:nvPr/>
        </p:nvSpPr>
        <p:spPr>
          <a:xfrm>
            <a:off x="6987702" y="2861743"/>
            <a:ext cx="2002277" cy="259404"/>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532">
                <a:solidFill>
                  <a:srgbClr val="0D1B4C"/>
                </a:solidFill>
                <a:latin typeface="EB Garamond"/>
                <a:ea typeface="EB Garamond"/>
                <a:cs typeface="EB Garamond"/>
                <a:sym typeface="EB Garamond"/>
              </a:rPr>
              <a:t>Trải nghiệm mượt mà</a:t>
            </a:r>
            <a:endParaRPr sz="1600">
              <a:solidFill>
                <a:schemeClr val="dk1"/>
              </a:solidFill>
              <a:latin typeface="EB Garamond"/>
              <a:ea typeface="EB Garamond"/>
              <a:cs typeface="EB Garamond"/>
              <a:sym typeface="EB Garamond"/>
            </a:endParaRPr>
          </a:p>
        </p:txBody>
      </p:sp>
      <p:sp>
        <p:nvSpPr>
          <p:cNvPr id="278" name="Google Shape;278;p9"/>
          <p:cNvSpPr/>
          <p:nvPr/>
        </p:nvSpPr>
        <p:spPr>
          <a:xfrm>
            <a:off x="6404043" y="3348126"/>
            <a:ext cx="5334000" cy="859277"/>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200">
                <a:solidFill>
                  <a:srgbClr val="1C2026"/>
                </a:solidFill>
                <a:latin typeface="EB Garamond"/>
                <a:ea typeface="EB Garamond"/>
                <a:cs typeface="EB Garamond"/>
                <a:sym typeface="EB Garamond"/>
              </a:rPr>
              <a:t>Một </a:t>
            </a:r>
            <a:r>
              <a:rPr b="1" lang="en-US" sz="1200">
                <a:solidFill>
                  <a:srgbClr val="FF9045"/>
                </a:solidFill>
                <a:latin typeface="EB Garamond"/>
                <a:ea typeface="EB Garamond"/>
                <a:cs typeface="EB Garamond"/>
                <a:sym typeface="EB Garamond"/>
              </a:rPr>
              <a:t>điểm truy cập</a:t>
            </a:r>
            <a:r>
              <a:rPr lang="en-US" sz="1200">
                <a:solidFill>
                  <a:srgbClr val="1C2026"/>
                </a:solidFill>
                <a:latin typeface="EB Garamond"/>
                <a:ea typeface="EB Garamond"/>
                <a:cs typeface="EB Garamond"/>
                <a:sym typeface="EB Garamond"/>
              </a:rPr>
              <a:t> cho mọi nhu cầu: từ học tập, hành chính đến sự kiện. Giao diện thân thiện, dễ sử dụng, tối ưu hóa cho cả máy tính và điện thoại.</a:t>
            </a:r>
            <a:endParaRPr sz="1200">
              <a:solidFill>
                <a:schemeClr val="dk1"/>
              </a:solidFill>
              <a:latin typeface="EB Garamond"/>
              <a:ea typeface="EB Garamond"/>
              <a:cs typeface="EB Garamond"/>
              <a:sym typeface="EB Garamond"/>
            </a:endParaRPr>
          </a:p>
        </p:txBody>
      </p:sp>
      <p:sp>
        <p:nvSpPr>
          <p:cNvPr id="279" name="Google Shape;279;p9"/>
          <p:cNvSpPr/>
          <p:nvPr/>
        </p:nvSpPr>
        <p:spPr>
          <a:xfrm>
            <a:off x="6404043" y="4337232"/>
            <a:ext cx="5269149" cy="745787"/>
          </a:xfrm>
          <a:custGeom>
            <a:rect b="b" l="l" r="r" t="t"/>
            <a:pathLst>
              <a:path extrusionOk="0" h="745787" w="5269149">
                <a:moveTo>
                  <a:pt x="97273" y="0"/>
                </a:moveTo>
                <a:lnTo>
                  <a:pt x="5171876" y="0"/>
                </a:lnTo>
                <a:cubicBezTo>
                  <a:pt x="5225598" y="0"/>
                  <a:pt x="5269149" y="43551"/>
                  <a:pt x="5269149" y="97273"/>
                </a:cubicBezTo>
                <a:lnTo>
                  <a:pt x="5269149" y="648514"/>
                </a:lnTo>
                <a:cubicBezTo>
                  <a:pt x="5269149" y="702237"/>
                  <a:pt x="5225598" y="745787"/>
                  <a:pt x="5171876" y="745787"/>
                </a:cubicBezTo>
                <a:lnTo>
                  <a:pt x="97273" y="745787"/>
                </a:lnTo>
                <a:cubicBezTo>
                  <a:pt x="43587" y="745787"/>
                  <a:pt x="0" y="702201"/>
                  <a:pt x="0" y="648514"/>
                </a:cubicBezTo>
                <a:lnTo>
                  <a:pt x="0" y="97273"/>
                </a:lnTo>
                <a:cubicBezTo>
                  <a:pt x="0" y="43587"/>
                  <a:pt x="43587" y="0"/>
                  <a:pt x="97273" y="0"/>
                </a:cubicBezTo>
                <a:close/>
              </a:path>
            </a:pathLst>
          </a:custGeom>
          <a:solidFill>
            <a:srgbClr val="FF9045">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9"/>
          <p:cNvSpPr/>
          <p:nvPr/>
        </p:nvSpPr>
        <p:spPr>
          <a:xfrm>
            <a:off x="6977316" y="4466934"/>
            <a:ext cx="1459149" cy="29183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915">
                <a:solidFill>
                  <a:srgbClr val="FF9045"/>
                </a:solidFill>
                <a:latin typeface="Quattrocento Sans"/>
                <a:ea typeface="Quattrocento Sans"/>
                <a:cs typeface="Quattrocento Sans"/>
                <a:sym typeface="Quattrocento Sans"/>
              </a:rPr>
              <a:t>1</a:t>
            </a:r>
            <a:endParaRPr sz="1600">
              <a:solidFill>
                <a:schemeClr val="dk1"/>
              </a:solidFill>
              <a:latin typeface="Calibri"/>
              <a:ea typeface="Calibri"/>
              <a:cs typeface="Calibri"/>
              <a:sym typeface="Calibri"/>
            </a:endParaRPr>
          </a:p>
        </p:txBody>
      </p:sp>
      <p:sp>
        <p:nvSpPr>
          <p:cNvPr id="281" name="Google Shape;281;p9"/>
          <p:cNvSpPr/>
          <p:nvPr/>
        </p:nvSpPr>
        <p:spPr>
          <a:xfrm>
            <a:off x="7005688" y="4758763"/>
            <a:ext cx="1402404" cy="194553"/>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021">
                <a:solidFill>
                  <a:srgbClr val="1C2026"/>
                </a:solidFill>
                <a:latin typeface="Quattrocento Sans"/>
                <a:ea typeface="Quattrocento Sans"/>
                <a:cs typeface="Quattrocento Sans"/>
                <a:sym typeface="Quattrocento Sans"/>
              </a:rPr>
              <a:t>Điểm truy cập duy nhất</a:t>
            </a:r>
            <a:endParaRPr sz="1600">
              <a:solidFill>
                <a:schemeClr val="dk1"/>
              </a:solidFill>
              <a:latin typeface="Calibri"/>
              <a:ea typeface="Calibri"/>
              <a:cs typeface="Calibri"/>
              <a:sym typeface="Calibri"/>
            </a:endParaRPr>
          </a:p>
        </p:txBody>
      </p:sp>
      <p:sp>
        <p:nvSpPr>
          <p:cNvPr id="282" name="Google Shape;282;p9"/>
          <p:cNvSpPr/>
          <p:nvPr/>
        </p:nvSpPr>
        <p:spPr>
          <a:xfrm>
            <a:off x="9381492" y="4515572"/>
            <a:ext cx="8106" cy="389106"/>
          </a:xfrm>
          <a:custGeom>
            <a:rect b="b" l="l" r="r" t="t"/>
            <a:pathLst>
              <a:path extrusionOk="0" h="389106" w="8106">
                <a:moveTo>
                  <a:pt x="0" y="0"/>
                </a:moveTo>
                <a:lnTo>
                  <a:pt x="8106" y="0"/>
                </a:lnTo>
                <a:lnTo>
                  <a:pt x="8106" y="389106"/>
                </a:lnTo>
                <a:lnTo>
                  <a:pt x="0" y="389106"/>
                </a:lnTo>
                <a:lnTo>
                  <a:pt x="0" y="0"/>
                </a:lnTo>
                <a:close/>
              </a:path>
            </a:pathLst>
          </a:custGeom>
          <a:solidFill>
            <a:srgbClr val="FF9045">
              <a:alpha val="29803"/>
            </a:srgbClr>
          </a:solidFill>
          <a:ln>
            <a:noFill/>
          </a:ln>
        </p:spPr>
      </p:sp>
      <p:sp>
        <p:nvSpPr>
          <p:cNvPr id="283" name="Google Shape;283;p9"/>
          <p:cNvSpPr/>
          <p:nvPr/>
        </p:nvSpPr>
        <p:spPr>
          <a:xfrm>
            <a:off x="10337538" y="4466934"/>
            <a:ext cx="762000" cy="291830"/>
          </a:xfrm>
          <a:prstGeom prst="rect">
            <a:avLst/>
          </a:prstGeom>
          <a:no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lang="en-US" sz="1915">
                <a:solidFill>
                  <a:srgbClr val="FF9045"/>
                </a:solidFill>
                <a:latin typeface="Quattrocento Sans"/>
                <a:ea typeface="Quattrocento Sans"/>
                <a:cs typeface="Quattrocento Sans"/>
                <a:sym typeface="Quattrocento Sans"/>
              </a:rPr>
              <a:t>100%</a:t>
            </a:r>
            <a:endParaRPr sz="1600">
              <a:solidFill>
                <a:schemeClr val="dk1"/>
              </a:solidFill>
              <a:latin typeface="Calibri"/>
              <a:ea typeface="Calibri"/>
              <a:cs typeface="Calibri"/>
              <a:sym typeface="Calibri"/>
            </a:endParaRPr>
          </a:p>
        </p:txBody>
      </p:sp>
      <p:sp>
        <p:nvSpPr>
          <p:cNvPr id="284" name="Google Shape;284;p9"/>
          <p:cNvSpPr/>
          <p:nvPr/>
        </p:nvSpPr>
        <p:spPr>
          <a:xfrm>
            <a:off x="10365911" y="4758763"/>
            <a:ext cx="705255" cy="194553"/>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021">
                <a:solidFill>
                  <a:srgbClr val="1C2026"/>
                </a:solidFill>
                <a:latin typeface="Quattrocento Sans"/>
                <a:ea typeface="Quattrocento Sans"/>
                <a:cs typeface="Quattrocento Sans"/>
                <a:sym typeface="Quattrocento Sans"/>
              </a:rPr>
              <a:t>Responsive</a:t>
            </a:r>
            <a:endParaRPr sz="1600">
              <a:solidFill>
                <a:schemeClr val="dk1"/>
              </a:solidFill>
              <a:latin typeface="Calibri"/>
              <a:ea typeface="Calibri"/>
              <a:cs typeface="Calibri"/>
              <a:sym typeface="Calibri"/>
            </a:endParaRPr>
          </a:p>
        </p:txBody>
      </p:sp>
      <p:sp>
        <p:nvSpPr>
          <p:cNvPr id="285" name="Google Shape;285;p9"/>
          <p:cNvSpPr/>
          <p:nvPr/>
        </p:nvSpPr>
        <p:spPr>
          <a:xfrm>
            <a:off x="324255" y="7166423"/>
            <a:ext cx="11543489" cy="567447"/>
          </a:xfrm>
          <a:custGeom>
            <a:rect b="b" l="l" r="r" t="t"/>
            <a:pathLst>
              <a:path extrusionOk="0" h="567447" w="11543489">
                <a:moveTo>
                  <a:pt x="129701" y="0"/>
                </a:moveTo>
                <a:lnTo>
                  <a:pt x="11413788" y="0"/>
                </a:lnTo>
                <a:cubicBezTo>
                  <a:pt x="11485420" y="0"/>
                  <a:pt x="11543489" y="58069"/>
                  <a:pt x="11543489" y="129701"/>
                </a:cubicBezTo>
                <a:lnTo>
                  <a:pt x="11543489" y="437745"/>
                </a:lnTo>
                <a:cubicBezTo>
                  <a:pt x="11543489" y="509378"/>
                  <a:pt x="11485420" y="567447"/>
                  <a:pt x="11413788" y="567447"/>
                </a:cubicBezTo>
                <a:lnTo>
                  <a:pt x="129701" y="567447"/>
                </a:lnTo>
                <a:cubicBezTo>
                  <a:pt x="58069" y="567447"/>
                  <a:pt x="0" y="509378"/>
                  <a:pt x="0" y="437745"/>
                </a:cubicBezTo>
                <a:lnTo>
                  <a:pt x="0" y="129701"/>
                </a:lnTo>
                <a:cubicBezTo>
                  <a:pt x="0" y="58117"/>
                  <a:pt x="58117" y="0"/>
                  <a:pt x="129701" y="0"/>
                </a:cubicBezTo>
                <a:close/>
              </a:path>
            </a:pathLst>
          </a:custGeom>
          <a:gradFill>
            <a:gsLst>
              <a:gs pos="0">
                <a:srgbClr val="0D1B4C"/>
              </a:gs>
              <a:gs pos="100000">
                <a:srgbClr val="295EDF"/>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6" name="Google Shape;286;p9"/>
          <p:cNvSpPr/>
          <p:nvPr/>
        </p:nvSpPr>
        <p:spPr>
          <a:xfrm>
            <a:off x="518809" y="7328550"/>
            <a:ext cx="243191" cy="243191"/>
          </a:xfrm>
          <a:custGeom>
            <a:rect b="b" l="l" r="r" t="t"/>
            <a:pathLst>
              <a:path extrusionOk="0" h="243191" w="243191">
                <a:moveTo>
                  <a:pt x="30399" y="30399"/>
                </a:moveTo>
                <a:cubicBezTo>
                  <a:pt x="30399" y="21992"/>
                  <a:pt x="23607" y="15199"/>
                  <a:pt x="15199" y="15199"/>
                </a:cubicBezTo>
                <a:cubicBezTo>
                  <a:pt x="6792" y="15199"/>
                  <a:pt x="0" y="21992"/>
                  <a:pt x="0" y="30399"/>
                </a:cubicBezTo>
                <a:lnTo>
                  <a:pt x="0" y="189993"/>
                </a:lnTo>
                <a:cubicBezTo>
                  <a:pt x="0" y="210988"/>
                  <a:pt x="17004" y="227992"/>
                  <a:pt x="37999" y="227992"/>
                </a:cubicBezTo>
                <a:lnTo>
                  <a:pt x="227992" y="227992"/>
                </a:lnTo>
                <a:cubicBezTo>
                  <a:pt x="236399" y="227992"/>
                  <a:pt x="243191" y="221200"/>
                  <a:pt x="243191" y="212793"/>
                </a:cubicBezTo>
                <a:cubicBezTo>
                  <a:pt x="243191" y="204385"/>
                  <a:pt x="236399" y="197593"/>
                  <a:pt x="227992" y="197593"/>
                </a:cubicBezTo>
                <a:lnTo>
                  <a:pt x="37999" y="197593"/>
                </a:lnTo>
                <a:cubicBezTo>
                  <a:pt x="33819" y="197593"/>
                  <a:pt x="30399" y="194173"/>
                  <a:pt x="30399" y="189993"/>
                </a:cubicBezTo>
                <a:lnTo>
                  <a:pt x="30399" y="30399"/>
                </a:lnTo>
                <a:close/>
                <a:moveTo>
                  <a:pt x="223527" y="71532"/>
                </a:moveTo>
                <a:cubicBezTo>
                  <a:pt x="229464" y="65595"/>
                  <a:pt x="229464" y="55953"/>
                  <a:pt x="223527" y="50016"/>
                </a:cubicBezTo>
                <a:cubicBezTo>
                  <a:pt x="217590" y="44078"/>
                  <a:pt x="207948" y="44078"/>
                  <a:pt x="202010" y="50016"/>
                </a:cubicBezTo>
                <a:lnTo>
                  <a:pt x="151995" y="100079"/>
                </a:lnTo>
                <a:lnTo>
                  <a:pt x="124731" y="72862"/>
                </a:lnTo>
                <a:cubicBezTo>
                  <a:pt x="118793" y="66925"/>
                  <a:pt x="109151" y="66925"/>
                  <a:pt x="103214" y="72862"/>
                </a:cubicBezTo>
                <a:lnTo>
                  <a:pt x="57615" y="118461"/>
                </a:lnTo>
                <a:cubicBezTo>
                  <a:pt x="51678" y="124398"/>
                  <a:pt x="51678" y="134040"/>
                  <a:pt x="57615" y="139978"/>
                </a:cubicBezTo>
                <a:cubicBezTo>
                  <a:pt x="63553" y="145915"/>
                  <a:pt x="73195" y="145915"/>
                  <a:pt x="79132" y="139978"/>
                </a:cubicBezTo>
                <a:lnTo>
                  <a:pt x="113996" y="105114"/>
                </a:lnTo>
                <a:lnTo>
                  <a:pt x="141260" y="132378"/>
                </a:lnTo>
                <a:cubicBezTo>
                  <a:pt x="147197" y="138315"/>
                  <a:pt x="156840" y="138315"/>
                  <a:pt x="162777" y="132378"/>
                </a:cubicBezTo>
                <a:lnTo>
                  <a:pt x="223575" y="71580"/>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9"/>
          <p:cNvSpPr/>
          <p:nvPr/>
        </p:nvSpPr>
        <p:spPr>
          <a:xfrm>
            <a:off x="920074" y="7336657"/>
            <a:ext cx="7393021" cy="226979"/>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149">
                <a:solidFill>
                  <a:srgbClr val="FFFFFF"/>
                </a:solidFill>
                <a:latin typeface="Quattrocento Sans"/>
                <a:ea typeface="Quattrocento Sans"/>
                <a:cs typeface="Quattrocento Sans"/>
                <a:sym typeface="Quattrocento Sans"/>
              </a:rPr>
              <a:t>Theo khảo sát của meetup.vn: </a:t>
            </a:r>
            <a:r>
              <a:rPr b="1" lang="en-US" sz="1149">
                <a:solidFill>
                  <a:srgbClr val="FF9045"/>
                </a:solidFill>
                <a:latin typeface="Quattrocento Sans"/>
                <a:ea typeface="Quattrocento Sans"/>
                <a:cs typeface="Quattrocento Sans"/>
                <a:sym typeface="Quattrocento Sans"/>
              </a:rPr>
              <a:t>75% sinh viên</a:t>
            </a:r>
            <a:r>
              <a:rPr b="1" lang="en-US" sz="1149">
                <a:solidFill>
                  <a:srgbClr val="FFFFFF"/>
                </a:solidFill>
                <a:latin typeface="Quattrocento Sans"/>
                <a:ea typeface="Quattrocento Sans"/>
                <a:cs typeface="Quattrocento Sans"/>
                <a:sym typeface="Quattrocento Sans"/>
              </a:rPr>
              <a:t> cảm thấy tự tin hơn trong việc quản lý thờigian nhờ có cổng thông tin</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9045"/>
        </a:solidFill>
      </p:bgPr>
    </p:bg>
    <p:spTree>
      <p:nvGrpSpPr>
        <p:cNvPr id="292" name="Shape 292"/>
        <p:cNvGrpSpPr/>
        <p:nvPr/>
      </p:nvGrpSpPr>
      <p:grpSpPr>
        <a:xfrm>
          <a:off x="0" y="0"/>
          <a:ext cx="0" cy="0"/>
          <a:chOff x="0" y="0"/>
          <a:chExt cx="0" cy="0"/>
        </a:xfrm>
      </p:grpSpPr>
      <p:pic>
        <p:nvPicPr>
          <p:cNvPr descr="https://kimi-web-img.moonshot.cn/img/www.shutterstock.com/bc36788ed6b19df8cb7d54098d98c5e4047384c3.jpg" id="293" name="Google Shape;293;p10"/>
          <p:cNvPicPr preferRelativeResize="0"/>
          <p:nvPr/>
        </p:nvPicPr>
        <p:blipFill rotWithShape="1">
          <a:blip r:embed="rId3">
            <a:alphaModFix amt="25000"/>
          </a:blip>
          <a:srcRect b="7813" l="0" r="0" t="7812"/>
          <a:stretch/>
        </p:blipFill>
        <p:spPr>
          <a:xfrm>
            <a:off x="0" y="0"/>
            <a:ext cx="12192000" cy="6858000"/>
          </a:xfrm>
          <a:prstGeom prst="roundRect">
            <a:avLst>
              <a:gd fmla="val 0" name="adj"/>
            </a:avLst>
          </a:prstGeom>
          <a:noFill/>
          <a:ln>
            <a:noFill/>
          </a:ln>
        </p:spPr>
      </p:pic>
      <p:sp>
        <p:nvSpPr>
          <p:cNvPr id="294" name="Google Shape;294;p10"/>
          <p:cNvSpPr/>
          <p:nvPr/>
        </p:nvSpPr>
        <p:spPr>
          <a:xfrm>
            <a:off x="0" y="0"/>
            <a:ext cx="12192000" cy="6858000"/>
          </a:xfrm>
          <a:custGeom>
            <a:rect b="b" l="l" r="r" t="t"/>
            <a:pathLst>
              <a:path extrusionOk="0" h="6858000" w="12192000">
                <a:moveTo>
                  <a:pt x="0" y="0"/>
                </a:moveTo>
                <a:lnTo>
                  <a:pt x="12192000" y="0"/>
                </a:lnTo>
                <a:lnTo>
                  <a:pt x="12192000" y="6858000"/>
                </a:lnTo>
                <a:lnTo>
                  <a:pt x="0" y="6858000"/>
                </a:lnTo>
                <a:lnTo>
                  <a:pt x="0" y="0"/>
                </a:lnTo>
                <a:close/>
              </a:path>
            </a:pathLst>
          </a:custGeom>
          <a:gradFill>
            <a:gsLst>
              <a:gs pos="0">
                <a:srgbClr val="FF9045">
                  <a:alpha val="94901"/>
                </a:srgbClr>
              </a:gs>
              <a:gs pos="100000">
                <a:srgbClr val="0D1B4C">
                  <a:alpha val="89803"/>
                </a:srgbClr>
              </a:gs>
            </a:gsLst>
            <a:lin ang="0" scaled="0"/>
          </a:gradFill>
          <a:ln>
            <a:noFill/>
          </a:ln>
        </p:spPr>
      </p:sp>
      <p:sp>
        <p:nvSpPr>
          <p:cNvPr id="295" name="Google Shape;295;p10"/>
          <p:cNvSpPr/>
          <p:nvPr/>
        </p:nvSpPr>
        <p:spPr>
          <a:xfrm>
            <a:off x="381000" y="1549003"/>
            <a:ext cx="1428750" cy="419100"/>
          </a:xfrm>
          <a:custGeom>
            <a:rect b="b" l="l" r="r" t="t"/>
            <a:pathLst>
              <a:path extrusionOk="0" h="419100" w="1428750">
                <a:moveTo>
                  <a:pt x="209550" y="0"/>
                </a:moveTo>
                <a:lnTo>
                  <a:pt x="1219200" y="0"/>
                </a:lnTo>
                <a:cubicBezTo>
                  <a:pt x="1334854" y="0"/>
                  <a:pt x="1428750" y="93896"/>
                  <a:pt x="1428750" y="209550"/>
                </a:cubicBezTo>
                <a:lnTo>
                  <a:pt x="1428750" y="209550"/>
                </a:lnTo>
                <a:cubicBezTo>
                  <a:pt x="1428750" y="325204"/>
                  <a:pt x="1334854" y="419100"/>
                  <a:pt x="1219200" y="419100"/>
                </a:cubicBezTo>
                <a:lnTo>
                  <a:pt x="209550" y="419100"/>
                </a:lnTo>
                <a:cubicBezTo>
                  <a:pt x="93896" y="419100"/>
                  <a:pt x="0" y="325204"/>
                  <a:pt x="0" y="209550"/>
                </a:cubicBezTo>
                <a:lnTo>
                  <a:pt x="0" y="209550"/>
                </a:lnTo>
                <a:cubicBezTo>
                  <a:pt x="0" y="93896"/>
                  <a:pt x="93896" y="0"/>
                  <a:pt x="209550" y="0"/>
                </a:cubicBezTo>
                <a:close/>
              </a:path>
            </a:pathLst>
          </a:custGeom>
          <a:solidFill>
            <a:srgbClr val="FFFFFF">
              <a:alpha val="20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0"/>
          <p:cNvSpPr/>
          <p:nvPr/>
        </p:nvSpPr>
        <p:spPr>
          <a:xfrm>
            <a:off x="571500" y="1625203"/>
            <a:ext cx="1133475"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350">
                <a:solidFill>
                  <a:srgbClr val="FFFFFF"/>
                </a:solidFill>
                <a:latin typeface="EB Garamond"/>
                <a:ea typeface="EB Garamond"/>
                <a:cs typeface="EB Garamond"/>
                <a:sym typeface="EB Garamond"/>
              </a:rPr>
              <a:t>CHAPTER 03</a:t>
            </a:r>
            <a:endParaRPr sz="1600">
              <a:solidFill>
                <a:schemeClr val="dk1"/>
              </a:solidFill>
              <a:latin typeface="EB Garamond"/>
              <a:ea typeface="EB Garamond"/>
              <a:cs typeface="EB Garamond"/>
              <a:sym typeface="EB Garamond"/>
            </a:endParaRPr>
          </a:p>
        </p:txBody>
      </p:sp>
      <p:sp>
        <p:nvSpPr>
          <p:cNvPr id="297" name="Google Shape;297;p10"/>
          <p:cNvSpPr/>
          <p:nvPr/>
        </p:nvSpPr>
        <p:spPr>
          <a:xfrm>
            <a:off x="3347988" y="2098728"/>
            <a:ext cx="5496000" cy="1828800"/>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n-US" sz="7200">
                <a:solidFill>
                  <a:srgbClr val="FFFFFF"/>
                </a:solidFill>
                <a:latin typeface="EB Garamond"/>
                <a:ea typeface="EB Garamond"/>
                <a:cs typeface="EB Garamond"/>
                <a:sym typeface="EB Garamond"/>
              </a:rPr>
              <a:t>Giải pháp</a:t>
            </a:r>
            <a:endParaRPr sz="1600">
              <a:solidFill>
                <a:schemeClr val="dk1"/>
              </a:solidFill>
              <a:latin typeface="EB Garamond"/>
              <a:ea typeface="EB Garamond"/>
              <a:cs typeface="EB Garamond"/>
              <a:sym typeface="EB Garamond"/>
            </a:endParaRPr>
          </a:p>
          <a:p>
            <a:pPr indent="0" lvl="0" marL="0" marR="0" rtl="0" algn="ctr">
              <a:lnSpc>
                <a:spcPct val="80000"/>
              </a:lnSpc>
              <a:spcBef>
                <a:spcPts val="0"/>
              </a:spcBef>
              <a:spcAft>
                <a:spcPts val="0"/>
              </a:spcAft>
              <a:buNone/>
            </a:pPr>
            <a:r>
              <a:rPr b="1" lang="en-US" sz="7200">
                <a:solidFill>
                  <a:srgbClr val="FFFFFF"/>
                </a:solidFill>
                <a:latin typeface="EB Garamond"/>
                <a:ea typeface="EB Garamond"/>
                <a:cs typeface="EB Garamond"/>
                <a:sym typeface="EB Garamond"/>
              </a:rPr>
              <a:t>&amp; </a:t>
            </a:r>
            <a:endParaRPr b="1" sz="7200">
              <a:solidFill>
                <a:srgbClr val="FFFFFF"/>
              </a:solidFill>
              <a:latin typeface="EB Garamond"/>
              <a:ea typeface="EB Garamond"/>
              <a:cs typeface="EB Garamond"/>
              <a:sym typeface="EB Garamond"/>
            </a:endParaRPr>
          </a:p>
          <a:p>
            <a:pPr indent="0" lvl="0" marL="0" marR="0" rtl="0" algn="ctr">
              <a:lnSpc>
                <a:spcPct val="80000"/>
              </a:lnSpc>
              <a:spcBef>
                <a:spcPts val="0"/>
              </a:spcBef>
              <a:spcAft>
                <a:spcPts val="0"/>
              </a:spcAft>
              <a:buNone/>
            </a:pPr>
            <a:r>
              <a:rPr b="1" lang="en-US" sz="7200">
                <a:solidFill>
                  <a:srgbClr val="FFFFFF"/>
                </a:solidFill>
                <a:latin typeface="EB Garamond"/>
                <a:ea typeface="EB Garamond"/>
                <a:cs typeface="EB Garamond"/>
                <a:sym typeface="EB Garamond"/>
              </a:rPr>
              <a:t>Kế hoạch</a:t>
            </a:r>
            <a:endParaRPr sz="1600">
              <a:solidFill>
                <a:schemeClr val="dk1"/>
              </a:solidFill>
              <a:latin typeface="EB Garamond"/>
              <a:ea typeface="EB Garamond"/>
              <a:cs typeface="EB Garamond"/>
              <a:sym typeface="EB Garamond"/>
            </a:endParaRPr>
          </a:p>
        </p:txBody>
      </p:sp>
      <p:sp>
        <p:nvSpPr>
          <p:cNvPr id="298" name="Google Shape;298;p10"/>
          <p:cNvSpPr/>
          <p:nvPr/>
        </p:nvSpPr>
        <p:spPr>
          <a:xfrm>
            <a:off x="5334000" y="4444603"/>
            <a:ext cx="1524000" cy="57150"/>
          </a:xfrm>
          <a:custGeom>
            <a:rect b="b" l="l" r="r" t="t"/>
            <a:pathLst>
              <a:path extrusionOk="0" h="57150" w="1524000">
                <a:moveTo>
                  <a:pt x="28575" y="0"/>
                </a:moveTo>
                <a:lnTo>
                  <a:pt x="1495425" y="0"/>
                </a:lnTo>
                <a:cubicBezTo>
                  <a:pt x="1511196" y="0"/>
                  <a:pt x="1524000" y="12804"/>
                  <a:pt x="1524000" y="28575"/>
                </a:cubicBezTo>
                <a:lnTo>
                  <a:pt x="1524000" y="28575"/>
                </a:lnTo>
                <a:cubicBezTo>
                  <a:pt x="1524000" y="44346"/>
                  <a:pt x="1511196" y="57150"/>
                  <a:pt x="1495425" y="57150"/>
                </a:cubicBezTo>
                <a:lnTo>
                  <a:pt x="28575" y="57150"/>
                </a:lnTo>
                <a:cubicBezTo>
                  <a:pt x="12804" y="57150"/>
                  <a:pt x="0" y="44346"/>
                  <a:pt x="0" y="28575"/>
                </a:cubicBezTo>
                <a:lnTo>
                  <a:pt x="0" y="28575"/>
                </a:lnTo>
                <a:cubicBezTo>
                  <a:pt x="0" y="12804"/>
                  <a:pt x="12804" y="0"/>
                  <a:pt x="28575" y="0"/>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0"/>
          <p:cNvSpPr/>
          <p:nvPr/>
        </p:nvSpPr>
        <p:spPr>
          <a:xfrm>
            <a:off x="381000" y="4844653"/>
            <a:ext cx="5181600" cy="46672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2250">
                <a:solidFill>
                  <a:srgbClr val="FFFFFF"/>
                </a:solidFill>
                <a:latin typeface="EB Garamond"/>
                <a:ea typeface="EB Garamond"/>
                <a:cs typeface="EB Garamond"/>
                <a:sym typeface="EB Garamond"/>
              </a:rPr>
              <a:t>Cách thức triển khai và triển khai thực tế</a:t>
            </a:r>
            <a:endParaRPr sz="1600">
              <a:solidFill>
                <a:schemeClr val="dk1"/>
              </a:solidFill>
              <a:latin typeface="EB Garamond"/>
              <a:ea typeface="EB Garamond"/>
              <a:cs typeface="EB Garamond"/>
              <a:sym typeface="EB Garamond"/>
            </a:endParaRPr>
          </a:p>
        </p:txBody>
      </p:sp>
    </p:spTree>
  </p:cSld>
  <p:clrMapOvr>
    <a:masterClrMapping/>
  </p:clrMapOvr>
  <p:transition>
    <p:fade/>
  </p:transition>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04" name="Shape 304"/>
        <p:cNvGrpSpPr/>
        <p:nvPr/>
      </p:nvGrpSpPr>
      <p:grpSpPr>
        <a:xfrm>
          <a:off x="0" y="0"/>
          <a:ext cx="0" cy="0"/>
          <a:chOff x="0" y="0"/>
          <a:chExt cx="0" cy="0"/>
        </a:xfrm>
      </p:grpSpPr>
      <p:sp>
        <p:nvSpPr>
          <p:cNvPr id="305" name="Google Shape;305;p11"/>
          <p:cNvSpPr/>
          <p:nvPr/>
        </p:nvSpPr>
        <p:spPr>
          <a:xfrm>
            <a:off x="381000" y="381000"/>
            <a:ext cx="115062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295EDF"/>
                </a:solidFill>
                <a:latin typeface="EB Garamond"/>
                <a:ea typeface="EB Garamond"/>
                <a:cs typeface="EB Garamond"/>
                <a:sym typeface="EB Garamond"/>
              </a:rPr>
              <a:t>CHAPTER 03</a:t>
            </a:r>
            <a:endParaRPr sz="1600">
              <a:solidFill>
                <a:schemeClr val="dk1"/>
              </a:solidFill>
              <a:latin typeface="EB Garamond"/>
              <a:ea typeface="EB Garamond"/>
              <a:cs typeface="EB Garamond"/>
              <a:sym typeface="EB Garamond"/>
            </a:endParaRPr>
          </a:p>
        </p:txBody>
      </p:sp>
      <p:sp>
        <p:nvSpPr>
          <p:cNvPr id="306" name="Google Shape;306;p11"/>
          <p:cNvSpPr/>
          <p:nvPr/>
        </p:nvSpPr>
        <p:spPr>
          <a:xfrm>
            <a:off x="381000" y="685800"/>
            <a:ext cx="11658600" cy="4572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US" sz="3600">
                <a:solidFill>
                  <a:srgbClr val="0D1B4C"/>
                </a:solidFill>
                <a:latin typeface="EB Garamond"/>
                <a:ea typeface="EB Garamond"/>
                <a:cs typeface="EB Garamond"/>
                <a:sym typeface="EB Garamond"/>
              </a:rPr>
              <a:t>Kế hoạch triển khai</a:t>
            </a:r>
            <a:endParaRPr sz="1600">
              <a:solidFill>
                <a:schemeClr val="dk1"/>
              </a:solidFill>
              <a:latin typeface="EB Garamond"/>
              <a:ea typeface="EB Garamond"/>
              <a:cs typeface="EB Garamond"/>
              <a:sym typeface="EB Garamond"/>
            </a:endParaRPr>
          </a:p>
        </p:txBody>
      </p:sp>
      <p:sp>
        <p:nvSpPr>
          <p:cNvPr id="307" name="Google Shape;307;p11"/>
          <p:cNvSpPr/>
          <p:nvPr/>
        </p:nvSpPr>
        <p:spPr>
          <a:xfrm>
            <a:off x="381000" y="1219200"/>
            <a:ext cx="11515725" cy="2667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350">
                <a:solidFill>
                  <a:srgbClr val="1C2026"/>
                </a:solidFill>
                <a:latin typeface="EB Garamond"/>
                <a:ea typeface="EB Garamond"/>
                <a:cs typeface="EB Garamond"/>
                <a:sym typeface="EB Garamond"/>
              </a:rPr>
              <a:t>Lộ trình phát triển dự án với 3 giai đoạn chính trong 4 tuần</a:t>
            </a:r>
            <a:endParaRPr sz="1600">
              <a:solidFill>
                <a:schemeClr val="dk1"/>
              </a:solidFill>
              <a:latin typeface="EB Garamond"/>
              <a:ea typeface="EB Garamond"/>
              <a:cs typeface="EB Garamond"/>
              <a:sym typeface="EB Garamond"/>
            </a:endParaRPr>
          </a:p>
        </p:txBody>
      </p:sp>
      <p:sp>
        <p:nvSpPr>
          <p:cNvPr id="308" name="Google Shape;308;p11"/>
          <p:cNvSpPr/>
          <p:nvPr/>
        </p:nvSpPr>
        <p:spPr>
          <a:xfrm>
            <a:off x="381000" y="2076450"/>
            <a:ext cx="3686175" cy="2457450"/>
          </a:xfrm>
          <a:custGeom>
            <a:rect b="b" l="l" r="r" t="t"/>
            <a:pathLst>
              <a:path extrusionOk="0" h="2457450" w="3686175">
                <a:moveTo>
                  <a:pt x="38100" y="0"/>
                </a:moveTo>
                <a:lnTo>
                  <a:pt x="3648075" y="0"/>
                </a:lnTo>
                <a:cubicBezTo>
                  <a:pt x="3669103" y="0"/>
                  <a:pt x="3686175" y="17072"/>
                  <a:pt x="3686175" y="38100"/>
                </a:cubicBezTo>
                <a:lnTo>
                  <a:pt x="3686175" y="2305039"/>
                </a:lnTo>
                <a:cubicBezTo>
                  <a:pt x="3686175" y="2389213"/>
                  <a:pt x="3617938" y="2457450"/>
                  <a:pt x="3533764" y="2457450"/>
                </a:cubicBezTo>
                <a:lnTo>
                  <a:pt x="152411" y="2457450"/>
                </a:lnTo>
                <a:cubicBezTo>
                  <a:pt x="68237" y="2457450"/>
                  <a:pt x="0" y="2389213"/>
                  <a:pt x="0" y="2305039"/>
                </a:cubicBezTo>
                <a:lnTo>
                  <a:pt x="0" y="38100"/>
                </a:lnTo>
                <a:cubicBezTo>
                  <a:pt x="0" y="17072"/>
                  <a:pt x="17072" y="0"/>
                  <a:pt x="38100" y="0"/>
                </a:cubicBezTo>
                <a:close/>
              </a:path>
            </a:pathLst>
          </a:custGeom>
          <a:solidFill>
            <a:srgbClr val="FFFFFF"/>
          </a:solidFill>
          <a:ln>
            <a:noFill/>
          </a:ln>
          <a:effectLst>
            <a:outerShdw blurRad="5715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09" name="Google Shape;309;p11"/>
          <p:cNvSpPr/>
          <p:nvPr/>
        </p:nvSpPr>
        <p:spPr>
          <a:xfrm>
            <a:off x="381000" y="2076450"/>
            <a:ext cx="3686175" cy="38100"/>
          </a:xfrm>
          <a:custGeom>
            <a:rect b="b" l="l" r="r" t="t"/>
            <a:pathLst>
              <a:path extrusionOk="0" h="38100" w="3686175">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10" name="Google Shape;310;p11"/>
          <p:cNvSpPr/>
          <p:nvPr/>
        </p:nvSpPr>
        <p:spPr>
          <a:xfrm>
            <a:off x="571500" y="2305050"/>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11" name="Google Shape;311;p11"/>
          <p:cNvSpPr/>
          <p:nvPr/>
        </p:nvSpPr>
        <p:spPr>
          <a:xfrm>
            <a:off x="523875" y="2305050"/>
            <a:ext cx="55245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1500">
                <a:solidFill>
                  <a:srgbClr val="FFFFFF"/>
                </a:solidFill>
                <a:latin typeface="EB Garamond"/>
                <a:ea typeface="EB Garamond"/>
                <a:cs typeface="EB Garamond"/>
                <a:sym typeface="EB Garamond"/>
              </a:rPr>
              <a:t>01</a:t>
            </a:r>
            <a:endParaRPr sz="1600">
              <a:solidFill>
                <a:schemeClr val="dk1"/>
              </a:solidFill>
              <a:latin typeface="EB Garamond"/>
              <a:ea typeface="EB Garamond"/>
              <a:cs typeface="EB Garamond"/>
              <a:sym typeface="EB Garamond"/>
            </a:endParaRPr>
          </a:p>
        </p:txBody>
      </p:sp>
      <p:sp>
        <p:nvSpPr>
          <p:cNvPr id="312" name="Google Shape;312;p11"/>
          <p:cNvSpPr/>
          <p:nvPr/>
        </p:nvSpPr>
        <p:spPr>
          <a:xfrm>
            <a:off x="1143000" y="2286000"/>
            <a:ext cx="99060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Giai đoạn 1</a:t>
            </a:r>
            <a:endParaRPr sz="1600">
              <a:solidFill>
                <a:schemeClr val="dk1"/>
              </a:solidFill>
              <a:latin typeface="EB Garamond"/>
              <a:ea typeface="EB Garamond"/>
              <a:cs typeface="EB Garamond"/>
              <a:sym typeface="EB Garamond"/>
            </a:endParaRPr>
          </a:p>
        </p:txBody>
      </p:sp>
      <p:sp>
        <p:nvSpPr>
          <p:cNvPr id="313" name="Google Shape;313;p11"/>
          <p:cNvSpPr/>
          <p:nvPr/>
        </p:nvSpPr>
        <p:spPr>
          <a:xfrm>
            <a:off x="1143000" y="2552700"/>
            <a:ext cx="9715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295EDF"/>
                </a:solidFill>
                <a:latin typeface="EB Garamond"/>
                <a:ea typeface="EB Garamond"/>
                <a:cs typeface="EB Garamond"/>
                <a:sym typeface="EB Garamond"/>
              </a:rPr>
              <a:t>Tuần 1</a:t>
            </a:r>
            <a:endParaRPr sz="1600">
              <a:solidFill>
                <a:schemeClr val="dk1"/>
              </a:solidFill>
              <a:latin typeface="EB Garamond"/>
              <a:ea typeface="EB Garamond"/>
              <a:cs typeface="EB Garamond"/>
              <a:sym typeface="EB Garamond"/>
            </a:endParaRPr>
          </a:p>
        </p:txBody>
      </p:sp>
      <p:sp>
        <p:nvSpPr>
          <p:cNvPr id="314" name="Google Shape;314;p11"/>
          <p:cNvSpPr/>
          <p:nvPr/>
        </p:nvSpPr>
        <p:spPr>
          <a:xfrm>
            <a:off x="590550" y="2971800"/>
            <a:ext cx="152400" cy="152400"/>
          </a:xfrm>
          <a:custGeom>
            <a:rect b="b" l="l" r="r" t="t"/>
            <a:pathLst>
              <a:path extrusionOk="0" h="152400" w="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15" name="Google Shape;315;p11"/>
          <p:cNvSpPr/>
          <p:nvPr/>
        </p:nvSpPr>
        <p:spPr>
          <a:xfrm>
            <a:off x="838200" y="2933700"/>
            <a:ext cx="28670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0D1B4C"/>
                </a:solidFill>
                <a:latin typeface="EB Garamond"/>
                <a:ea typeface="EB Garamond"/>
                <a:cs typeface="EB Garamond"/>
                <a:sym typeface="EB Garamond"/>
              </a:rPr>
              <a:t>Nghiên cứu &amp; thu thập yêu cầu</a:t>
            </a:r>
            <a:endParaRPr sz="1600">
              <a:solidFill>
                <a:schemeClr val="dk1"/>
              </a:solidFill>
              <a:latin typeface="EB Garamond"/>
              <a:ea typeface="EB Garamond"/>
              <a:cs typeface="EB Garamond"/>
              <a:sym typeface="EB Garamond"/>
            </a:endParaRPr>
          </a:p>
        </p:txBody>
      </p:sp>
      <p:sp>
        <p:nvSpPr>
          <p:cNvPr id="316" name="Google Shape;316;p11"/>
          <p:cNvSpPr/>
          <p:nvPr/>
        </p:nvSpPr>
        <p:spPr>
          <a:xfrm>
            <a:off x="838200" y="3162300"/>
            <a:ext cx="2857500"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50">
                <a:solidFill>
                  <a:srgbClr val="1C2026"/>
                </a:solidFill>
                <a:latin typeface="EB Garamond"/>
                <a:ea typeface="EB Garamond"/>
                <a:cs typeface="EB Garamond"/>
                <a:sym typeface="EB Garamond"/>
              </a:rPr>
              <a:t>Phân tích nhu cầu ngườidùng, khảo sát sinh viên</a:t>
            </a:r>
            <a:endParaRPr sz="1600">
              <a:solidFill>
                <a:schemeClr val="dk1"/>
              </a:solidFill>
              <a:latin typeface="EB Garamond"/>
              <a:ea typeface="EB Garamond"/>
              <a:cs typeface="EB Garamond"/>
              <a:sym typeface="EB Garamond"/>
            </a:endParaRPr>
          </a:p>
        </p:txBody>
      </p:sp>
      <p:sp>
        <p:nvSpPr>
          <p:cNvPr id="317" name="Google Shape;317;p11"/>
          <p:cNvSpPr/>
          <p:nvPr/>
        </p:nvSpPr>
        <p:spPr>
          <a:xfrm>
            <a:off x="590550" y="3467100"/>
            <a:ext cx="152400" cy="152400"/>
          </a:xfrm>
          <a:custGeom>
            <a:rect b="b" l="l" r="r" t="t"/>
            <a:pathLst>
              <a:path extrusionOk="0" h="152400" w="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18" name="Google Shape;318;p11"/>
          <p:cNvSpPr/>
          <p:nvPr/>
        </p:nvSpPr>
        <p:spPr>
          <a:xfrm>
            <a:off x="838200" y="3429000"/>
            <a:ext cx="18764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0D1B4C"/>
                </a:solidFill>
                <a:latin typeface="EB Garamond"/>
                <a:ea typeface="EB Garamond"/>
                <a:cs typeface="EB Garamond"/>
                <a:sym typeface="EB Garamond"/>
              </a:rPr>
              <a:t>Thiết kế UI/UX</a:t>
            </a:r>
            <a:endParaRPr sz="1600">
              <a:solidFill>
                <a:schemeClr val="dk1"/>
              </a:solidFill>
              <a:latin typeface="EB Garamond"/>
              <a:ea typeface="EB Garamond"/>
              <a:cs typeface="EB Garamond"/>
              <a:sym typeface="EB Garamond"/>
            </a:endParaRPr>
          </a:p>
        </p:txBody>
      </p:sp>
      <p:sp>
        <p:nvSpPr>
          <p:cNvPr id="319" name="Google Shape;319;p11"/>
          <p:cNvSpPr/>
          <p:nvPr/>
        </p:nvSpPr>
        <p:spPr>
          <a:xfrm>
            <a:off x="838200" y="3657600"/>
            <a:ext cx="1866900"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50">
                <a:solidFill>
                  <a:srgbClr val="1C2026"/>
                </a:solidFill>
                <a:latin typeface="EB Garamond"/>
                <a:ea typeface="EB Garamond"/>
                <a:cs typeface="EB Garamond"/>
                <a:sym typeface="EB Garamond"/>
              </a:rPr>
              <a:t>Wireframe, mockup, prototype</a:t>
            </a:r>
            <a:endParaRPr sz="1600">
              <a:solidFill>
                <a:schemeClr val="dk1"/>
              </a:solidFill>
              <a:latin typeface="EB Garamond"/>
              <a:ea typeface="EB Garamond"/>
              <a:cs typeface="EB Garamond"/>
              <a:sym typeface="EB Garamond"/>
            </a:endParaRPr>
          </a:p>
        </p:txBody>
      </p:sp>
      <p:sp>
        <p:nvSpPr>
          <p:cNvPr id="320" name="Google Shape;320;p11"/>
          <p:cNvSpPr/>
          <p:nvPr/>
        </p:nvSpPr>
        <p:spPr>
          <a:xfrm>
            <a:off x="590550" y="3962400"/>
            <a:ext cx="152400" cy="152400"/>
          </a:xfrm>
          <a:custGeom>
            <a:rect b="b" l="l" r="r" t="t"/>
            <a:pathLst>
              <a:path extrusionOk="0" h="152400" w="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21" name="Google Shape;321;p11"/>
          <p:cNvSpPr/>
          <p:nvPr/>
        </p:nvSpPr>
        <p:spPr>
          <a:xfrm>
            <a:off x="838200" y="3924300"/>
            <a:ext cx="17621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0D1B4C"/>
                </a:solidFill>
                <a:latin typeface="EB Garamond"/>
                <a:ea typeface="EB Garamond"/>
                <a:cs typeface="EB Garamond"/>
                <a:sym typeface="EB Garamond"/>
              </a:rPr>
              <a:t>Lập kế hoạch chi tiết</a:t>
            </a:r>
            <a:endParaRPr sz="1600">
              <a:solidFill>
                <a:schemeClr val="dk1"/>
              </a:solidFill>
              <a:latin typeface="EB Garamond"/>
              <a:ea typeface="EB Garamond"/>
              <a:cs typeface="EB Garamond"/>
              <a:sym typeface="EB Garamond"/>
            </a:endParaRPr>
          </a:p>
        </p:txBody>
      </p:sp>
      <p:sp>
        <p:nvSpPr>
          <p:cNvPr id="322" name="Google Shape;322;p11"/>
          <p:cNvSpPr/>
          <p:nvPr/>
        </p:nvSpPr>
        <p:spPr>
          <a:xfrm>
            <a:off x="838200" y="4152900"/>
            <a:ext cx="1752600"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50">
                <a:solidFill>
                  <a:srgbClr val="1C2026"/>
                </a:solidFill>
                <a:latin typeface="EB Garamond"/>
                <a:ea typeface="EB Garamond"/>
                <a:cs typeface="EB Garamond"/>
                <a:sym typeface="EB Garamond"/>
              </a:rPr>
              <a:t>Timeline, resource, milestone</a:t>
            </a:r>
            <a:endParaRPr sz="1600">
              <a:solidFill>
                <a:schemeClr val="dk1"/>
              </a:solidFill>
              <a:latin typeface="EB Garamond"/>
              <a:ea typeface="EB Garamond"/>
              <a:cs typeface="EB Garamond"/>
              <a:sym typeface="EB Garamond"/>
            </a:endParaRPr>
          </a:p>
        </p:txBody>
      </p:sp>
      <p:sp>
        <p:nvSpPr>
          <p:cNvPr id="323" name="Google Shape;323;p11"/>
          <p:cNvSpPr/>
          <p:nvPr/>
        </p:nvSpPr>
        <p:spPr>
          <a:xfrm>
            <a:off x="4254401" y="2076450"/>
            <a:ext cx="3686175" cy="2457450"/>
          </a:xfrm>
          <a:custGeom>
            <a:rect b="b" l="l" r="r" t="t"/>
            <a:pathLst>
              <a:path extrusionOk="0" h="2457450" w="3686175">
                <a:moveTo>
                  <a:pt x="38100" y="0"/>
                </a:moveTo>
                <a:lnTo>
                  <a:pt x="3648075" y="0"/>
                </a:lnTo>
                <a:cubicBezTo>
                  <a:pt x="3669103" y="0"/>
                  <a:pt x="3686175" y="17072"/>
                  <a:pt x="3686175" y="38100"/>
                </a:cubicBezTo>
                <a:lnTo>
                  <a:pt x="3686175" y="2305039"/>
                </a:lnTo>
                <a:cubicBezTo>
                  <a:pt x="3686175" y="2389213"/>
                  <a:pt x="3617938" y="2457450"/>
                  <a:pt x="3533764" y="2457450"/>
                </a:cubicBezTo>
                <a:lnTo>
                  <a:pt x="152411" y="2457450"/>
                </a:lnTo>
                <a:cubicBezTo>
                  <a:pt x="68237" y="2457450"/>
                  <a:pt x="0" y="2389213"/>
                  <a:pt x="0" y="2305039"/>
                </a:cubicBezTo>
                <a:lnTo>
                  <a:pt x="0" y="38100"/>
                </a:lnTo>
                <a:cubicBezTo>
                  <a:pt x="0" y="17072"/>
                  <a:pt x="17072" y="0"/>
                  <a:pt x="38100" y="0"/>
                </a:cubicBezTo>
                <a:close/>
              </a:path>
            </a:pathLst>
          </a:custGeom>
          <a:solidFill>
            <a:srgbClr val="FFFFFF"/>
          </a:solidFill>
          <a:ln>
            <a:noFill/>
          </a:ln>
          <a:effectLst>
            <a:outerShdw blurRad="5715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24" name="Google Shape;324;p11"/>
          <p:cNvSpPr/>
          <p:nvPr/>
        </p:nvSpPr>
        <p:spPr>
          <a:xfrm>
            <a:off x="4254401" y="2076450"/>
            <a:ext cx="3686175" cy="38100"/>
          </a:xfrm>
          <a:custGeom>
            <a:rect b="b" l="l" r="r" t="t"/>
            <a:pathLst>
              <a:path extrusionOk="0" h="38100" w="3686175">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25" name="Google Shape;325;p11"/>
          <p:cNvSpPr/>
          <p:nvPr/>
        </p:nvSpPr>
        <p:spPr>
          <a:xfrm>
            <a:off x="4444901" y="2305050"/>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26" name="Google Shape;326;p11"/>
          <p:cNvSpPr/>
          <p:nvPr/>
        </p:nvSpPr>
        <p:spPr>
          <a:xfrm>
            <a:off x="4397276" y="2305050"/>
            <a:ext cx="55245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1500">
                <a:solidFill>
                  <a:srgbClr val="FFFFFF"/>
                </a:solidFill>
                <a:latin typeface="EB Garamond"/>
                <a:ea typeface="EB Garamond"/>
                <a:cs typeface="EB Garamond"/>
                <a:sym typeface="EB Garamond"/>
              </a:rPr>
              <a:t>02</a:t>
            </a:r>
            <a:endParaRPr sz="1600">
              <a:solidFill>
                <a:schemeClr val="dk1"/>
              </a:solidFill>
              <a:latin typeface="EB Garamond"/>
              <a:ea typeface="EB Garamond"/>
              <a:cs typeface="EB Garamond"/>
              <a:sym typeface="EB Garamond"/>
            </a:endParaRPr>
          </a:p>
        </p:txBody>
      </p:sp>
      <p:sp>
        <p:nvSpPr>
          <p:cNvPr id="327" name="Google Shape;327;p11"/>
          <p:cNvSpPr/>
          <p:nvPr/>
        </p:nvSpPr>
        <p:spPr>
          <a:xfrm>
            <a:off x="5016401" y="2286000"/>
            <a:ext cx="10191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Giai đoạn 2</a:t>
            </a:r>
            <a:endParaRPr sz="1600">
              <a:solidFill>
                <a:schemeClr val="dk1"/>
              </a:solidFill>
              <a:latin typeface="EB Garamond"/>
              <a:ea typeface="EB Garamond"/>
              <a:cs typeface="EB Garamond"/>
              <a:sym typeface="EB Garamond"/>
            </a:endParaRPr>
          </a:p>
        </p:txBody>
      </p:sp>
      <p:sp>
        <p:nvSpPr>
          <p:cNvPr id="328" name="Google Shape;328;p11"/>
          <p:cNvSpPr/>
          <p:nvPr/>
        </p:nvSpPr>
        <p:spPr>
          <a:xfrm>
            <a:off x="5016401" y="2552700"/>
            <a:ext cx="10001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FF9045"/>
                </a:solidFill>
                <a:latin typeface="EB Garamond"/>
                <a:ea typeface="EB Garamond"/>
                <a:cs typeface="EB Garamond"/>
                <a:sym typeface="EB Garamond"/>
              </a:rPr>
              <a:t>Tuần 2-3</a:t>
            </a:r>
            <a:endParaRPr sz="1600">
              <a:solidFill>
                <a:schemeClr val="dk1"/>
              </a:solidFill>
              <a:latin typeface="EB Garamond"/>
              <a:ea typeface="EB Garamond"/>
              <a:cs typeface="EB Garamond"/>
              <a:sym typeface="EB Garamond"/>
            </a:endParaRPr>
          </a:p>
        </p:txBody>
      </p:sp>
      <p:sp>
        <p:nvSpPr>
          <p:cNvPr id="329" name="Google Shape;329;p11"/>
          <p:cNvSpPr/>
          <p:nvPr/>
        </p:nvSpPr>
        <p:spPr>
          <a:xfrm>
            <a:off x="4463951" y="2971800"/>
            <a:ext cx="152400" cy="152400"/>
          </a:xfrm>
          <a:custGeom>
            <a:rect b="b" l="l" r="r" t="t"/>
            <a:pathLst>
              <a:path extrusionOk="0" h="152400" w="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30" name="Google Shape;330;p11"/>
          <p:cNvSpPr/>
          <p:nvPr/>
        </p:nvSpPr>
        <p:spPr>
          <a:xfrm>
            <a:off x="4711601" y="2933700"/>
            <a:ext cx="26670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0D1B4C"/>
                </a:solidFill>
                <a:latin typeface="EB Garamond"/>
                <a:ea typeface="EB Garamond"/>
                <a:cs typeface="EB Garamond"/>
                <a:sym typeface="EB Garamond"/>
              </a:rPr>
              <a:t>Phát triển tính năng core</a:t>
            </a:r>
            <a:endParaRPr sz="1600">
              <a:solidFill>
                <a:schemeClr val="dk1"/>
              </a:solidFill>
              <a:latin typeface="EB Garamond"/>
              <a:ea typeface="EB Garamond"/>
              <a:cs typeface="EB Garamond"/>
              <a:sym typeface="EB Garamond"/>
            </a:endParaRPr>
          </a:p>
        </p:txBody>
      </p:sp>
      <p:sp>
        <p:nvSpPr>
          <p:cNvPr id="331" name="Google Shape;331;p11"/>
          <p:cNvSpPr/>
          <p:nvPr/>
        </p:nvSpPr>
        <p:spPr>
          <a:xfrm>
            <a:off x="4711601" y="3162300"/>
            <a:ext cx="2657475"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50">
                <a:solidFill>
                  <a:srgbClr val="1C2026"/>
                </a:solidFill>
                <a:latin typeface="EB Garamond"/>
                <a:ea typeface="EB Garamond"/>
                <a:cs typeface="EB Garamond"/>
                <a:sym typeface="EB Garamond"/>
              </a:rPr>
              <a:t>Xây dựng module chính, backend &amp; frontend</a:t>
            </a:r>
            <a:endParaRPr sz="1600">
              <a:solidFill>
                <a:schemeClr val="dk1"/>
              </a:solidFill>
              <a:latin typeface="EB Garamond"/>
              <a:ea typeface="EB Garamond"/>
              <a:cs typeface="EB Garamond"/>
              <a:sym typeface="EB Garamond"/>
            </a:endParaRPr>
          </a:p>
        </p:txBody>
      </p:sp>
      <p:sp>
        <p:nvSpPr>
          <p:cNvPr id="332" name="Google Shape;332;p11"/>
          <p:cNvSpPr/>
          <p:nvPr/>
        </p:nvSpPr>
        <p:spPr>
          <a:xfrm>
            <a:off x="4463951" y="3467100"/>
            <a:ext cx="152400" cy="152400"/>
          </a:xfrm>
          <a:custGeom>
            <a:rect b="b" l="l" r="r" t="t"/>
            <a:pathLst>
              <a:path extrusionOk="0" h="152400" w="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33" name="Google Shape;333;p11"/>
          <p:cNvSpPr/>
          <p:nvPr/>
        </p:nvSpPr>
        <p:spPr>
          <a:xfrm>
            <a:off x="4711601" y="3429000"/>
            <a:ext cx="188595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0D1B4C"/>
                </a:solidFill>
                <a:latin typeface="EB Garamond"/>
                <a:ea typeface="EB Garamond"/>
                <a:cs typeface="EB Garamond"/>
                <a:sym typeface="EB Garamond"/>
              </a:rPr>
              <a:t>Tích hợp API</a:t>
            </a:r>
            <a:endParaRPr sz="1600">
              <a:solidFill>
                <a:schemeClr val="dk1"/>
              </a:solidFill>
              <a:latin typeface="EB Garamond"/>
              <a:ea typeface="EB Garamond"/>
              <a:cs typeface="EB Garamond"/>
              <a:sym typeface="EB Garamond"/>
            </a:endParaRPr>
          </a:p>
        </p:txBody>
      </p:sp>
      <p:sp>
        <p:nvSpPr>
          <p:cNvPr id="334" name="Google Shape;334;p11"/>
          <p:cNvSpPr/>
          <p:nvPr/>
        </p:nvSpPr>
        <p:spPr>
          <a:xfrm>
            <a:off x="4711601" y="3657600"/>
            <a:ext cx="1876425"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50">
                <a:solidFill>
                  <a:srgbClr val="1C2026"/>
                </a:solidFill>
                <a:latin typeface="EB Garamond"/>
                <a:ea typeface="EB Garamond"/>
                <a:cs typeface="EB Garamond"/>
                <a:sym typeface="EB Garamond"/>
              </a:rPr>
              <a:t>Kết nối với các hệ thống sẵn có</a:t>
            </a:r>
            <a:endParaRPr sz="1600">
              <a:solidFill>
                <a:schemeClr val="dk1"/>
              </a:solidFill>
              <a:latin typeface="EB Garamond"/>
              <a:ea typeface="EB Garamond"/>
              <a:cs typeface="EB Garamond"/>
              <a:sym typeface="EB Garamond"/>
            </a:endParaRPr>
          </a:p>
        </p:txBody>
      </p:sp>
      <p:sp>
        <p:nvSpPr>
          <p:cNvPr id="335" name="Google Shape;335;p11"/>
          <p:cNvSpPr/>
          <p:nvPr/>
        </p:nvSpPr>
        <p:spPr>
          <a:xfrm>
            <a:off x="4463951" y="3962400"/>
            <a:ext cx="152400" cy="152400"/>
          </a:xfrm>
          <a:custGeom>
            <a:rect b="b" l="l" r="r" t="t"/>
            <a:pathLst>
              <a:path extrusionOk="0" h="152400" w="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36" name="Google Shape;336;p11"/>
          <p:cNvSpPr/>
          <p:nvPr/>
        </p:nvSpPr>
        <p:spPr>
          <a:xfrm>
            <a:off x="4711601" y="3924300"/>
            <a:ext cx="14763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0D1B4C"/>
                </a:solidFill>
                <a:latin typeface="EB Garamond"/>
                <a:ea typeface="EB Garamond"/>
                <a:cs typeface="EB Garamond"/>
                <a:sym typeface="EB Garamond"/>
              </a:rPr>
              <a:t>Test chức năng</a:t>
            </a:r>
            <a:endParaRPr sz="1600">
              <a:solidFill>
                <a:schemeClr val="dk1"/>
              </a:solidFill>
              <a:latin typeface="EB Garamond"/>
              <a:ea typeface="EB Garamond"/>
              <a:cs typeface="EB Garamond"/>
              <a:sym typeface="EB Garamond"/>
            </a:endParaRPr>
          </a:p>
        </p:txBody>
      </p:sp>
      <p:sp>
        <p:nvSpPr>
          <p:cNvPr id="337" name="Google Shape;337;p11"/>
          <p:cNvSpPr/>
          <p:nvPr/>
        </p:nvSpPr>
        <p:spPr>
          <a:xfrm>
            <a:off x="4711601" y="4152900"/>
            <a:ext cx="1466850"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50">
                <a:solidFill>
                  <a:srgbClr val="1C2026"/>
                </a:solidFill>
                <a:latin typeface="EB Garamond"/>
                <a:ea typeface="EB Garamond"/>
                <a:cs typeface="EB Garamond"/>
                <a:sym typeface="EB Garamond"/>
              </a:rPr>
              <a:t>Unit test, integration test</a:t>
            </a:r>
            <a:endParaRPr sz="1600">
              <a:solidFill>
                <a:schemeClr val="dk1"/>
              </a:solidFill>
              <a:latin typeface="EB Garamond"/>
              <a:ea typeface="EB Garamond"/>
              <a:cs typeface="EB Garamond"/>
              <a:sym typeface="EB Garamond"/>
            </a:endParaRPr>
          </a:p>
        </p:txBody>
      </p:sp>
      <p:sp>
        <p:nvSpPr>
          <p:cNvPr id="338" name="Google Shape;338;p11"/>
          <p:cNvSpPr/>
          <p:nvPr/>
        </p:nvSpPr>
        <p:spPr>
          <a:xfrm>
            <a:off x="8127950" y="2076450"/>
            <a:ext cx="3686175" cy="2457450"/>
          </a:xfrm>
          <a:custGeom>
            <a:rect b="b" l="l" r="r" t="t"/>
            <a:pathLst>
              <a:path extrusionOk="0" h="2457450" w="3686175">
                <a:moveTo>
                  <a:pt x="38100" y="0"/>
                </a:moveTo>
                <a:lnTo>
                  <a:pt x="3648075" y="0"/>
                </a:lnTo>
                <a:cubicBezTo>
                  <a:pt x="3669103" y="0"/>
                  <a:pt x="3686175" y="17072"/>
                  <a:pt x="3686175" y="38100"/>
                </a:cubicBezTo>
                <a:lnTo>
                  <a:pt x="3686175" y="2305039"/>
                </a:lnTo>
                <a:cubicBezTo>
                  <a:pt x="3686175" y="2389213"/>
                  <a:pt x="3617938" y="2457450"/>
                  <a:pt x="3533764" y="2457450"/>
                </a:cubicBezTo>
                <a:lnTo>
                  <a:pt x="152411" y="2457450"/>
                </a:lnTo>
                <a:cubicBezTo>
                  <a:pt x="68237" y="2457450"/>
                  <a:pt x="0" y="2389213"/>
                  <a:pt x="0" y="2305039"/>
                </a:cubicBezTo>
                <a:lnTo>
                  <a:pt x="0" y="38100"/>
                </a:lnTo>
                <a:cubicBezTo>
                  <a:pt x="0" y="17072"/>
                  <a:pt x="17072" y="0"/>
                  <a:pt x="38100" y="0"/>
                </a:cubicBezTo>
                <a:close/>
              </a:path>
            </a:pathLst>
          </a:custGeom>
          <a:solidFill>
            <a:srgbClr val="FFFFFF"/>
          </a:solidFill>
          <a:ln>
            <a:noFill/>
          </a:ln>
          <a:effectLst>
            <a:outerShdw blurRad="57150" rotWithShape="0" algn="bl" dir="5400000" dist="38100">
              <a:srgbClr val="000000">
                <a:alpha val="9803"/>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39" name="Google Shape;339;p11"/>
          <p:cNvSpPr/>
          <p:nvPr/>
        </p:nvSpPr>
        <p:spPr>
          <a:xfrm>
            <a:off x="8127950" y="2076450"/>
            <a:ext cx="3686175" cy="38100"/>
          </a:xfrm>
          <a:custGeom>
            <a:rect b="b" l="l" r="r" t="t"/>
            <a:pathLst>
              <a:path extrusionOk="0" h="38100" w="3686175">
                <a:moveTo>
                  <a:pt x="38100" y="0"/>
                </a:moveTo>
                <a:lnTo>
                  <a:pt x="3648075" y="0"/>
                </a:lnTo>
                <a:cubicBezTo>
                  <a:pt x="3669103" y="0"/>
                  <a:pt x="3686175" y="17072"/>
                  <a:pt x="3686175" y="38100"/>
                </a:cubicBezTo>
                <a:lnTo>
                  <a:pt x="3686175" y="38100"/>
                </a:lnTo>
                <a:lnTo>
                  <a:pt x="0" y="38100"/>
                </a:lnTo>
                <a:lnTo>
                  <a:pt x="0" y="38100"/>
                </a:lnTo>
                <a:cubicBezTo>
                  <a:pt x="0" y="17072"/>
                  <a:pt x="17072" y="0"/>
                  <a:pt x="38100" y="0"/>
                </a:cubicBezTo>
                <a:close/>
              </a:path>
            </a:pathLst>
          </a:custGeom>
          <a:solidFill>
            <a:srgbClr val="0D1B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40" name="Google Shape;340;p11"/>
          <p:cNvSpPr/>
          <p:nvPr/>
        </p:nvSpPr>
        <p:spPr>
          <a:xfrm>
            <a:off x="8318450" y="2305050"/>
            <a:ext cx="457200" cy="457200"/>
          </a:xfrm>
          <a:custGeom>
            <a:rect b="b" l="l" r="r" t="t"/>
            <a:pathLst>
              <a:path extrusionOk="0" h="457200" w="457200">
                <a:moveTo>
                  <a:pt x="228600" y="0"/>
                </a:moveTo>
                <a:lnTo>
                  <a:pt x="228600" y="0"/>
                </a:lnTo>
                <a:cubicBezTo>
                  <a:pt x="354768" y="0"/>
                  <a:pt x="457200" y="102432"/>
                  <a:pt x="457200" y="228600"/>
                </a:cubicBezTo>
                <a:lnTo>
                  <a:pt x="457200" y="228600"/>
                </a:lnTo>
                <a:cubicBezTo>
                  <a:pt x="457200" y="354768"/>
                  <a:pt x="354768" y="457200"/>
                  <a:pt x="228600" y="457200"/>
                </a:cubicBezTo>
                <a:lnTo>
                  <a:pt x="228600" y="457200"/>
                </a:lnTo>
                <a:cubicBezTo>
                  <a:pt x="102432" y="457200"/>
                  <a:pt x="0" y="354768"/>
                  <a:pt x="0" y="228600"/>
                </a:cubicBezTo>
                <a:lnTo>
                  <a:pt x="0" y="228600"/>
                </a:lnTo>
                <a:cubicBezTo>
                  <a:pt x="0" y="102432"/>
                  <a:pt x="102432" y="0"/>
                  <a:pt x="228600" y="0"/>
                </a:cubicBezTo>
                <a:close/>
              </a:path>
            </a:pathLst>
          </a:custGeom>
          <a:solidFill>
            <a:srgbClr val="0D1B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41" name="Google Shape;341;p11"/>
          <p:cNvSpPr/>
          <p:nvPr/>
        </p:nvSpPr>
        <p:spPr>
          <a:xfrm>
            <a:off x="8270825" y="2305050"/>
            <a:ext cx="552450" cy="457200"/>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b="1" lang="en-US" sz="1500">
                <a:solidFill>
                  <a:srgbClr val="FFFFFF"/>
                </a:solidFill>
                <a:latin typeface="EB Garamond"/>
                <a:ea typeface="EB Garamond"/>
                <a:cs typeface="EB Garamond"/>
                <a:sym typeface="EB Garamond"/>
              </a:rPr>
              <a:t>03</a:t>
            </a:r>
            <a:endParaRPr sz="1600">
              <a:solidFill>
                <a:schemeClr val="dk1"/>
              </a:solidFill>
              <a:latin typeface="EB Garamond"/>
              <a:ea typeface="EB Garamond"/>
              <a:cs typeface="EB Garamond"/>
              <a:sym typeface="EB Garamond"/>
            </a:endParaRPr>
          </a:p>
        </p:txBody>
      </p:sp>
      <p:sp>
        <p:nvSpPr>
          <p:cNvPr id="342" name="Google Shape;342;p11"/>
          <p:cNvSpPr/>
          <p:nvPr/>
        </p:nvSpPr>
        <p:spPr>
          <a:xfrm>
            <a:off x="8889950" y="2286000"/>
            <a:ext cx="101917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0D1B4C"/>
                </a:solidFill>
                <a:latin typeface="EB Garamond"/>
                <a:ea typeface="EB Garamond"/>
                <a:cs typeface="EB Garamond"/>
                <a:sym typeface="EB Garamond"/>
              </a:rPr>
              <a:t>Giai đoạn 3</a:t>
            </a:r>
            <a:endParaRPr sz="1600">
              <a:solidFill>
                <a:schemeClr val="dk1"/>
              </a:solidFill>
              <a:latin typeface="EB Garamond"/>
              <a:ea typeface="EB Garamond"/>
              <a:cs typeface="EB Garamond"/>
              <a:sym typeface="EB Garamond"/>
            </a:endParaRPr>
          </a:p>
        </p:txBody>
      </p:sp>
      <p:sp>
        <p:nvSpPr>
          <p:cNvPr id="343" name="Google Shape;343;p11"/>
          <p:cNvSpPr/>
          <p:nvPr/>
        </p:nvSpPr>
        <p:spPr>
          <a:xfrm>
            <a:off x="8889950" y="2552700"/>
            <a:ext cx="10001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0D1B4C"/>
                </a:solidFill>
                <a:latin typeface="EB Garamond"/>
                <a:ea typeface="EB Garamond"/>
                <a:cs typeface="EB Garamond"/>
                <a:sym typeface="EB Garamond"/>
              </a:rPr>
              <a:t>Tuần 4</a:t>
            </a:r>
            <a:endParaRPr sz="1600">
              <a:solidFill>
                <a:schemeClr val="dk1"/>
              </a:solidFill>
              <a:latin typeface="EB Garamond"/>
              <a:ea typeface="EB Garamond"/>
              <a:cs typeface="EB Garamond"/>
              <a:sym typeface="EB Garamond"/>
            </a:endParaRPr>
          </a:p>
        </p:txBody>
      </p:sp>
      <p:sp>
        <p:nvSpPr>
          <p:cNvPr id="344" name="Google Shape;344;p11"/>
          <p:cNvSpPr/>
          <p:nvPr/>
        </p:nvSpPr>
        <p:spPr>
          <a:xfrm>
            <a:off x="8337500" y="2971800"/>
            <a:ext cx="152400" cy="152400"/>
          </a:xfrm>
          <a:custGeom>
            <a:rect b="b" l="l" r="r" t="t"/>
            <a:pathLst>
              <a:path extrusionOk="0" h="152400" w="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D1B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45" name="Google Shape;345;p11"/>
          <p:cNvSpPr/>
          <p:nvPr/>
        </p:nvSpPr>
        <p:spPr>
          <a:xfrm>
            <a:off x="8585150" y="2933700"/>
            <a:ext cx="24669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0D1B4C"/>
                </a:solidFill>
                <a:latin typeface="EB Garamond"/>
                <a:ea typeface="EB Garamond"/>
                <a:cs typeface="EB Garamond"/>
                <a:sym typeface="EB Garamond"/>
              </a:rPr>
              <a:t>Beta test</a:t>
            </a:r>
            <a:endParaRPr sz="1600">
              <a:solidFill>
                <a:schemeClr val="dk1"/>
              </a:solidFill>
              <a:latin typeface="EB Garamond"/>
              <a:ea typeface="EB Garamond"/>
              <a:cs typeface="EB Garamond"/>
              <a:sym typeface="EB Garamond"/>
            </a:endParaRPr>
          </a:p>
        </p:txBody>
      </p:sp>
      <p:sp>
        <p:nvSpPr>
          <p:cNvPr id="346" name="Google Shape;346;p11"/>
          <p:cNvSpPr/>
          <p:nvPr/>
        </p:nvSpPr>
        <p:spPr>
          <a:xfrm>
            <a:off x="8585150" y="3162300"/>
            <a:ext cx="2457450"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50">
                <a:solidFill>
                  <a:srgbClr val="1C2026"/>
                </a:solidFill>
                <a:latin typeface="EB Garamond"/>
                <a:ea typeface="EB Garamond"/>
                <a:cs typeface="EB Garamond"/>
                <a:sym typeface="EB Garamond"/>
              </a:rPr>
              <a:t>Chạy thử nghiệm với nhóm nhỏ sinh viên</a:t>
            </a:r>
            <a:endParaRPr sz="1600">
              <a:solidFill>
                <a:schemeClr val="dk1"/>
              </a:solidFill>
              <a:latin typeface="EB Garamond"/>
              <a:ea typeface="EB Garamond"/>
              <a:cs typeface="EB Garamond"/>
              <a:sym typeface="EB Garamond"/>
            </a:endParaRPr>
          </a:p>
        </p:txBody>
      </p:sp>
      <p:sp>
        <p:nvSpPr>
          <p:cNvPr id="347" name="Google Shape;347;p11"/>
          <p:cNvSpPr/>
          <p:nvPr/>
        </p:nvSpPr>
        <p:spPr>
          <a:xfrm>
            <a:off x="8337500" y="3467100"/>
            <a:ext cx="152400" cy="152400"/>
          </a:xfrm>
          <a:custGeom>
            <a:rect b="b" l="l" r="r" t="t"/>
            <a:pathLst>
              <a:path extrusionOk="0" h="152400" w="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D1B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48" name="Google Shape;348;p11"/>
          <p:cNvSpPr/>
          <p:nvPr/>
        </p:nvSpPr>
        <p:spPr>
          <a:xfrm>
            <a:off x="8585150" y="3429000"/>
            <a:ext cx="1828800"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0D1B4C"/>
                </a:solidFill>
                <a:latin typeface="EB Garamond"/>
                <a:ea typeface="EB Garamond"/>
                <a:cs typeface="EB Garamond"/>
                <a:sym typeface="EB Garamond"/>
              </a:rPr>
              <a:t>Thu thập phản hồi</a:t>
            </a:r>
            <a:endParaRPr sz="1600">
              <a:solidFill>
                <a:schemeClr val="dk1"/>
              </a:solidFill>
              <a:latin typeface="EB Garamond"/>
              <a:ea typeface="EB Garamond"/>
              <a:cs typeface="EB Garamond"/>
              <a:sym typeface="EB Garamond"/>
            </a:endParaRPr>
          </a:p>
        </p:txBody>
      </p:sp>
      <p:sp>
        <p:nvSpPr>
          <p:cNvPr id="349" name="Google Shape;349;p11"/>
          <p:cNvSpPr/>
          <p:nvPr/>
        </p:nvSpPr>
        <p:spPr>
          <a:xfrm>
            <a:off x="8585150" y="3657600"/>
            <a:ext cx="1819275"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50">
                <a:solidFill>
                  <a:srgbClr val="1C2026"/>
                </a:solidFill>
                <a:latin typeface="EB Garamond"/>
                <a:ea typeface="EB Garamond"/>
                <a:cs typeface="EB Garamond"/>
                <a:sym typeface="EB Garamond"/>
              </a:rPr>
              <a:t>Survey, phỏng vấn ngườidùng</a:t>
            </a:r>
            <a:endParaRPr sz="1600">
              <a:solidFill>
                <a:schemeClr val="dk1"/>
              </a:solidFill>
              <a:latin typeface="EB Garamond"/>
              <a:ea typeface="EB Garamond"/>
              <a:cs typeface="EB Garamond"/>
              <a:sym typeface="EB Garamond"/>
            </a:endParaRPr>
          </a:p>
        </p:txBody>
      </p:sp>
      <p:sp>
        <p:nvSpPr>
          <p:cNvPr id="350" name="Google Shape;350;p11"/>
          <p:cNvSpPr/>
          <p:nvPr/>
        </p:nvSpPr>
        <p:spPr>
          <a:xfrm>
            <a:off x="8337500" y="3962400"/>
            <a:ext cx="152400" cy="152400"/>
          </a:xfrm>
          <a:custGeom>
            <a:rect b="b" l="l" r="r" t="t"/>
            <a:pathLst>
              <a:path extrusionOk="0" h="152400" w="152400">
                <a:moveTo>
                  <a:pt x="76200" y="152400"/>
                </a:moveTo>
                <a:cubicBezTo>
                  <a:pt x="118256" y="152400"/>
                  <a:pt x="152400" y="118256"/>
                  <a:pt x="152400" y="76200"/>
                </a:cubicBezTo>
                <a:cubicBezTo>
                  <a:pt x="152400" y="34144"/>
                  <a:pt x="118256" y="0"/>
                  <a:pt x="76200" y="0"/>
                </a:cubicBezTo>
                <a:cubicBezTo>
                  <a:pt x="34144" y="0"/>
                  <a:pt x="0" y="34144"/>
                  <a:pt x="0" y="76200"/>
                </a:cubicBezTo>
                <a:cubicBezTo>
                  <a:pt x="0" y="118256"/>
                  <a:pt x="34144" y="152400"/>
                  <a:pt x="76200" y="152400"/>
                </a:cubicBezTo>
                <a:close/>
                <a:moveTo>
                  <a:pt x="101322" y="63311"/>
                </a:moveTo>
                <a:lnTo>
                  <a:pt x="77510" y="101411"/>
                </a:lnTo>
                <a:cubicBezTo>
                  <a:pt x="76260" y="103406"/>
                  <a:pt x="74116" y="104656"/>
                  <a:pt x="71765" y="104775"/>
                </a:cubicBezTo>
                <a:cubicBezTo>
                  <a:pt x="69413" y="104894"/>
                  <a:pt x="67151" y="103823"/>
                  <a:pt x="65752" y="101918"/>
                </a:cubicBezTo>
                <a:lnTo>
                  <a:pt x="51465" y="82867"/>
                </a:lnTo>
                <a:cubicBezTo>
                  <a:pt x="49084" y="79712"/>
                  <a:pt x="49738" y="75248"/>
                  <a:pt x="52894" y="72866"/>
                </a:cubicBezTo>
                <a:cubicBezTo>
                  <a:pt x="56049" y="70485"/>
                  <a:pt x="60514" y="71140"/>
                  <a:pt x="62895" y="74295"/>
                </a:cubicBezTo>
                <a:lnTo>
                  <a:pt x="70931" y="85011"/>
                </a:lnTo>
                <a:lnTo>
                  <a:pt x="89208" y="55751"/>
                </a:lnTo>
                <a:cubicBezTo>
                  <a:pt x="91291" y="52417"/>
                  <a:pt x="95696" y="51375"/>
                  <a:pt x="99060" y="53489"/>
                </a:cubicBezTo>
                <a:cubicBezTo>
                  <a:pt x="102424" y="55602"/>
                  <a:pt x="103436" y="59978"/>
                  <a:pt x="101322" y="63341"/>
                </a:cubicBezTo>
                <a:close/>
              </a:path>
            </a:pathLst>
          </a:custGeom>
          <a:solidFill>
            <a:srgbClr val="0D1B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51" name="Google Shape;351;p11"/>
          <p:cNvSpPr/>
          <p:nvPr/>
        </p:nvSpPr>
        <p:spPr>
          <a:xfrm>
            <a:off x="8585150" y="3924300"/>
            <a:ext cx="21431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0D1B4C"/>
                </a:solidFill>
                <a:latin typeface="EB Garamond"/>
                <a:ea typeface="EB Garamond"/>
                <a:cs typeface="EB Garamond"/>
                <a:sym typeface="EB Garamond"/>
              </a:rPr>
              <a:t>Hoàn thiện &amp; Launch</a:t>
            </a:r>
            <a:endParaRPr sz="1600">
              <a:solidFill>
                <a:schemeClr val="dk1"/>
              </a:solidFill>
              <a:latin typeface="EB Garamond"/>
              <a:ea typeface="EB Garamond"/>
              <a:cs typeface="EB Garamond"/>
              <a:sym typeface="EB Garamond"/>
            </a:endParaRPr>
          </a:p>
        </p:txBody>
      </p:sp>
      <p:sp>
        <p:nvSpPr>
          <p:cNvPr id="352" name="Google Shape;352;p11"/>
          <p:cNvSpPr/>
          <p:nvPr/>
        </p:nvSpPr>
        <p:spPr>
          <a:xfrm>
            <a:off x="8585150" y="4152900"/>
            <a:ext cx="2133600" cy="1905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050">
                <a:solidFill>
                  <a:srgbClr val="1C2026"/>
                </a:solidFill>
                <a:latin typeface="EB Garamond"/>
                <a:ea typeface="EB Garamond"/>
                <a:cs typeface="EB Garamond"/>
                <a:sym typeface="EB Garamond"/>
              </a:rPr>
              <a:t>Fix bug, optimize, chính thức ra mắt</a:t>
            </a:r>
            <a:endParaRPr sz="1600">
              <a:solidFill>
                <a:schemeClr val="dk1"/>
              </a:solidFill>
              <a:latin typeface="EB Garamond"/>
              <a:ea typeface="EB Garamond"/>
              <a:cs typeface="EB Garamond"/>
              <a:sym typeface="EB Garamond"/>
            </a:endParaRPr>
          </a:p>
        </p:txBody>
      </p:sp>
      <p:sp>
        <p:nvSpPr>
          <p:cNvPr id="353" name="Google Shape;353;p11"/>
          <p:cNvSpPr/>
          <p:nvPr/>
        </p:nvSpPr>
        <p:spPr>
          <a:xfrm>
            <a:off x="381000" y="5372100"/>
            <a:ext cx="11430000" cy="1104900"/>
          </a:xfrm>
          <a:custGeom>
            <a:rect b="b" l="l" r="r" t="t"/>
            <a:pathLst>
              <a:path extrusionOk="0" h="1104900" w="11430000">
                <a:moveTo>
                  <a:pt x="152399" y="0"/>
                </a:moveTo>
                <a:lnTo>
                  <a:pt x="11277601" y="0"/>
                </a:lnTo>
                <a:cubicBezTo>
                  <a:pt x="11361769" y="0"/>
                  <a:pt x="11430000" y="68231"/>
                  <a:pt x="11430000" y="152399"/>
                </a:cubicBezTo>
                <a:lnTo>
                  <a:pt x="11430000" y="952501"/>
                </a:lnTo>
                <a:cubicBezTo>
                  <a:pt x="11430000" y="1036669"/>
                  <a:pt x="11361769" y="1104900"/>
                  <a:pt x="11277601" y="1104900"/>
                </a:cubicBezTo>
                <a:lnTo>
                  <a:pt x="152399" y="1104900"/>
                </a:lnTo>
                <a:cubicBezTo>
                  <a:pt x="68231" y="1104900"/>
                  <a:pt x="0" y="1036669"/>
                  <a:pt x="0" y="952501"/>
                </a:cubicBezTo>
                <a:lnTo>
                  <a:pt x="0" y="152399"/>
                </a:lnTo>
                <a:cubicBezTo>
                  <a:pt x="0" y="68231"/>
                  <a:pt x="68231" y="0"/>
                  <a:pt x="152399" y="0"/>
                </a:cubicBezTo>
                <a:close/>
              </a:path>
            </a:pathLst>
          </a:custGeom>
          <a:gradFill>
            <a:gsLst>
              <a:gs pos="0">
                <a:srgbClr val="295EDF"/>
              </a:gs>
              <a:gs pos="100000">
                <a:srgbClr val="FF9045"/>
              </a:gs>
            </a:gsLst>
            <a:lin ang="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54" name="Google Shape;354;p11"/>
          <p:cNvSpPr/>
          <p:nvPr/>
        </p:nvSpPr>
        <p:spPr>
          <a:xfrm>
            <a:off x="589359" y="5781675"/>
            <a:ext cx="250031" cy="285750"/>
          </a:xfrm>
          <a:custGeom>
            <a:rect b="b" l="l" r="r" t="t"/>
            <a:pathLst>
              <a:path extrusionOk="0" h="285750" w="250031">
                <a:moveTo>
                  <a:pt x="17859" y="0"/>
                </a:moveTo>
                <a:cubicBezTo>
                  <a:pt x="27738" y="0"/>
                  <a:pt x="35719" y="7981"/>
                  <a:pt x="35719" y="17859"/>
                </a:cubicBezTo>
                <a:lnTo>
                  <a:pt x="35719" y="26789"/>
                </a:lnTo>
                <a:lnTo>
                  <a:pt x="74228" y="17190"/>
                </a:lnTo>
                <a:cubicBezTo>
                  <a:pt x="95492" y="11888"/>
                  <a:pt x="117928" y="14343"/>
                  <a:pt x="137573" y="24166"/>
                </a:cubicBezTo>
                <a:cubicBezTo>
                  <a:pt x="163413" y="37114"/>
                  <a:pt x="193830" y="37114"/>
                  <a:pt x="219670" y="24166"/>
                </a:cubicBezTo>
                <a:lnTo>
                  <a:pt x="225028" y="21487"/>
                </a:lnTo>
                <a:cubicBezTo>
                  <a:pt x="236525" y="15683"/>
                  <a:pt x="250031" y="24054"/>
                  <a:pt x="250031" y="36891"/>
                </a:cubicBezTo>
                <a:lnTo>
                  <a:pt x="250031" y="192993"/>
                </a:lnTo>
                <a:cubicBezTo>
                  <a:pt x="250031" y="200416"/>
                  <a:pt x="245399" y="207113"/>
                  <a:pt x="238423" y="209736"/>
                </a:cubicBezTo>
                <a:lnTo>
                  <a:pt x="219056" y="216991"/>
                </a:lnTo>
                <a:cubicBezTo>
                  <a:pt x="193272" y="226647"/>
                  <a:pt x="164585" y="225140"/>
                  <a:pt x="139973" y="212861"/>
                </a:cubicBezTo>
                <a:cubicBezTo>
                  <a:pt x="118821" y="202257"/>
                  <a:pt x="94543" y="199634"/>
                  <a:pt x="71605" y="205383"/>
                </a:cubicBezTo>
                <a:lnTo>
                  <a:pt x="35719" y="214313"/>
                </a:lnTo>
                <a:lnTo>
                  <a:pt x="35719" y="267891"/>
                </a:lnTo>
                <a:cubicBezTo>
                  <a:pt x="35719" y="277769"/>
                  <a:pt x="27738" y="285750"/>
                  <a:pt x="17859" y="285750"/>
                </a:cubicBezTo>
                <a:cubicBezTo>
                  <a:pt x="7981" y="285750"/>
                  <a:pt x="0" y="277769"/>
                  <a:pt x="0" y="267891"/>
                </a:cubicBezTo>
                <a:lnTo>
                  <a:pt x="0" y="17859"/>
                </a:lnTo>
                <a:cubicBezTo>
                  <a:pt x="0" y="7981"/>
                  <a:pt x="7981" y="0"/>
                  <a:pt x="17859" y="0"/>
                </a:cubicBezTo>
                <a:close/>
                <a:moveTo>
                  <a:pt x="35719" y="104422"/>
                </a:moveTo>
                <a:lnTo>
                  <a:pt x="71438" y="96664"/>
                </a:lnTo>
                <a:lnTo>
                  <a:pt x="71438" y="133220"/>
                </a:lnTo>
                <a:lnTo>
                  <a:pt x="35719" y="140977"/>
                </a:lnTo>
                <a:lnTo>
                  <a:pt x="35719" y="177533"/>
                </a:lnTo>
                <a:lnTo>
                  <a:pt x="62954" y="170724"/>
                </a:lnTo>
                <a:cubicBezTo>
                  <a:pt x="65801" y="169999"/>
                  <a:pt x="68591" y="169385"/>
                  <a:pt x="71438" y="168883"/>
                </a:cubicBezTo>
                <a:lnTo>
                  <a:pt x="71438" y="133220"/>
                </a:lnTo>
                <a:lnTo>
                  <a:pt x="93148" y="128532"/>
                </a:lnTo>
                <a:cubicBezTo>
                  <a:pt x="97780" y="127527"/>
                  <a:pt x="102468" y="127136"/>
                  <a:pt x="107156" y="127360"/>
                </a:cubicBezTo>
                <a:lnTo>
                  <a:pt x="107156" y="91641"/>
                </a:lnTo>
                <a:cubicBezTo>
                  <a:pt x="114746" y="91864"/>
                  <a:pt x="122337" y="93092"/>
                  <a:pt x="129704" y="95213"/>
                </a:cubicBezTo>
                <a:lnTo>
                  <a:pt x="142875" y="99064"/>
                </a:lnTo>
                <a:lnTo>
                  <a:pt x="142875" y="136289"/>
                </a:lnTo>
                <a:lnTo>
                  <a:pt x="119602" y="129425"/>
                </a:lnTo>
                <a:cubicBezTo>
                  <a:pt x="115528" y="128253"/>
                  <a:pt x="111342" y="127527"/>
                  <a:pt x="107156" y="127304"/>
                </a:cubicBezTo>
                <a:lnTo>
                  <a:pt x="107156" y="167153"/>
                </a:lnTo>
                <a:cubicBezTo>
                  <a:pt x="119323" y="168213"/>
                  <a:pt x="131322" y="170892"/>
                  <a:pt x="142875" y="175189"/>
                </a:cubicBezTo>
                <a:lnTo>
                  <a:pt x="142875" y="136234"/>
                </a:lnTo>
                <a:lnTo>
                  <a:pt x="155544" y="139973"/>
                </a:lnTo>
                <a:cubicBezTo>
                  <a:pt x="163078" y="142205"/>
                  <a:pt x="170780" y="143545"/>
                  <a:pt x="178594" y="144103"/>
                </a:cubicBezTo>
                <a:lnTo>
                  <a:pt x="178594" y="108272"/>
                </a:lnTo>
                <a:cubicBezTo>
                  <a:pt x="174241" y="107826"/>
                  <a:pt x="169887" y="106989"/>
                  <a:pt x="165646" y="105761"/>
                </a:cubicBezTo>
                <a:lnTo>
                  <a:pt x="142875" y="99064"/>
                </a:lnTo>
                <a:lnTo>
                  <a:pt x="142875" y="64461"/>
                </a:lnTo>
                <a:cubicBezTo>
                  <a:pt x="135620" y="62340"/>
                  <a:pt x="128476" y="59550"/>
                  <a:pt x="121555" y="56090"/>
                </a:cubicBezTo>
                <a:cubicBezTo>
                  <a:pt x="116979" y="53801"/>
                  <a:pt x="112123" y="52183"/>
                  <a:pt x="107156" y="51178"/>
                </a:cubicBezTo>
                <a:lnTo>
                  <a:pt x="107156" y="91585"/>
                </a:lnTo>
                <a:cubicBezTo>
                  <a:pt x="99901" y="91362"/>
                  <a:pt x="92646" y="92032"/>
                  <a:pt x="85558" y="93594"/>
                </a:cubicBezTo>
                <a:lnTo>
                  <a:pt x="71438" y="96664"/>
                </a:lnTo>
                <a:lnTo>
                  <a:pt x="71438" y="54694"/>
                </a:lnTo>
                <a:lnTo>
                  <a:pt x="35719" y="63624"/>
                </a:lnTo>
                <a:lnTo>
                  <a:pt x="35719" y="104422"/>
                </a:lnTo>
                <a:close/>
                <a:moveTo>
                  <a:pt x="178594" y="187356"/>
                </a:moveTo>
                <a:cubicBezTo>
                  <a:pt x="187970" y="188193"/>
                  <a:pt x="197514" y="186965"/>
                  <a:pt x="206499" y="183561"/>
                </a:cubicBezTo>
                <a:lnTo>
                  <a:pt x="214313" y="180659"/>
                </a:lnTo>
                <a:lnTo>
                  <a:pt x="214313" y="140643"/>
                </a:lnTo>
                <a:lnTo>
                  <a:pt x="209903" y="141647"/>
                </a:lnTo>
                <a:cubicBezTo>
                  <a:pt x="199634" y="144047"/>
                  <a:pt x="189086" y="144828"/>
                  <a:pt x="178594" y="144159"/>
                </a:cubicBezTo>
                <a:lnTo>
                  <a:pt x="178594" y="187356"/>
                </a:lnTo>
                <a:close/>
                <a:moveTo>
                  <a:pt x="214313" y="103975"/>
                </a:moveTo>
                <a:lnTo>
                  <a:pt x="214313" y="64461"/>
                </a:lnTo>
                <a:cubicBezTo>
                  <a:pt x="202648" y="67866"/>
                  <a:pt x="190649" y="69540"/>
                  <a:pt x="178594" y="69540"/>
                </a:cubicBezTo>
                <a:lnTo>
                  <a:pt x="178594" y="108272"/>
                </a:lnTo>
                <a:cubicBezTo>
                  <a:pt x="186351" y="109054"/>
                  <a:pt x="194221" y="108552"/>
                  <a:pt x="201867" y="106821"/>
                </a:cubicBezTo>
                <a:lnTo>
                  <a:pt x="214313" y="103919"/>
                </a:ln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55" name="Google Shape;355;p11"/>
          <p:cNvSpPr/>
          <p:nvPr/>
        </p:nvSpPr>
        <p:spPr>
          <a:xfrm>
            <a:off x="1042988" y="5657850"/>
            <a:ext cx="3514725"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FFFFF"/>
                </a:solidFill>
                <a:latin typeface="EB Garamond"/>
                <a:ea typeface="EB Garamond"/>
                <a:cs typeface="EB Garamond"/>
                <a:sym typeface="EB Garamond"/>
              </a:rPr>
              <a:t>Các Milestone quan trọng</a:t>
            </a:r>
            <a:endParaRPr sz="1600">
              <a:solidFill>
                <a:schemeClr val="dk1"/>
              </a:solidFill>
              <a:latin typeface="EB Garamond"/>
              <a:ea typeface="EB Garamond"/>
              <a:cs typeface="EB Garamond"/>
              <a:sym typeface="EB Garamond"/>
            </a:endParaRPr>
          </a:p>
        </p:txBody>
      </p:sp>
      <p:sp>
        <p:nvSpPr>
          <p:cNvPr id="356" name="Google Shape;356;p11"/>
          <p:cNvSpPr/>
          <p:nvPr/>
        </p:nvSpPr>
        <p:spPr>
          <a:xfrm>
            <a:off x="1042988" y="5962650"/>
            <a:ext cx="349567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lang="en-US" sz="1200">
                <a:solidFill>
                  <a:srgbClr val="FFFFFF"/>
                </a:solidFill>
                <a:latin typeface="EB Garamond"/>
                <a:ea typeface="EB Garamond"/>
                <a:cs typeface="EB Garamond"/>
                <a:sym typeface="EB Garamond"/>
              </a:rPr>
              <a:t>Prototype hoàn thành • Beta version • Official launch</a:t>
            </a:r>
            <a:endParaRPr sz="1600">
              <a:solidFill>
                <a:schemeClr val="dk1"/>
              </a:solidFill>
              <a:latin typeface="EB Garamond"/>
              <a:ea typeface="EB Garamond"/>
              <a:cs typeface="EB Garamond"/>
              <a:sym typeface="EB Garamond"/>
            </a:endParaRPr>
          </a:p>
        </p:txBody>
      </p:sp>
      <p:sp>
        <p:nvSpPr>
          <p:cNvPr id="357" name="Google Shape;357;p11"/>
          <p:cNvSpPr/>
          <p:nvPr/>
        </p:nvSpPr>
        <p:spPr>
          <a:xfrm>
            <a:off x="10361712" y="5524500"/>
            <a:ext cx="1295400" cy="800100"/>
          </a:xfrm>
          <a:custGeom>
            <a:rect b="b" l="l" r="r" t="t"/>
            <a:pathLst>
              <a:path extrusionOk="0" h="800100" w="1295400">
                <a:moveTo>
                  <a:pt x="114302" y="0"/>
                </a:moveTo>
                <a:lnTo>
                  <a:pt x="1181098" y="0"/>
                </a:lnTo>
                <a:cubicBezTo>
                  <a:pt x="1244183" y="0"/>
                  <a:pt x="1295400" y="51217"/>
                  <a:pt x="1295400" y="114302"/>
                </a:cubicBezTo>
                <a:lnTo>
                  <a:pt x="1295400" y="685798"/>
                </a:lnTo>
                <a:cubicBezTo>
                  <a:pt x="1295400" y="748883"/>
                  <a:pt x="1244183" y="800100"/>
                  <a:pt x="1181098" y="800100"/>
                </a:cubicBezTo>
                <a:lnTo>
                  <a:pt x="114302" y="800100"/>
                </a:lnTo>
                <a:cubicBezTo>
                  <a:pt x="51217" y="800100"/>
                  <a:pt x="0" y="748883"/>
                  <a:pt x="0" y="685798"/>
                </a:cubicBezTo>
                <a:lnTo>
                  <a:pt x="0" y="114302"/>
                </a:lnTo>
                <a:cubicBezTo>
                  <a:pt x="0" y="51217"/>
                  <a:pt x="51217" y="0"/>
                  <a:pt x="114302" y="0"/>
                </a:cubicBezTo>
                <a:close/>
              </a:path>
            </a:pathLst>
          </a:custGeom>
          <a:solidFill>
            <a:srgbClr val="FFFFFF">
              <a:alpha val="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58" name="Google Shape;358;p11"/>
          <p:cNvSpPr/>
          <p:nvPr/>
        </p:nvSpPr>
        <p:spPr>
          <a:xfrm>
            <a:off x="10409337" y="5638800"/>
            <a:ext cx="1057275" cy="342900"/>
          </a:xfrm>
          <a:prstGeom prst="rect">
            <a:avLst/>
          </a:prstGeom>
          <a:noFill/>
          <a:ln>
            <a:noFill/>
          </a:ln>
        </p:spPr>
        <p:txBody>
          <a:bodyPr anchorCtr="0" anchor="ctr" bIns="0" lIns="0" spcFirstLastPara="1" rIns="0" wrap="square" tIns="0">
            <a:noAutofit/>
          </a:bodyPr>
          <a:lstStyle/>
          <a:p>
            <a:pPr indent="0" lvl="0" marL="0" marR="0" rtl="0" algn="r">
              <a:lnSpc>
                <a:spcPct val="100000"/>
              </a:lnSpc>
              <a:spcBef>
                <a:spcPts val="0"/>
              </a:spcBef>
              <a:spcAft>
                <a:spcPts val="0"/>
              </a:spcAft>
              <a:buNone/>
            </a:pPr>
            <a:r>
              <a:rPr b="1" lang="en-US" sz="2250">
                <a:solidFill>
                  <a:srgbClr val="FFFFFF"/>
                </a:solidFill>
                <a:latin typeface="EB Garamond"/>
                <a:ea typeface="EB Garamond"/>
                <a:cs typeface="EB Garamond"/>
                <a:sym typeface="EB Garamond"/>
              </a:rPr>
              <a:t>4 tuần</a:t>
            </a:r>
            <a:endParaRPr sz="1600">
              <a:solidFill>
                <a:schemeClr val="dk1"/>
              </a:solidFill>
              <a:latin typeface="EB Garamond"/>
              <a:ea typeface="EB Garamond"/>
              <a:cs typeface="EB Garamond"/>
              <a:sym typeface="EB Garamond"/>
            </a:endParaRPr>
          </a:p>
        </p:txBody>
      </p:sp>
      <p:sp>
        <p:nvSpPr>
          <p:cNvPr id="359" name="Google Shape;359;p11"/>
          <p:cNvSpPr/>
          <p:nvPr/>
        </p:nvSpPr>
        <p:spPr>
          <a:xfrm>
            <a:off x="10476012" y="5981700"/>
            <a:ext cx="990600" cy="228600"/>
          </a:xfrm>
          <a:prstGeom prst="rect">
            <a:avLst/>
          </a:prstGeom>
          <a:noFill/>
          <a:ln>
            <a:noFill/>
          </a:ln>
        </p:spPr>
        <p:txBody>
          <a:bodyPr anchorCtr="0" anchor="ctr" bIns="0" lIns="0" spcFirstLastPara="1" rIns="0" wrap="square" tIns="0">
            <a:noAutofit/>
          </a:bodyPr>
          <a:lstStyle/>
          <a:p>
            <a:pPr indent="0" lvl="0" marL="0" marR="0" rtl="0" algn="r">
              <a:lnSpc>
                <a:spcPct val="130000"/>
              </a:lnSpc>
              <a:spcBef>
                <a:spcPts val="0"/>
              </a:spcBef>
              <a:spcAft>
                <a:spcPts val="0"/>
              </a:spcAft>
              <a:buNone/>
            </a:pPr>
            <a:r>
              <a:rPr lang="en-US" sz="1200">
                <a:solidFill>
                  <a:srgbClr val="FFFFFF"/>
                </a:solidFill>
                <a:latin typeface="EB Garamond"/>
                <a:ea typeface="EB Garamond"/>
                <a:cs typeface="EB Garamond"/>
                <a:sym typeface="EB Garamond"/>
              </a:rPr>
              <a:t>Tổng thờigian</a:t>
            </a:r>
            <a:endParaRPr sz="1600">
              <a:solidFill>
                <a:schemeClr val="dk1"/>
              </a:solidFill>
              <a:latin typeface="EB Garamond"/>
              <a:ea typeface="EB Garamond"/>
              <a:cs typeface="EB Garamond"/>
              <a:sym typeface="EB Garamond"/>
            </a:endParaRP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9FAFB"/>
        </a:solidFill>
      </p:bgPr>
    </p:bg>
    <p:spTree>
      <p:nvGrpSpPr>
        <p:cNvPr id="364" name="Shape 364"/>
        <p:cNvGrpSpPr/>
        <p:nvPr/>
      </p:nvGrpSpPr>
      <p:grpSpPr>
        <a:xfrm>
          <a:off x="0" y="0"/>
          <a:ext cx="0" cy="0"/>
          <a:chOff x="0" y="0"/>
          <a:chExt cx="0" cy="0"/>
        </a:xfrm>
      </p:grpSpPr>
      <p:sp>
        <p:nvSpPr>
          <p:cNvPr id="365" name="Google Shape;365;p12"/>
          <p:cNvSpPr/>
          <p:nvPr/>
        </p:nvSpPr>
        <p:spPr>
          <a:xfrm>
            <a:off x="381000" y="869156"/>
            <a:ext cx="4467225" cy="228600"/>
          </a:xfrm>
          <a:prstGeom prst="rect">
            <a:avLst/>
          </a:prstGeom>
          <a:noFill/>
          <a:ln>
            <a:noFill/>
          </a:ln>
        </p:spPr>
        <p:txBody>
          <a:bodyPr anchorCtr="0" anchor="ctr" bIns="0" lIns="0" spcFirstLastPara="1" rIns="0" wrap="square" tIns="0">
            <a:noAutofit/>
          </a:bodyPr>
          <a:lstStyle/>
          <a:p>
            <a:pPr indent="0" lvl="0" marL="0" marR="0" rtl="0" algn="l">
              <a:lnSpc>
                <a:spcPct val="130000"/>
              </a:lnSpc>
              <a:spcBef>
                <a:spcPts val="0"/>
              </a:spcBef>
              <a:spcAft>
                <a:spcPts val="0"/>
              </a:spcAft>
              <a:buNone/>
            </a:pPr>
            <a:r>
              <a:rPr b="1" lang="en-US" sz="1200">
                <a:solidFill>
                  <a:srgbClr val="295EDF"/>
                </a:solidFill>
                <a:latin typeface="EB Garamond"/>
                <a:ea typeface="EB Garamond"/>
                <a:cs typeface="EB Garamond"/>
                <a:sym typeface="EB Garamond"/>
              </a:rPr>
              <a:t>COMMUNICATION</a:t>
            </a:r>
            <a:endParaRPr sz="1600">
              <a:solidFill>
                <a:schemeClr val="dk1"/>
              </a:solidFill>
              <a:latin typeface="EB Garamond"/>
              <a:ea typeface="EB Garamond"/>
              <a:cs typeface="EB Garamond"/>
              <a:sym typeface="EB Garamond"/>
            </a:endParaRPr>
          </a:p>
        </p:txBody>
      </p:sp>
      <p:sp>
        <p:nvSpPr>
          <p:cNvPr id="366" name="Google Shape;366;p12"/>
          <p:cNvSpPr/>
          <p:nvPr/>
        </p:nvSpPr>
        <p:spPr>
          <a:xfrm>
            <a:off x="381000" y="1212056"/>
            <a:ext cx="4676775" cy="142875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lang="en-US" sz="4500">
                <a:solidFill>
                  <a:srgbClr val="0D1B4C"/>
                </a:solidFill>
                <a:latin typeface="EB Garamond"/>
                <a:ea typeface="EB Garamond"/>
                <a:cs typeface="EB Garamond"/>
                <a:sym typeface="EB Garamond"/>
              </a:rPr>
              <a:t>Kế hoạch truyền thông</a:t>
            </a:r>
            <a:endParaRPr sz="1600">
              <a:solidFill>
                <a:schemeClr val="dk1"/>
              </a:solidFill>
              <a:latin typeface="EB Garamond"/>
              <a:ea typeface="EB Garamond"/>
              <a:cs typeface="EB Garamond"/>
              <a:sym typeface="EB Garamond"/>
            </a:endParaRPr>
          </a:p>
        </p:txBody>
      </p:sp>
      <p:sp>
        <p:nvSpPr>
          <p:cNvPr id="367" name="Google Shape;367;p12"/>
          <p:cNvSpPr/>
          <p:nvPr/>
        </p:nvSpPr>
        <p:spPr>
          <a:xfrm>
            <a:off x="381000" y="2945606"/>
            <a:ext cx="4486275" cy="933450"/>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500">
                <a:solidFill>
                  <a:srgbClr val="1C2026"/>
                </a:solidFill>
                <a:latin typeface="EB Garamond"/>
                <a:ea typeface="EB Garamond"/>
                <a:cs typeface="EB Garamond"/>
                <a:sym typeface="EB Garamond"/>
              </a:rPr>
              <a:t>Chiến lược quảng bá và tiếp cận ngườidùng một cách hiệu quả, tận dụng các kênh truyền thông nội bộ và mạng xã hội.</a:t>
            </a:r>
            <a:endParaRPr sz="1600">
              <a:solidFill>
                <a:schemeClr val="dk1"/>
              </a:solidFill>
              <a:latin typeface="EB Garamond"/>
              <a:ea typeface="EB Garamond"/>
              <a:cs typeface="EB Garamond"/>
              <a:sym typeface="EB Garamond"/>
            </a:endParaRPr>
          </a:p>
        </p:txBody>
      </p:sp>
      <p:sp>
        <p:nvSpPr>
          <p:cNvPr id="368" name="Google Shape;368;p12"/>
          <p:cNvSpPr/>
          <p:nvPr/>
        </p:nvSpPr>
        <p:spPr>
          <a:xfrm>
            <a:off x="381000" y="4179094"/>
            <a:ext cx="4391025" cy="1809750"/>
          </a:xfrm>
          <a:custGeom>
            <a:rect b="b" l="l" r="r" t="t"/>
            <a:pathLst>
              <a:path extrusionOk="0" h="1809750" w="4391025">
                <a:moveTo>
                  <a:pt x="152399" y="0"/>
                </a:moveTo>
                <a:lnTo>
                  <a:pt x="4238626" y="0"/>
                </a:lnTo>
                <a:cubicBezTo>
                  <a:pt x="4322794" y="0"/>
                  <a:pt x="4391025" y="68231"/>
                  <a:pt x="4391025" y="152399"/>
                </a:cubicBezTo>
                <a:lnTo>
                  <a:pt x="4391025" y="1657351"/>
                </a:lnTo>
                <a:cubicBezTo>
                  <a:pt x="4391025" y="1741519"/>
                  <a:pt x="4322794" y="1809750"/>
                  <a:pt x="4238626" y="1809750"/>
                </a:cubicBezTo>
                <a:lnTo>
                  <a:pt x="152399" y="1809750"/>
                </a:lnTo>
                <a:cubicBezTo>
                  <a:pt x="68231" y="1809750"/>
                  <a:pt x="0" y="1741519"/>
                  <a:pt x="0" y="1657351"/>
                </a:cubicBezTo>
                <a:lnTo>
                  <a:pt x="0" y="152399"/>
                </a:lnTo>
                <a:cubicBezTo>
                  <a:pt x="0" y="68288"/>
                  <a:pt x="68288" y="0"/>
                  <a:pt x="152399" y="0"/>
                </a:cubicBezTo>
                <a:close/>
              </a:path>
            </a:pathLst>
          </a:custGeom>
          <a:gradFill>
            <a:gsLst>
              <a:gs pos="0">
                <a:srgbClr val="295EDF"/>
              </a:gs>
              <a:gs pos="100000">
                <a:srgbClr val="FF9045"/>
              </a:gs>
            </a:gsLst>
            <a:lin ang="2700000" scaled="0"/>
          </a:gra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69" name="Google Shape;369;p12"/>
          <p:cNvSpPr/>
          <p:nvPr/>
        </p:nvSpPr>
        <p:spPr>
          <a:xfrm>
            <a:off x="647700" y="4407694"/>
            <a:ext cx="285750" cy="285750"/>
          </a:xfrm>
          <a:custGeom>
            <a:rect b="b" l="l" r="r" t="t"/>
            <a:pathLst>
              <a:path extrusionOk="0" h="285750" w="285750">
                <a:moveTo>
                  <a:pt x="250031" y="142875"/>
                </a:moveTo>
                <a:cubicBezTo>
                  <a:pt x="250031" y="83734"/>
                  <a:pt x="202016" y="35719"/>
                  <a:pt x="142875" y="35719"/>
                </a:cubicBezTo>
                <a:cubicBezTo>
                  <a:pt x="83734" y="35719"/>
                  <a:pt x="35719" y="83734"/>
                  <a:pt x="35719" y="142875"/>
                </a:cubicBezTo>
                <a:cubicBezTo>
                  <a:pt x="35719" y="202016"/>
                  <a:pt x="83734" y="250031"/>
                  <a:pt x="142875" y="250031"/>
                </a:cubicBezTo>
                <a:cubicBezTo>
                  <a:pt x="202016" y="250031"/>
                  <a:pt x="250031" y="202016"/>
                  <a:pt x="250031" y="142875"/>
                </a:cubicBezTo>
                <a:close/>
                <a:moveTo>
                  <a:pt x="0" y="142875"/>
                </a:moveTo>
                <a:cubicBezTo>
                  <a:pt x="0" y="64020"/>
                  <a:pt x="64020" y="0"/>
                  <a:pt x="142875" y="0"/>
                </a:cubicBezTo>
                <a:cubicBezTo>
                  <a:pt x="221730" y="0"/>
                  <a:pt x="285750" y="64020"/>
                  <a:pt x="285750" y="142875"/>
                </a:cubicBezTo>
                <a:cubicBezTo>
                  <a:pt x="285750" y="221730"/>
                  <a:pt x="221730" y="285750"/>
                  <a:pt x="142875" y="285750"/>
                </a:cubicBezTo>
                <a:cubicBezTo>
                  <a:pt x="64020" y="285750"/>
                  <a:pt x="0" y="221730"/>
                  <a:pt x="0" y="142875"/>
                </a:cubicBezTo>
                <a:close/>
                <a:moveTo>
                  <a:pt x="142875" y="187523"/>
                </a:moveTo>
                <a:cubicBezTo>
                  <a:pt x="167517" y="187523"/>
                  <a:pt x="187523" y="167517"/>
                  <a:pt x="187523" y="142875"/>
                </a:cubicBezTo>
                <a:cubicBezTo>
                  <a:pt x="187523" y="118233"/>
                  <a:pt x="167517" y="98227"/>
                  <a:pt x="142875" y="98227"/>
                </a:cubicBezTo>
                <a:cubicBezTo>
                  <a:pt x="118233" y="98227"/>
                  <a:pt x="98227" y="118233"/>
                  <a:pt x="98227" y="142875"/>
                </a:cubicBezTo>
                <a:cubicBezTo>
                  <a:pt x="98227" y="167517"/>
                  <a:pt x="118233" y="187523"/>
                  <a:pt x="142875" y="187523"/>
                </a:cubicBezTo>
                <a:close/>
                <a:moveTo>
                  <a:pt x="142875" y="62508"/>
                </a:moveTo>
                <a:cubicBezTo>
                  <a:pt x="187231" y="62508"/>
                  <a:pt x="223242" y="98519"/>
                  <a:pt x="223242" y="142875"/>
                </a:cubicBezTo>
                <a:cubicBezTo>
                  <a:pt x="223242" y="187231"/>
                  <a:pt x="187231" y="223242"/>
                  <a:pt x="142875" y="223242"/>
                </a:cubicBezTo>
                <a:cubicBezTo>
                  <a:pt x="98519" y="223242"/>
                  <a:pt x="62508" y="187231"/>
                  <a:pt x="62508" y="142875"/>
                </a:cubicBezTo>
                <a:cubicBezTo>
                  <a:pt x="62508" y="98519"/>
                  <a:pt x="98519" y="62508"/>
                  <a:pt x="142875" y="62508"/>
                </a:cubicBezTo>
                <a:close/>
                <a:moveTo>
                  <a:pt x="125016" y="142875"/>
                </a:moveTo>
                <a:cubicBezTo>
                  <a:pt x="125016" y="133018"/>
                  <a:pt x="133018" y="125016"/>
                  <a:pt x="142875" y="125016"/>
                </a:cubicBezTo>
                <a:cubicBezTo>
                  <a:pt x="152732" y="125016"/>
                  <a:pt x="160734" y="133018"/>
                  <a:pt x="160734" y="142875"/>
                </a:cubicBezTo>
                <a:cubicBezTo>
                  <a:pt x="160734" y="152732"/>
                  <a:pt x="152732" y="160734"/>
                  <a:pt x="142875" y="160734"/>
                </a:cubicBezTo>
                <a:cubicBezTo>
                  <a:pt x="133018" y="160734"/>
                  <a:pt x="125016" y="152732"/>
                  <a:pt x="125016" y="142875"/>
                </a:cubicBezTo>
                <a:close/>
              </a:path>
            </a:pathLst>
          </a:cu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70" name="Google Shape;370;p12"/>
          <p:cNvSpPr/>
          <p:nvPr/>
        </p:nvSpPr>
        <p:spPr>
          <a:xfrm>
            <a:off x="1081088" y="4417219"/>
            <a:ext cx="1847850" cy="2667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b="1" lang="en-US" sz="1500">
                <a:solidFill>
                  <a:srgbClr val="FFFFFF"/>
                </a:solidFill>
                <a:latin typeface="EB Garamond"/>
                <a:ea typeface="EB Garamond"/>
                <a:cs typeface="EB Garamond"/>
                <a:sym typeface="EB Garamond"/>
              </a:rPr>
              <a:t>Mục tiêu</a:t>
            </a:r>
            <a:endParaRPr sz="1600">
              <a:solidFill>
                <a:schemeClr val="dk1"/>
              </a:solidFill>
              <a:latin typeface="EB Garamond"/>
              <a:ea typeface="EB Garamond"/>
              <a:cs typeface="EB Garamond"/>
              <a:sym typeface="EB Garamond"/>
            </a:endParaRPr>
          </a:p>
        </p:txBody>
      </p:sp>
      <p:sp>
        <p:nvSpPr>
          <p:cNvPr id="371" name="Google Shape;371;p12"/>
          <p:cNvSpPr/>
          <p:nvPr/>
        </p:nvSpPr>
        <p:spPr>
          <a:xfrm>
            <a:off x="933450" y="4826794"/>
            <a:ext cx="2133600" cy="914400"/>
          </a:xfrm>
          <a:prstGeom prst="rect">
            <a:avLst/>
          </a:prstGeom>
          <a:noFill/>
          <a:ln>
            <a:noFill/>
          </a:ln>
        </p:spPr>
        <p:txBody>
          <a:bodyPr anchorCtr="0" anchor="ctr" bIns="0" lIns="0" spcFirstLastPara="1" rIns="0" wrap="square" tIns="0">
            <a:noAutofit/>
          </a:bodyPr>
          <a:lstStyle/>
          <a:p>
            <a:pPr indent="0" lvl="0" marL="0" marR="0" rtl="0" algn="l">
              <a:lnSpc>
                <a:spcPct val="80000"/>
              </a:lnSpc>
              <a:spcBef>
                <a:spcPts val="0"/>
              </a:spcBef>
              <a:spcAft>
                <a:spcPts val="0"/>
              </a:spcAft>
              <a:buNone/>
            </a:pPr>
            <a:r>
              <a:rPr b="1" lang="en-US" sz="3600">
                <a:solidFill>
                  <a:srgbClr val="FFFFFF"/>
                </a:solidFill>
                <a:latin typeface="EB Garamond"/>
                <a:ea typeface="EB Garamond"/>
                <a:cs typeface="EB Garamond"/>
                <a:sym typeface="EB Garamond"/>
              </a:rPr>
              <a:t>100</a:t>
            </a:r>
            <a:endParaRPr sz="1600">
              <a:solidFill>
                <a:schemeClr val="dk1"/>
              </a:solidFill>
              <a:latin typeface="EB Garamond"/>
              <a:ea typeface="EB Garamond"/>
              <a:cs typeface="EB Garamond"/>
              <a:sym typeface="EB Garamond"/>
            </a:endParaRPr>
          </a:p>
        </p:txBody>
      </p:sp>
      <p:sp>
        <p:nvSpPr>
          <p:cNvPr id="372" name="Google Shape;372;p12"/>
          <p:cNvSpPr/>
          <p:nvPr/>
        </p:nvSpPr>
        <p:spPr>
          <a:xfrm>
            <a:off x="1905000" y="5017294"/>
            <a:ext cx="2047875" cy="533400"/>
          </a:xfrm>
          <a:prstGeom prst="rect">
            <a:avLst/>
          </a:prstGeom>
          <a:noFill/>
          <a:ln>
            <a:noFill/>
          </a:ln>
        </p:spPr>
        <p:txBody>
          <a:bodyPr anchorCtr="0" anchor="ctr" bIns="0" lIns="0" spcFirstLastPara="1" rIns="0" wrap="square" tIns="0">
            <a:noAutofit/>
          </a:bodyPr>
          <a:lstStyle/>
          <a:p>
            <a:pPr indent="0" lvl="0" marL="0" marR="0" rtl="0" algn="l">
              <a:lnSpc>
                <a:spcPct val="120000"/>
              </a:lnSpc>
              <a:spcBef>
                <a:spcPts val="0"/>
              </a:spcBef>
              <a:spcAft>
                <a:spcPts val="0"/>
              </a:spcAft>
              <a:buNone/>
            </a:pPr>
            <a:r>
              <a:rPr lang="en-US" sz="1500">
                <a:solidFill>
                  <a:srgbClr val="FFFFFF"/>
                </a:solidFill>
                <a:latin typeface="EB Garamond"/>
                <a:ea typeface="EB Garamond"/>
                <a:cs typeface="EB Garamond"/>
                <a:sym typeface="EB Garamond"/>
              </a:rPr>
              <a:t>FEEDBACK</a:t>
            </a:r>
            <a:endParaRPr sz="1600">
              <a:solidFill>
                <a:schemeClr val="dk1"/>
              </a:solidFill>
              <a:latin typeface="EB Garamond"/>
              <a:ea typeface="EB Garamond"/>
              <a:cs typeface="EB Garamond"/>
              <a:sym typeface="EB Garamond"/>
            </a:endParaRPr>
          </a:p>
        </p:txBody>
      </p:sp>
      <p:sp>
        <p:nvSpPr>
          <p:cNvPr id="373" name="Google Shape;373;p12"/>
          <p:cNvSpPr/>
          <p:nvPr/>
        </p:nvSpPr>
        <p:spPr>
          <a:xfrm>
            <a:off x="5074890" y="1057275"/>
            <a:ext cx="609600" cy="6096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74" name="Google Shape;374;p12"/>
          <p:cNvSpPr/>
          <p:nvPr/>
        </p:nvSpPr>
        <p:spPr>
          <a:xfrm>
            <a:off x="5017740" y="1057275"/>
            <a:ext cx="723900" cy="6096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01</a:t>
            </a:r>
            <a:endParaRPr sz="1600">
              <a:solidFill>
                <a:schemeClr val="dk1"/>
              </a:solidFill>
              <a:latin typeface="EB Garamond"/>
              <a:ea typeface="EB Garamond"/>
              <a:cs typeface="EB Garamond"/>
              <a:sym typeface="EB Garamond"/>
            </a:endParaRPr>
          </a:p>
        </p:txBody>
      </p:sp>
      <p:sp>
        <p:nvSpPr>
          <p:cNvPr id="375" name="Google Shape;375;p12"/>
          <p:cNvSpPr/>
          <p:nvPr/>
        </p:nvSpPr>
        <p:spPr>
          <a:xfrm>
            <a:off x="5874990" y="1133475"/>
            <a:ext cx="6048375"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Ra mắt nội bộ</a:t>
            </a:r>
            <a:endParaRPr sz="1600">
              <a:solidFill>
                <a:schemeClr val="dk1"/>
              </a:solidFill>
              <a:latin typeface="EB Garamond"/>
              <a:ea typeface="EB Garamond"/>
              <a:cs typeface="EB Garamond"/>
              <a:sym typeface="EB Garamond"/>
            </a:endParaRPr>
          </a:p>
        </p:txBody>
      </p:sp>
      <p:sp>
        <p:nvSpPr>
          <p:cNvPr id="376" name="Google Shape;376;p12"/>
          <p:cNvSpPr/>
          <p:nvPr/>
        </p:nvSpPr>
        <p:spPr>
          <a:xfrm>
            <a:off x="5874990" y="1514475"/>
            <a:ext cx="6019800" cy="56197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350">
                <a:solidFill>
                  <a:srgbClr val="1C2026"/>
                </a:solidFill>
                <a:latin typeface="EB Garamond"/>
                <a:ea typeface="EB Garamond"/>
                <a:cs typeface="EB Garamond"/>
                <a:sym typeface="EB Garamond"/>
              </a:rPr>
              <a:t>Giới thiệu dự án trong trường FPT thông qua các kênh: Email, fanpage, group sinh viên, buổi demo với các CLB.</a:t>
            </a:r>
            <a:endParaRPr sz="1600">
              <a:solidFill>
                <a:schemeClr val="dk1"/>
              </a:solidFill>
              <a:latin typeface="EB Garamond"/>
              <a:ea typeface="EB Garamond"/>
              <a:cs typeface="EB Garamond"/>
              <a:sym typeface="EB Garamond"/>
            </a:endParaRPr>
          </a:p>
        </p:txBody>
      </p:sp>
      <p:sp>
        <p:nvSpPr>
          <p:cNvPr id="377" name="Google Shape;377;p12"/>
          <p:cNvSpPr/>
          <p:nvPr/>
        </p:nvSpPr>
        <p:spPr>
          <a:xfrm>
            <a:off x="5074890" y="2300288"/>
            <a:ext cx="609600" cy="6096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78" name="Google Shape;378;p12"/>
          <p:cNvSpPr/>
          <p:nvPr/>
        </p:nvSpPr>
        <p:spPr>
          <a:xfrm>
            <a:off x="5017740" y="2300288"/>
            <a:ext cx="723900" cy="6096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02</a:t>
            </a:r>
            <a:endParaRPr sz="1600">
              <a:solidFill>
                <a:schemeClr val="dk1"/>
              </a:solidFill>
              <a:latin typeface="EB Garamond"/>
              <a:ea typeface="EB Garamond"/>
              <a:cs typeface="EB Garamond"/>
              <a:sym typeface="EB Garamond"/>
            </a:endParaRPr>
          </a:p>
        </p:txBody>
      </p:sp>
      <p:sp>
        <p:nvSpPr>
          <p:cNvPr id="379" name="Google Shape;379;p12"/>
          <p:cNvSpPr/>
          <p:nvPr/>
        </p:nvSpPr>
        <p:spPr>
          <a:xfrm>
            <a:off x="5874990" y="2376488"/>
            <a:ext cx="6048375"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Video giới thiệu</a:t>
            </a:r>
            <a:endParaRPr sz="1600">
              <a:solidFill>
                <a:schemeClr val="dk1"/>
              </a:solidFill>
              <a:latin typeface="EB Garamond"/>
              <a:ea typeface="EB Garamond"/>
              <a:cs typeface="EB Garamond"/>
              <a:sym typeface="EB Garamond"/>
            </a:endParaRPr>
          </a:p>
        </p:txBody>
      </p:sp>
      <p:sp>
        <p:nvSpPr>
          <p:cNvPr id="380" name="Google Shape;380;p12"/>
          <p:cNvSpPr/>
          <p:nvPr/>
        </p:nvSpPr>
        <p:spPr>
          <a:xfrm>
            <a:off x="5874990" y="2757488"/>
            <a:ext cx="6019800" cy="56197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350">
                <a:solidFill>
                  <a:srgbClr val="1C2026"/>
                </a:solidFill>
                <a:latin typeface="EB Garamond"/>
                <a:ea typeface="EB Garamond"/>
                <a:cs typeface="EB Garamond"/>
                <a:sym typeface="EB Garamond"/>
              </a:rPr>
              <a:t>Sản xuất video ngắn giới thiệu tính năng, hướng dẫn sử dụng, đăng tải trên YouTube, TikTok, Reels.</a:t>
            </a:r>
            <a:endParaRPr sz="1600">
              <a:solidFill>
                <a:schemeClr val="dk1"/>
              </a:solidFill>
              <a:latin typeface="EB Garamond"/>
              <a:ea typeface="EB Garamond"/>
              <a:cs typeface="EB Garamond"/>
              <a:sym typeface="EB Garamond"/>
            </a:endParaRPr>
          </a:p>
        </p:txBody>
      </p:sp>
      <p:sp>
        <p:nvSpPr>
          <p:cNvPr id="381" name="Google Shape;381;p12"/>
          <p:cNvSpPr/>
          <p:nvPr/>
        </p:nvSpPr>
        <p:spPr>
          <a:xfrm>
            <a:off x="5074890" y="3543300"/>
            <a:ext cx="609600" cy="6096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295ED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82" name="Google Shape;382;p12"/>
          <p:cNvSpPr/>
          <p:nvPr/>
        </p:nvSpPr>
        <p:spPr>
          <a:xfrm>
            <a:off x="5017740" y="3543300"/>
            <a:ext cx="723900" cy="6096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03</a:t>
            </a:r>
            <a:endParaRPr sz="1600">
              <a:solidFill>
                <a:schemeClr val="dk1"/>
              </a:solidFill>
              <a:latin typeface="EB Garamond"/>
              <a:ea typeface="EB Garamond"/>
              <a:cs typeface="EB Garamond"/>
              <a:sym typeface="EB Garamond"/>
            </a:endParaRPr>
          </a:p>
        </p:txBody>
      </p:sp>
      <p:sp>
        <p:nvSpPr>
          <p:cNvPr id="383" name="Google Shape;383;p12"/>
          <p:cNvSpPr/>
          <p:nvPr/>
        </p:nvSpPr>
        <p:spPr>
          <a:xfrm>
            <a:off x="5874990" y="3619500"/>
            <a:ext cx="6048375"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Quảng bá MXH</a:t>
            </a:r>
            <a:endParaRPr sz="1600">
              <a:solidFill>
                <a:schemeClr val="dk1"/>
              </a:solidFill>
              <a:latin typeface="EB Garamond"/>
              <a:ea typeface="EB Garamond"/>
              <a:cs typeface="EB Garamond"/>
              <a:sym typeface="EB Garamond"/>
            </a:endParaRPr>
          </a:p>
        </p:txBody>
      </p:sp>
      <p:sp>
        <p:nvSpPr>
          <p:cNvPr id="384" name="Google Shape;384;p12"/>
          <p:cNvSpPr/>
          <p:nvPr/>
        </p:nvSpPr>
        <p:spPr>
          <a:xfrm>
            <a:off x="5874990" y="4000500"/>
            <a:ext cx="6019800" cy="56197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350">
                <a:solidFill>
                  <a:srgbClr val="1C2026"/>
                </a:solidFill>
                <a:latin typeface="EB Garamond"/>
                <a:ea typeface="EB Garamond"/>
                <a:cs typeface="EB Garamond"/>
                <a:sym typeface="EB Garamond"/>
              </a:rPr>
              <a:t>Chạy ads Facebook, Instagram; viết bài PR trên các blog, diễn đàn công nghệ và giáo dục đại học.</a:t>
            </a:r>
            <a:endParaRPr sz="1600">
              <a:solidFill>
                <a:schemeClr val="dk1"/>
              </a:solidFill>
              <a:latin typeface="EB Garamond"/>
              <a:ea typeface="EB Garamond"/>
              <a:cs typeface="EB Garamond"/>
              <a:sym typeface="EB Garamond"/>
            </a:endParaRPr>
          </a:p>
        </p:txBody>
      </p:sp>
      <p:sp>
        <p:nvSpPr>
          <p:cNvPr id="385" name="Google Shape;385;p12"/>
          <p:cNvSpPr/>
          <p:nvPr/>
        </p:nvSpPr>
        <p:spPr>
          <a:xfrm>
            <a:off x="5074890" y="4786313"/>
            <a:ext cx="609600" cy="609600"/>
          </a:xfrm>
          <a:custGeom>
            <a:rect b="b" l="l" r="r" t="t"/>
            <a:pathLst>
              <a:path extrusionOk="0" h="609600" w="609600">
                <a:moveTo>
                  <a:pt x="304800" y="0"/>
                </a:moveTo>
                <a:lnTo>
                  <a:pt x="304800" y="0"/>
                </a:lnTo>
                <a:cubicBezTo>
                  <a:pt x="473024" y="0"/>
                  <a:pt x="609600" y="136576"/>
                  <a:pt x="609600" y="304800"/>
                </a:cubicBezTo>
                <a:lnTo>
                  <a:pt x="609600" y="304800"/>
                </a:lnTo>
                <a:cubicBezTo>
                  <a:pt x="609600" y="473024"/>
                  <a:pt x="473024" y="609600"/>
                  <a:pt x="304800" y="609600"/>
                </a:cubicBezTo>
                <a:lnTo>
                  <a:pt x="304800" y="609600"/>
                </a:lnTo>
                <a:cubicBezTo>
                  <a:pt x="136576" y="609600"/>
                  <a:pt x="0" y="473024"/>
                  <a:pt x="0" y="304800"/>
                </a:cubicBezTo>
                <a:lnTo>
                  <a:pt x="0" y="304800"/>
                </a:lnTo>
                <a:cubicBezTo>
                  <a:pt x="0" y="136576"/>
                  <a:pt x="136576" y="0"/>
                  <a:pt x="304800" y="0"/>
                </a:cubicBezTo>
                <a:close/>
              </a:path>
            </a:pathLst>
          </a:custGeom>
          <a:solidFill>
            <a:srgbClr val="0D1B4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latin typeface="EB Garamond"/>
              <a:ea typeface="EB Garamond"/>
              <a:cs typeface="EB Garamond"/>
              <a:sym typeface="EB Garamond"/>
            </a:endParaRPr>
          </a:p>
        </p:txBody>
      </p:sp>
      <p:sp>
        <p:nvSpPr>
          <p:cNvPr id="386" name="Google Shape;386;p12"/>
          <p:cNvSpPr/>
          <p:nvPr/>
        </p:nvSpPr>
        <p:spPr>
          <a:xfrm>
            <a:off x="5017740" y="4786313"/>
            <a:ext cx="723900" cy="60960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800">
                <a:solidFill>
                  <a:srgbClr val="FFFFFF"/>
                </a:solidFill>
                <a:latin typeface="EB Garamond"/>
                <a:ea typeface="EB Garamond"/>
                <a:cs typeface="EB Garamond"/>
                <a:sym typeface="EB Garamond"/>
              </a:rPr>
              <a:t>04</a:t>
            </a:r>
            <a:endParaRPr sz="1600">
              <a:solidFill>
                <a:schemeClr val="dk1"/>
              </a:solidFill>
              <a:latin typeface="EB Garamond"/>
              <a:ea typeface="EB Garamond"/>
              <a:cs typeface="EB Garamond"/>
              <a:sym typeface="EB Garamond"/>
            </a:endParaRPr>
          </a:p>
        </p:txBody>
      </p:sp>
      <p:sp>
        <p:nvSpPr>
          <p:cNvPr id="387" name="Google Shape;387;p12"/>
          <p:cNvSpPr/>
          <p:nvPr/>
        </p:nvSpPr>
        <p:spPr>
          <a:xfrm>
            <a:off x="5874990" y="4862513"/>
            <a:ext cx="6048375" cy="304800"/>
          </a:xfrm>
          <a:prstGeom prst="rect">
            <a:avLst/>
          </a:prstGeom>
          <a:noFill/>
          <a:ln>
            <a:noFill/>
          </a:ln>
        </p:spPr>
        <p:txBody>
          <a:bodyPr anchorCtr="0" anchor="ctr" bIns="0" lIns="0" spcFirstLastPara="1" rIns="0" wrap="square" tIns="0">
            <a:noAutofit/>
          </a:bodyPr>
          <a:lstStyle/>
          <a:p>
            <a:pPr indent="0" lvl="0" marL="0" marR="0" rtl="0" algn="l">
              <a:lnSpc>
                <a:spcPct val="110000"/>
              </a:lnSpc>
              <a:spcBef>
                <a:spcPts val="0"/>
              </a:spcBef>
              <a:spcAft>
                <a:spcPts val="0"/>
              </a:spcAft>
              <a:buNone/>
            </a:pPr>
            <a:r>
              <a:rPr b="1" lang="en-US" sz="1800">
                <a:solidFill>
                  <a:srgbClr val="0D1B4C"/>
                </a:solidFill>
                <a:latin typeface="EB Garamond"/>
                <a:ea typeface="EB Garamond"/>
                <a:cs typeface="EB Garamond"/>
                <a:sym typeface="EB Garamond"/>
              </a:rPr>
              <a:t>Thu thập feedback</a:t>
            </a:r>
            <a:endParaRPr sz="1600">
              <a:solidFill>
                <a:schemeClr val="dk1"/>
              </a:solidFill>
              <a:latin typeface="EB Garamond"/>
              <a:ea typeface="EB Garamond"/>
              <a:cs typeface="EB Garamond"/>
              <a:sym typeface="EB Garamond"/>
            </a:endParaRPr>
          </a:p>
        </p:txBody>
      </p:sp>
      <p:sp>
        <p:nvSpPr>
          <p:cNvPr id="388" name="Google Shape;388;p12"/>
          <p:cNvSpPr/>
          <p:nvPr/>
        </p:nvSpPr>
        <p:spPr>
          <a:xfrm>
            <a:off x="5874990" y="5243513"/>
            <a:ext cx="6019800" cy="561975"/>
          </a:xfrm>
          <a:prstGeom prst="rect">
            <a:avLst/>
          </a:prstGeom>
          <a:noFill/>
          <a:ln>
            <a:noFill/>
          </a:ln>
        </p:spPr>
        <p:txBody>
          <a:bodyPr anchorCtr="0" anchor="ctr" bIns="0" lIns="0" spcFirstLastPara="1" rIns="0" wrap="square" tIns="0">
            <a:noAutofit/>
          </a:bodyPr>
          <a:lstStyle/>
          <a:p>
            <a:pPr indent="0" lvl="0" marL="0" marR="0" rtl="0" algn="l">
              <a:lnSpc>
                <a:spcPct val="140000"/>
              </a:lnSpc>
              <a:spcBef>
                <a:spcPts val="0"/>
              </a:spcBef>
              <a:spcAft>
                <a:spcPts val="0"/>
              </a:spcAft>
              <a:buNone/>
            </a:pPr>
            <a:r>
              <a:rPr lang="en-US" sz="1350">
                <a:solidFill>
                  <a:srgbClr val="1C2026"/>
                </a:solidFill>
                <a:latin typeface="EB Garamond"/>
                <a:ea typeface="EB Garamond"/>
                <a:cs typeface="EB Garamond"/>
                <a:sym typeface="EB Garamond"/>
              </a:rPr>
              <a:t>Form khảo sát, group hỗ trợ, cải tiến liên tục dựa trên ý kiến ngườidùng để nâng cao trải nghiệm.</a:t>
            </a:r>
            <a:endParaRPr sz="1600">
              <a:solidFill>
                <a:schemeClr val="dk1"/>
              </a:solidFill>
              <a:latin typeface="EB Garamond"/>
              <a:ea typeface="EB Garamond"/>
              <a:cs typeface="EB Garamond"/>
              <a:sym typeface="EB Garamond"/>
            </a:endParaRP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D1B4C"/>
        </a:solidFill>
      </p:bgPr>
    </p:bg>
    <p:spTree>
      <p:nvGrpSpPr>
        <p:cNvPr id="393" name="Shape 393"/>
        <p:cNvGrpSpPr/>
        <p:nvPr/>
      </p:nvGrpSpPr>
      <p:grpSpPr>
        <a:xfrm>
          <a:off x="0" y="0"/>
          <a:ext cx="0" cy="0"/>
          <a:chOff x="0" y="0"/>
          <a:chExt cx="0" cy="0"/>
        </a:xfrm>
      </p:grpSpPr>
      <p:pic>
        <p:nvPicPr>
          <p:cNvPr descr="https://kimi-web-img.moonshot.cn/img/img.freepik.com/7a2ee23dbd4d8d618d2098b1a7857b38496e429a.jpg" id="394" name="Google Shape;394;p13"/>
          <p:cNvPicPr preferRelativeResize="0"/>
          <p:nvPr/>
        </p:nvPicPr>
        <p:blipFill rotWithShape="1">
          <a:blip r:embed="rId3">
            <a:alphaModFix amt="20000"/>
          </a:blip>
          <a:srcRect b="5487" l="0" r="0" t="5487"/>
          <a:stretch/>
        </p:blipFill>
        <p:spPr>
          <a:xfrm>
            <a:off x="0" y="0"/>
            <a:ext cx="12192000" cy="7230245"/>
          </a:xfrm>
          <a:prstGeom prst="roundRect">
            <a:avLst>
              <a:gd fmla="val 0" name="adj"/>
            </a:avLst>
          </a:prstGeom>
          <a:noFill/>
          <a:ln>
            <a:noFill/>
          </a:ln>
        </p:spPr>
      </p:pic>
      <p:sp>
        <p:nvSpPr>
          <p:cNvPr id="395" name="Google Shape;395;p13"/>
          <p:cNvSpPr/>
          <p:nvPr/>
        </p:nvSpPr>
        <p:spPr>
          <a:xfrm>
            <a:off x="0" y="8473"/>
            <a:ext cx="12192000" cy="7230245"/>
          </a:xfrm>
          <a:custGeom>
            <a:rect b="b" l="l" r="r" t="t"/>
            <a:pathLst>
              <a:path extrusionOk="0" h="7230245" w="12192000">
                <a:moveTo>
                  <a:pt x="0" y="0"/>
                </a:moveTo>
                <a:lnTo>
                  <a:pt x="12192000" y="0"/>
                </a:lnTo>
                <a:lnTo>
                  <a:pt x="12192000" y="7230245"/>
                </a:lnTo>
                <a:lnTo>
                  <a:pt x="0" y="7230245"/>
                </a:lnTo>
                <a:lnTo>
                  <a:pt x="0" y="0"/>
                </a:lnTo>
                <a:close/>
              </a:path>
            </a:pathLst>
          </a:custGeom>
          <a:gradFill>
            <a:gsLst>
              <a:gs pos="0">
                <a:srgbClr val="0D1B4C">
                  <a:alpha val="97647"/>
                </a:srgbClr>
              </a:gs>
              <a:gs pos="50000">
                <a:srgbClr val="295EDF">
                  <a:alpha val="94901"/>
                </a:srgbClr>
              </a:gs>
              <a:gs pos="100000">
                <a:srgbClr val="FF9045">
                  <a:alpha val="89803"/>
                </a:srgbClr>
              </a:gs>
            </a:gsLst>
            <a:lin ang="2700000" scaled="0"/>
          </a:gradFill>
          <a:ln>
            <a:noFill/>
          </a:ln>
        </p:spPr>
      </p:sp>
      <p:sp>
        <p:nvSpPr>
          <p:cNvPr id="396" name="Google Shape;396;p13"/>
          <p:cNvSpPr/>
          <p:nvPr/>
        </p:nvSpPr>
        <p:spPr>
          <a:xfrm>
            <a:off x="2932203" y="1359625"/>
            <a:ext cx="6326464" cy="1301444"/>
          </a:xfrm>
          <a:prstGeom prst="rect">
            <a:avLst/>
          </a:prstGeom>
          <a:noFill/>
          <a:ln>
            <a:noFill/>
          </a:ln>
        </p:spPr>
        <p:txBody>
          <a:bodyPr anchorCtr="0" anchor="ctr" bIns="0" lIns="0" spcFirstLastPara="1" rIns="0" wrap="square" tIns="0">
            <a:noAutofit/>
          </a:bodyPr>
          <a:lstStyle/>
          <a:p>
            <a:pPr indent="0" lvl="0" marL="0" marR="0" rtl="0" algn="ctr">
              <a:lnSpc>
                <a:spcPct val="80000"/>
              </a:lnSpc>
              <a:spcBef>
                <a:spcPts val="0"/>
              </a:spcBef>
              <a:spcAft>
                <a:spcPts val="0"/>
              </a:spcAft>
              <a:buNone/>
            </a:pPr>
            <a:r>
              <a:rPr b="1" lang="en-US" sz="5124">
                <a:solidFill>
                  <a:srgbClr val="FFFFFF"/>
                </a:solidFill>
                <a:latin typeface="Hedvig Letters Sans"/>
                <a:ea typeface="Hedvig Letters Sans"/>
                <a:cs typeface="Hedvig Letters Sans"/>
                <a:sym typeface="Hedvig Letters Sans"/>
              </a:rPr>
              <a:t>Hành trình</a:t>
            </a:r>
            <a:r>
              <a:rPr lang="en-US" sz="1600">
                <a:solidFill>
                  <a:schemeClr val="dk1"/>
                </a:solidFill>
                <a:latin typeface="Calibri"/>
                <a:ea typeface="Calibri"/>
                <a:cs typeface="Calibri"/>
                <a:sym typeface="Calibri"/>
              </a:rPr>
              <a:t> </a:t>
            </a:r>
            <a:r>
              <a:rPr b="1" lang="en-US" sz="5124">
                <a:solidFill>
                  <a:srgbClr val="FFFFFF"/>
                </a:solidFill>
                <a:latin typeface="Hedvig Letters Sans"/>
                <a:ea typeface="Hedvig Letters Sans"/>
                <a:cs typeface="Hedvig Letters Sans"/>
                <a:sym typeface="Hedvig Letters Sans"/>
              </a:rPr>
              <a:t>bắt đầu</a:t>
            </a:r>
            <a:endParaRPr sz="1600">
              <a:solidFill>
                <a:schemeClr val="dk1"/>
              </a:solidFill>
              <a:latin typeface="Calibri"/>
              <a:ea typeface="Calibri"/>
              <a:cs typeface="Calibri"/>
              <a:sym typeface="Calibri"/>
            </a:endParaRPr>
          </a:p>
        </p:txBody>
      </p:sp>
      <p:sp>
        <p:nvSpPr>
          <p:cNvPr id="397" name="Google Shape;397;p13"/>
          <p:cNvSpPr/>
          <p:nvPr/>
        </p:nvSpPr>
        <p:spPr>
          <a:xfrm>
            <a:off x="5374388" y="2683663"/>
            <a:ext cx="1446049" cy="54227"/>
          </a:xfrm>
          <a:custGeom>
            <a:rect b="b" l="l" r="r" t="t"/>
            <a:pathLst>
              <a:path extrusionOk="0" h="54227" w="1446049">
                <a:moveTo>
                  <a:pt x="27113" y="0"/>
                </a:moveTo>
                <a:lnTo>
                  <a:pt x="1418936" y="0"/>
                </a:lnTo>
                <a:cubicBezTo>
                  <a:pt x="1433910" y="0"/>
                  <a:pt x="1446049" y="12139"/>
                  <a:pt x="1446049" y="27113"/>
                </a:cubicBezTo>
                <a:lnTo>
                  <a:pt x="1446049" y="27113"/>
                </a:lnTo>
                <a:cubicBezTo>
                  <a:pt x="1446049" y="42088"/>
                  <a:pt x="1433910" y="54227"/>
                  <a:pt x="1418936" y="54227"/>
                </a:cubicBezTo>
                <a:lnTo>
                  <a:pt x="27113" y="54227"/>
                </a:lnTo>
                <a:cubicBezTo>
                  <a:pt x="12149" y="54227"/>
                  <a:pt x="0" y="42078"/>
                  <a:pt x="0" y="27113"/>
                </a:cubicBezTo>
                <a:lnTo>
                  <a:pt x="0" y="27113"/>
                </a:lnTo>
                <a:cubicBezTo>
                  <a:pt x="0" y="12149"/>
                  <a:pt x="12149" y="0"/>
                  <a:pt x="27113" y="0"/>
                </a:cubicBez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8" name="Google Shape;398;p13"/>
          <p:cNvSpPr/>
          <p:nvPr/>
        </p:nvSpPr>
        <p:spPr>
          <a:xfrm>
            <a:off x="3027100" y="3099403"/>
            <a:ext cx="6136670" cy="1319520"/>
          </a:xfrm>
          <a:prstGeom prst="rect">
            <a:avLst/>
          </a:prstGeom>
          <a:noFill/>
          <a:ln>
            <a:noFill/>
          </a:ln>
        </p:spPr>
        <p:txBody>
          <a:bodyPr anchorCtr="0" anchor="ctr" bIns="0" lIns="0" spcFirstLastPara="1" rIns="0" wrap="square" tIns="0">
            <a:noAutofit/>
          </a:bodyPr>
          <a:lstStyle/>
          <a:p>
            <a:pPr indent="0" lvl="0" marL="0" marR="0" rtl="0" algn="ctr">
              <a:lnSpc>
                <a:spcPct val="140000"/>
              </a:lnSpc>
              <a:spcBef>
                <a:spcPts val="0"/>
              </a:spcBef>
              <a:spcAft>
                <a:spcPts val="0"/>
              </a:spcAft>
              <a:buNone/>
            </a:pPr>
            <a:r>
              <a:rPr lang="en-US" sz="2135">
                <a:solidFill>
                  <a:srgbClr val="FFFFFF"/>
                </a:solidFill>
                <a:latin typeface="Quattrocento Sans"/>
                <a:ea typeface="Quattrocento Sans"/>
                <a:cs typeface="Quattrocento Sans"/>
                <a:sym typeface="Quattrocento Sans"/>
              </a:rPr>
              <a:t>FPT Student Hub không chỉ là một website –</a:t>
            </a:r>
            <a:endParaRPr sz="1600">
              <a:solidFill>
                <a:schemeClr val="dk1"/>
              </a:solidFill>
              <a:latin typeface="Calibri"/>
              <a:ea typeface="Calibri"/>
              <a:cs typeface="Calibri"/>
              <a:sym typeface="Calibri"/>
            </a:endParaRPr>
          </a:p>
          <a:p>
            <a:pPr indent="0" lvl="0" marL="0" marR="0" rtl="0" algn="ctr">
              <a:lnSpc>
                <a:spcPct val="140000"/>
              </a:lnSpc>
              <a:spcBef>
                <a:spcPts val="0"/>
              </a:spcBef>
              <a:spcAft>
                <a:spcPts val="0"/>
              </a:spcAft>
              <a:buNone/>
            </a:pPr>
            <a:r>
              <a:rPr lang="en-US" sz="2135">
                <a:solidFill>
                  <a:srgbClr val="FF9045"/>
                </a:solidFill>
                <a:latin typeface="Quattrocento Sans"/>
                <a:ea typeface="Quattrocento Sans"/>
                <a:cs typeface="Quattrocento Sans"/>
                <a:sym typeface="Quattrocento Sans"/>
              </a:rPr>
              <a:t>đó là cánh cổng kết nối toàn bộ hành trình sinh viên</a:t>
            </a:r>
            <a:endParaRPr sz="1600">
              <a:solidFill>
                <a:schemeClr val="dk1"/>
              </a:solidFill>
              <a:latin typeface="Calibri"/>
              <a:ea typeface="Calibri"/>
              <a:cs typeface="Calibri"/>
              <a:sym typeface="Calibri"/>
            </a:endParaRPr>
          </a:p>
          <a:p>
            <a:pPr indent="0" lvl="0" marL="0" marR="0" rtl="0" algn="ctr">
              <a:lnSpc>
                <a:spcPct val="140000"/>
              </a:lnSpc>
              <a:spcBef>
                <a:spcPts val="0"/>
              </a:spcBef>
              <a:spcAft>
                <a:spcPts val="0"/>
              </a:spcAft>
              <a:buNone/>
            </a:pPr>
            <a:r>
              <a:rPr lang="en-US" sz="2135">
                <a:solidFill>
                  <a:srgbClr val="FFFFFF"/>
                </a:solidFill>
                <a:latin typeface="Quattrocento Sans"/>
                <a:ea typeface="Quattrocento Sans"/>
                <a:cs typeface="Quattrocento Sans"/>
                <a:sym typeface="Quattrocento Sans"/>
              </a:rPr>
              <a:t>Đại học FPT</a:t>
            </a:r>
            <a:endParaRPr sz="1600">
              <a:solidFill>
                <a:schemeClr val="dk1"/>
              </a:solidFill>
              <a:latin typeface="Calibri"/>
              <a:ea typeface="Calibri"/>
              <a:cs typeface="Calibri"/>
              <a:sym typeface="Calibri"/>
            </a:endParaRPr>
          </a:p>
        </p:txBody>
      </p:sp>
      <p:sp>
        <p:nvSpPr>
          <p:cNvPr id="399" name="Google Shape;399;p13"/>
          <p:cNvSpPr/>
          <p:nvPr/>
        </p:nvSpPr>
        <p:spPr>
          <a:xfrm>
            <a:off x="2544566" y="5076423"/>
            <a:ext cx="7103715" cy="1527389"/>
          </a:xfrm>
          <a:custGeom>
            <a:rect b="b" l="l" r="r" t="t"/>
            <a:pathLst>
              <a:path extrusionOk="0" h="1527389" w="7103715">
                <a:moveTo>
                  <a:pt x="216905" y="0"/>
                </a:moveTo>
                <a:lnTo>
                  <a:pt x="6886811" y="0"/>
                </a:lnTo>
                <a:cubicBezTo>
                  <a:pt x="7006604" y="0"/>
                  <a:pt x="7103715" y="97111"/>
                  <a:pt x="7103715" y="216905"/>
                </a:cubicBezTo>
                <a:lnTo>
                  <a:pt x="7103715" y="1310485"/>
                </a:lnTo>
                <a:cubicBezTo>
                  <a:pt x="7103715" y="1430278"/>
                  <a:pt x="7006604" y="1527389"/>
                  <a:pt x="6886811" y="1527389"/>
                </a:cubicBezTo>
                <a:lnTo>
                  <a:pt x="216905" y="1527389"/>
                </a:lnTo>
                <a:cubicBezTo>
                  <a:pt x="97111" y="1527389"/>
                  <a:pt x="0" y="1430278"/>
                  <a:pt x="0" y="1310485"/>
                </a:cubicBezTo>
                <a:lnTo>
                  <a:pt x="0" y="216905"/>
                </a:lnTo>
                <a:cubicBezTo>
                  <a:pt x="0" y="97192"/>
                  <a:pt x="97192" y="0"/>
                  <a:pt x="216905" y="0"/>
                </a:cubicBezTo>
                <a:close/>
              </a:path>
            </a:pathLst>
          </a:custGeom>
          <a:solidFill>
            <a:srgbClr val="FFFFFF">
              <a:alpha val="9803"/>
            </a:srgbClr>
          </a:solidFill>
          <a:ln cap="flat" cmpd="sng" w="12700">
            <a:solidFill>
              <a:srgbClr val="FFFFFF">
                <a:alpha val="20000"/>
              </a:srgbClr>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0" name="Google Shape;400;p13"/>
          <p:cNvSpPr/>
          <p:nvPr/>
        </p:nvSpPr>
        <p:spPr>
          <a:xfrm>
            <a:off x="2856370" y="5442454"/>
            <a:ext cx="6480107" cy="289210"/>
          </a:xfrm>
          <a:prstGeom prst="rect">
            <a:avLst/>
          </a:prstGeom>
          <a:noFill/>
          <a:ln>
            <a:noFill/>
          </a:ln>
        </p:spPr>
        <p:txBody>
          <a:bodyPr anchorCtr="0" anchor="ctr" bIns="0" lIns="0" spcFirstLastPara="1" rIns="0" wrap="square" tIns="0">
            <a:noAutofit/>
          </a:bodyPr>
          <a:lstStyle/>
          <a:p>
            <a:pPr indent="0" lvl="0" marL="0" marR="0" rtl="0" algn="ctr">
              <a:lnSpc>
                <a:spcPct val="110000"/>
              </a:lnSpc>
              <a:spcBef>
                <a:spcPts val="0"/>
              </a:spcBef>
              <a:spcAft>
                <a:spcPts val="0"/>
              </a:spcAft>
              <a:buNone/>
            </a:pPr>
            <a:r>
              <a:rPr b="1" lang="en-US" sz="1708">
                <a:solidFill>
                  <a:srgbClr val="FFFFFF"/>
                </a:solidFill>
                <a:latin typeface="Quattrocento Sans"/>
                <a:ea typeface="Quattrocento Sans"/>
                <a:cs typeface="Quattrocento Sans"/>
                <a:sym typeface="Quattrocento Sans"/>
              </a:rPr>
              <a:t>Cùng nhau xây dựng cộng đồng kết nối, thông minh và tiện lợi hơn</a:t>
            </a:r>
            <a:endParaRPr sz="1600">
              <a:solidFill>
                <a:schemeClr val="dk1"/>
              </a:solidFill>
              <a:latin typeface="Calibri"/>
              <a:ea typeface="Calibri"/>
              <a:cs typeface="Calibri"/>
              <a:sym typeface="Calibri"/>
            </a:endParaRPr>
          </a:p>
        </p:txBody>
      </p:sp>
      <p:sp>
        <p:nvSpPr>
          <p:cNvPr id="401" name="Google Shape;401;p13"/>
          <p:cNvSpPr/>
          <p:nvPr/>
        </p:nvSpPr>
        <p:spPr>
          <a:xfrm>
            <a:off x="3265049" y="6020873"/>
            <a:ext cx="144605" cy="144605"/>
          </a:xfrm>
          <a:custGeom>
            <a:rect b="b" l="l" r="r" t="t"/>
            <a:pathLst>
              <a:path extrusionOk="0" h="144605" w="144605">
                <a:moveTo>
                  <a:pt x="13557" y="18076"/>
                </a:moveTo>
                <a:cubicBezTo>
                  <a:pt x="6072" y="18076"/>
                  <a:pt x="0" y="24148"/>
                  <a:pt x="0" y="31632"/>
                </a:cubicBezTo>
                <a:cubicBezTo>
                  <a:pt x="0" y="35897"/>
                  <a:pt x="2005" y="39908"/>
                  <a:pt x="5423" y="42478"/>
                </a:cubicBezTo>
                <a:lnTo>
                  <a:pt x="64168" y="86537"/>
                </a:lnTo>
                <a:cubicBezTo>
                  <a:pt x="68998" y="90152"/>
                  <a:pt x="75607" y="90152"/>
                  <a:pt x="80436" y="86537"/>
                </a:cubicBezTo>
                <a:lnTo>
                  <a:pt x="139182" y="42478"/>
                </a:lnTo>
                <a:cubicBezTo>
                  <a:pt x="142600" y="39908"/>
                  <a:pt x="144605" y="35897"/>
                  <a:pt x="144605" y="31632"/>
                </a:cubicBezTo>
                <a:cubicBezTo>
                  <a:pt x="144605" y="24148"/>
                  <a:pt x="138533" y="18076"/>
                  <a:pt x="131048" y="18076"/>
                </a:cubicBezTo>
                <a:lnTo>
                  <a:pt x="13557" y="18076"/>
                </a:lnTo>
                <a:close/>
                <a:moveTo>
                  <a:pt x="0" y="55357"/>
                </a:moveTo>
                <a:lnTo>
                  <a:pt x="0" y="108454"/>
                </a:lnTo>
                <a:cubicBezTo>
                  <a:pt x="0" y="118423"/>
                  <a:pt x="8106" y="126529"/>
                  <a:pt x="18076" y="126529"/>
                </a:cubicBezTo>
                <a:lnTo>
                  <a:pt x="126529" y="126529"/>
                </a:lnTo>
                <a:cubicBezTo>
                  <a:pt x="136499" y="126529"/>
                  <a:pt x="144605" y="118423"/>
                  <a:pt x="144605" y="108454"/>
                </a:cubicBezTo>
                <a:lnTo>
                  <a:pt x="144605" y="55357"/>
                </a:lnTo>
                <a:lnTo>
                  <a:pt x="88570" y="97382"/>
                </a:lnTo>
                <a:cubicBezTo>
                  <a:pt x="78940" y="104613"/>
                  <a:pt x="65665" y="104613"/>
                  <a:pt x="56034" y="97382"/>
                </a:cubicBezTo>
                <a:lnTo>
                  <a:pt x="0" y="55357"/>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p13"/>
          <p:cNvSpPr/>
          <p:nvPr/>
        </p:nvSpPr>
        <p:spPr>
          <a:xfrm>
            <a:off x="3459361" y="5966646"/>
            <a:ext cx="1708145" cy="253059"/>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281">
                <a:solidFill>
                  <a:srgbClr val="FFFFFF"/>
                </a:solidFill>
                <a:latin typeface="Quattrocento Sans"/>
                <a:ea typeface="Quattrocento Sans"/>
                <a:cs typeface="Quattrocento Sans"/>
                <a:sym typeface="Quattrocento Sans"/>
              </a:rPr>
              <a:t>contact@fpthub.edu.vn</a:t>
            </a:r>
            <a:endParaRPr sz="1600">
              <a:solidFill>
                <a:schemeClr val="dk1"/>
              </a:solidFill>
              <a:latin typeface="Calibri"/>
              <a:ea typeface="Calibri"/>
              <a:cs typeface="Calibri"/>
              <a:sym typeface="Calibri"/>
            </a:endParaRPr>
          </a:p>
        </p:txBody>
      </p:sp>
      <p:sp>
        <p:nvSpPr>
          <p:cNvPr id="403" name="Google Shape;403;p13"/>
          <p:cNvSpPr/>
          <p:nvPr/>
        </p:nvSpPr>
        <p:spPr>
          <a:xfrm>
            <a:off x="5412092" y="5948571"/>
            <a:ext cx="36151" cy="289210"/>
          </a:xfrm>
          <a:custGeom>
            <a:rect b="b" l="l" r="r" t="t"/>
            <a:pathLst>
              <a:path extrusionOk="0" h="289210" w="36151">
                <a:moveTo>
                  <a:pt x="18076" y="0"/>
                </a:moveTo>
                <a:lnTo>
                  <a:pt x="18076" y="0"/>
                </a:lnTo>
                <a:cubicBezTo>
                  <a:pt x="28058" y="0"/>
                  <a:pt x="36151" y="8093"/>
                  <a:pt x="36151" y="18076"/>
                </a:cubicBezTo>
                <a:lnTo>
                  <a:pt x="36151" y="271134"/>
                </a:lnTo>
                <a:cubicBezTo>
                  <a:pt x="36151" y="281117"/>
                  <a:pt x="28058" y="289210"/>
                  <a:pt x="18076" y="289210"/>
                </a:cubicBezTo>
                <a:lnTo>
                  <a:pt x="18076" y="289210"/>
                </a:lnTo>
                <a:cubicBezTo>
                  <a:pt x="8093" y="289210"/>
                  <a:pt x="0" y="281117"/>
                  <a:pt x="0" y="271134"/>
                </a:cubicBezTo>
                <a:lnTo>
                  <a:pt x="0" y="18076"/>
                </a:lnTo>
                <a:cubicBezTo>
                  <a:pt x="0" y="8093"/>
                  <a:pt x="8093" y="0"/>
                  <a:pt x="18076" y="0"/>
                </a:cubicBezTo>
                <a:close/>
              </a:path>
            </a:pathLst>
          </a:custGeom>
          <a:solidFill>
            <a:srgbClr val="FFFFFF">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4" name="Google Shape;404;p13"/>
          <p:cNvSpPr/>
          <p:nvPr/>
        </p:nvSpPr>
        <p:spPr>
          <a:xfrm>
            <a:off x="5755529" y="6020873"/>
            <a:ext cx="144605" cy="144605"/>
          </a:xfrm>
          <a:custGeom>
            <a:rect b="b" l="l" r="r" t="t"/>
            <a:pathLst>
              <a:path extrusionOk="0" h="144605" w="144605">
                <a:moveTo>
                  <a:pt x="99388" y="79081"/>
                </a:moveTo>
                <a:lnTo>
                  <a:pt x="45471" y="79081"/>
                </a:lnTo>
                <a:cubicBezTo>
                  <a:pt x="46291" y="97298"/>
                  <a:pt x="50329" y="114074"/>
                  <a:pt x="56063" y="126360"/>
                </a:cubicBezTo>
                <a:cubicBezTo>
                  <a:pt x="59282" y="133279"/>
                  <a:pt x="62756" y="138165"/>
                  <a:pt x="65976" y="141159"/>
                </a:cubicBezTo>
                <a:cubicBezTo>
                  <a:pt x="69139" y="144125"/>
                  <a:pt x="71314" y="144605"/>
                  <a:pt x="72444" y="144605"/>
                </a:cubicBezTo>
                <a:cubicBezTo>
                  <a:pt x="73573" y="144605"/>
                  <a:pt x="75748" y="144125"/>
                  <a:pt x="78911" y="141159"/>
                </a:cubicBezTo>
                <a:cubicBezTo>
                  <a:pt x="82131" y="138165"/>
                  <a:pt x="85605" y="133251"/>
                  <a:pt x="88825" y="126360"/>
                </a:cubicBezTo>
                <a:cubicBezTo>
                  <a:pt x="94558" y="114074"/>
                  <a:pt x="98597" y="97298"/>
                  <a:pt x="99416" y="79081"/>
                </a:cubicBezTo>
                <a:close/>
                <a:moveTo>
                  <a:pt x="45443" y="65524"/>
                </a:moveTo>
                <a:lnTo>
                  <a:pt x="99359" y="65524"/>
                </a:lnTo>
                <a:cubicBezTo>
                  <a:pt x="98569" y="47307"/>
                  <a:pt x="94530" y="30531"/>
                  <a:pt x="88796" y="18245"/>
                </a:cubicBezTo>
                <a:cubicBezTo>
                  <a:pt x="85577" y="11354"/>
                  <a:pt x="82103" y="6439"/>
                  <a:pt x="78883" y="3446"/>
                </a:cubicBezTo>
                <a:cubicBezTo>
                  <a:pt x="75720" y="480"/>
                  <a:pt x="73545" y="0"/>
                  <a:pt x="72415" y="0"/>
                </a:cubicBezTo>
                <a:cubicBezTo>
                  <a:pt x="71286" y="0"/>
                  <a:pt x="69111" y="480"/>
                  <a:pt x="65948" y="3446"/>
                </a:cubicBezTo>
                <a:cubicBezTo>
                  <a:pt x="62728" y="6439"/>
                  <a:pt x="59254" y="11354"/>
                  <a:pt x="56034" y="18245"/>
                </a:cubicBezTo>
                <a:cubicBezTo>
                  <a:pt x="50301" y="30531"/>
                  <a:pt x="46262" y="47307"/>
                  <a:pt x="45443" y="65524"/>
                </a:cubicBezTo>
                <a:close/>
                <a:moveTo>
                  <a:pt x="31887" y="65524"/>
                </a:moveTo>
                <a:cubicBezTo>
                  <a:pt x="32875" y="41348"/>
                  <a:pt x="39117" y="18895"/>
                  <a:pt x="48239" y="4152"/>
                </a:cubicBezTo>
                <a:cubicBezTo>
                  <a:pt x="22227" y="13359"/>
                  <a:pt x="3079" y="37055"/>
                  <a:pt x="424" y="65524"/>
                </a:cubicBezTo>
                <a:lnTo>
                  <a:pt x="31887" y="65524"/>
                </a:lnTo>
                <a:close/>
                <a:moveTo>
                  <a:pt x="424" y="79081"/>
                </a:moveTo>
                <a:cubicBezTo>
                  <a:pt x="3079" y="107550"/>
                  <a:pt x="22227" y="131246"/>
                  <a:pt x="48239" y="140453"/>
                </a:cubicBezTo>
                <a:cubicBezTo>
                  <a:pt x="39117" y="125710"/>
                  <a:pt x="32875" y="103257"/>
                  <a:pt x="31887" y="79081"/>
                </a:cubicBezTo>
                <a:lnTo>
                  <a:pt x="424" y="79081"/>
                </a:lnTo>
                <a:close/>
                <a:moveTo>
                  <a:pt x="112944" y="79081"/>
                </a:moveTo>
                <a:cubicBezTo>
                  <a:pt x="111956" y="103257"/>
                  <a:pt x="105714" y="125710"/>
                  <a:pt x="96592" y="140453"/>
                </a:cubicBezTo>
                <a:cubicBezTo>
                  <a:pt x="122603" y="131218"/>
                  <a:pt x="141752" y="107550"/>
                  <a:pt x="144407" y="79081"/>
                </a:cubicBezTo>
                <a:lnTo>
                  <a:pt x="112944" y="79081"/>
                </a:lnTo>
                <a:close/>
                <a:moveTo>
                  <a:pt x="144407" y="65524"/>
                </a:moveTo>
                <a:cubicBezTo>
                  <a:pt x="141752" y="37055"/>
                  <a:pt x="122603" y="13359"/>
                  <a:pt x="96592" y="4152"/>
                </a:cubicBezTo>
                <a:cubicBezTo>
                  <a:pt x="105714" y="18895"/>
                  <a:pt x="111956" y="41348"/>
                  <a:pt x="112944" y="65524"/>
                </a:cubicBezTo>
                <a:lnTo>
                  <a:pt x="144407" y="65524"/>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3"/>
          <p:cNvSpPr/>
          <p:nvPr/>
        </p:nvSpPr>
        <p:spPr>
          <a:xfrm>
            <a:off x="5949842" y="5966646"/>
            <a:ext cx="1057423" cy="253059"/>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281">
                <a:solidFill>
                  <a:srgbClr val="FFFFFF"/>
                </a:solidFill>
                <a:latin typeface="Quattrocento Sans"/>
                <a:ea typeface="Quattrocento Sans"/>
                <a:cs typeface="Quattrocento Sans"/>
                <a:sym typeface="Quattrocento Sans"/>
              </a:rPr>
              <a:t>fpthub.edu.vn</a:t>
            </a:r>
            <a:endParaRPr sz="1600">
              <a:solidFill>
                <a:schemeClr val="dk1"/>
              </a:solidFill>
              <a:latin typeface="Calibri"/>
              <a:ea typeface="Calibri"/>
              <a:cs typeface="Calibri"/>
              <a:sym typeface="Calibri"/>
            </a:endParaRPr>
          </a:p>
        </p:txBody>
      </p:sp>
      <p:sp>
        <p:nvSpPr>
          <p:cNvPr id="406" name="Google Shape;406;p13"/>
          <p:cNvSpPr/>
          <p:nvPr/>
        </p:nvSpPr>
        <p:spPr>
          <a:xfrm>
            <a:off x="7259476" y="5948571"/>
            <a:ext cx="36151" cy="289210"/>
          </a:xfrm>
          <a:custGeom>
            <a:rect b="b" l="l" r="r" t="t"/>
            <a:pathLst>
              <a:path extrusionOk="0" h="289210" w="36151">
                <a:moveTo>
                  <a:pt x="18076" y="0"/>
                </a:moveTo>
                <a:lnTo>
                  <a:pt x="18076" y="0"/>
                </a:lnTo>
                <a:cubicBezTo>
                  <a:pt x="28058" y="0"/>
                  <a:pt x="36151" y="8093"/>
                  <a:pt x="36151" y="18076"/>
                </a:cubicBezTo>
                <a:lnTo>
                  <a:pt x="36151" y="271134"/>
                </a:lnTo>
                <a:cubicBezTo>
                  <a:pt x="36151" y="281117"/>
                  <a:pt x="28058" y="289210"/>
                  <a:pt x="18076" y="289210"/>
                </a:cubicBezTo>
                <a:lnTo>
                  <a:pt x="18076" y="289210"/>
                </a:lnTo>
                <a:cubicBezTo>
                  <a:pt x="8093" y="289210"/>
                  <a:pt x="0" y="281117"/>
                  <a:pt x="0" y="271134"/>
                </a:cubicBezTo>
                <a:lnTo>
                  <a:pt x="0" y="18076"/>
                </a:lnTo>
                <a:cubicBezTo>
                  <a:pt x="0" y="8093"/>
                  <a:pt x="8093" y="0"/>
                  <a:pt x="18076" y="0"/>
                </a:cubicBezTo>
                <a:close/>
              </a:path>
            </a:pathLst>
          </a:custGeom>
          <a:solidFill>
            <a:srgbClr val="FFFFFF">
              <a:alpha val="29803"/>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7" name="Google Shape;407;p13"/>
          <p:cNvSpPr/>
          <p:nvPr/>
        </p:nvSpPr>
        <p:spPr>
          <a:xfrm>
            <a:off x="7602913" y="6020873"/>
            <a:ext cx="144605" cy="144605"/>
          </a:xfrm>
          <a:custGeom>
            <a:rect b="b" l="l" r="r" t="t"/>
            <a:pathLst>
              <a:path extrusionOk="0" h="144605" w="144605">
                <a:moveTo>
                  <a:pt x="45246" y="7061"/>
                </a:moveTo>
                <a:cubicBezTo>
                  <a:pt x="43014" y="1723"/>
                  <a:pt x="37196" y="-1101"/>
                  <a:pt x="31661" y="395"/>
                </a:cubicBezTo>
                <a:lnTo>
                  <a:pt x="30107" y="819"/>
                </a:lnTo>
                <a:cubicBezTo>
                  <a:pt x="11862" y="5790"/>
                  <a:pt x="-3728" y="23470"/>
                  <a:pt x="819" y="44991"/>
                </a:cubicBezTo>
                <a:cubicBezTo>
                  <a:pt x="11297" y="94417"/>
                  <a:pt x="50188" y="133308"/>
                  <a:pt x="99614" y="143786"/>
                </a:cubicBezTo>
                <a:cubicBezTo>
                  <a:pt x="121163" y="148361"/>
                  <a:pt x="138815" y="132743"/>
                  <a:pt x="143786" y="114498"/>
                </a:cubicBezTo>
                <a:lnTo>
                  <a:pt x="144209" y="112944"/>
                </a:lnTo>
                <a:cubicBezTo>
                  <a:pt x="145735" y="107380"/>
                  <a:pt x="142882" y="101562"/>
                  <a:pt x="137572" y="99359"/>
                </a:cubicBezTo>
                <a:lnTo>
                  <a:pt x="110092" y="87921"/>
                </a:lnTo>
                <a:cubicBezTo>
                  <a:pt x="105432" y="85972"/>
                  <a:pt x="100037" y="87328"/>
                  <a:pt x="96817" y="91254"/>
                </a:cubicBezTo>
                <a:lnTo>
                  <a:pt x="85916" y="104584"/>
                </a:lnTo>
                <a:cubicBezTo>
                  <a:pt x="66061" y="94728"/>
                  <a:pt x="50075" y="78234"/>
                  <a:pt x="40896" y="57983"/>
                </a:cubicBezTo>
                <a:lnTo>
                  <a:pt x="53380" y="47816"/>
                </a:lnTo>
                <a:cubicBezTo>
                  <a:pt x="57305" y="44624"/>
                  <a:pt x="58633" y="39230"/>
                  <a:pt x="56712" y="34541"/>
                </a:cubicBezTo>
                <a:lnTo>
                  <a:pt x="45246" y="7061"/>
                </a:lnTo>
                <a:close/>
              </a:path>
            </a:pathLst>
          </a:custGeom>
          <a:solidFill>
            <a:srgbClr val="FF9045"/>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8" name="Google Shape;408;p13"/>
          <p:cNvSpPr/>
          <p:nvPr/>
        </p:nvSpPr>
        <p:spPr>
          <a:xfrm>
            <a:off x="7797226" y="5966646"/>
            <a:ext cx="1192990" cy="253059"/>
          </a:xfrm>
          <a:prstGeom prst="rect">
            <a:avLst/>
          </a:prstGeom>
          <a:noFill/>
          <a:ln>
            <a:noFill/>
          </a:ln>
        </p:spPr>
        <p:txBody>
          <a:bodyPr anchorCtr="0" anchor="ctr" bIns="0" lIns="0" spcFirstLastPara="1" rIns="0" wrap="square" tIns="0">
            <a:noAutofit/>
          </a:bodyPr>
          <a:lstStyle/>
          <a:p>
            <a:pPr indent="0" lvl="0" marL="0" marR="0" rtl="0" algn="ctr">
              <a:lnSpc>
                <a:spcPct val="130000"/>
              </a:lnSpc>
              <a:spcBef>
                <a:spcPts val="0"/>
              </a:spcBef>
              <a:spcAft>
                <a:spcPts val="0"/>
              </a:spcAft>
              <a:buNone/>
            </a:pPr>
            <a:r>
              <a:rPr lang="en-US" sz="1281">
                <a:solidFill>
                  <a:srgbClr val="FFFFFF"/>
                </a:solidFill>
                <a:latin typeface="Quattrocento Sans"/>
                <a:ea typeface="Quattrocento Sans"/>
                <a:cs typeface="Quattrocento Sans"/>
                <a:sym typeface="Quattrocento Sans"/>
              </a:rPr>
              <a:t>+84 123 456 789</a:t>
            </a:r>
            <a:endParaRPr sz="1600">
              <a:solidFill>
                <a:schemeClr val="dk1"/>
              </a:solidFill>
              <a:latin typeface="Calibri"/>
              <a:ea typeface="Calibri"/>
              <a:cs typeface="Calibri"/>
              <a:sym typeface="Calibri"/>
            </a:endParaRPr>
          </a:p>
        </p:txBody>
      </p:sp>
      <p:sp>
        <p:nvSpPr>
          <p:cNvPr id="409" name="Google Shape;409;p13"/>
          <p:cNvSpPr/>
          <p:nvPr/>
        </p:nvSpPr>
        <p:spPr>
          <a:xfrm>
            <a:off x="4858668" y="6969843"/>
            <a:ext cx="2476359" cy="253059"/>
          </a:xfrm>
          <a:prstGeom prst="rect">
            <a:avLst/>
          </a:prstGeom>
          <a:noFill/>
          <a:ln>
            <a:noFill/>
          </a:ln>
        </p:spPr>
        <p:txBody>
          <a:bodyPr anchorCtr="0" anchor="ctr" bIns="0" lIns="0" spcFirstLastPara="1" rIns="0" wrap="square" tIns="0">
            <a:noAutofit/>
          </a:bodyPr>
          <a:lstStyle/>
          <a:p>
            <a:pPr indent="0" lvl="0" marL="0" marR="0" rtl="0" algn="ctr">
              <a:lnSpc>
                <a:spcPct val="120000"/>
              </a:lnSpc>
              <a:spcBef>
                <a:spcPts val="0"/>
              </a:spcBef>
              <a:spcAft>
                <a:spcPts val="0"/>
              </a:spcAft>
              <a:buNone/>
            </a:pPr>
            <a:r>
              <a:rPr lang="en-US" sz="1423">
                <a:solidFill>
                  <a:srgbClr val="FFFFFF"/>
                </a:solidFill>
                <a:latin typeface="Quattrocento Sans"/>
                <a:ea typeface="Quattrocento Sans"/>
                <a:cs typeface="Quattrocento Sans"/>
                <a:sym typeface="Quattrocento Sans"/>
              </a:rPr>
              <a:t>Cảm ơn </a:t>
            </a:r>
            <a:endParaRPr sz="1600">
              <a:solidFill>
                <a:schemeClr val="dk1"/>
              </a:solidFill>
              <a:latin typeface="Calibri"/>
              <a:ea typeface="Calibri"/>
              <a:cs typeface="Calibri"/>
              <a:sym typeface="Calibri"/>
            </a:endParaRPr>
          </a:p>
        </p:txBody>
      </p:sp>
    </p:spTree>
  </p:cSld>
  <p:clrMapOvr>
    <a:masterClrMapping/>
  </p:clrMapOvr>
  <p:transition>
    <p:fade/>
  </p:transition>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ustom Theme">
  <a:themeElements>
    <a:clrScheme name="Custom">
      <a:dk1>
        <a:srgbClr val="000000"/>
      </a:dk1>
      <a:lt1>
        <a:srgbClr val="FFFFFF"/>
      </a:lt1>
      <a:dk2>
        <a:srgbClr val="333333"/>
      </a:dk2>
      <a:lt2>
        <a:srgbClr val="EEEEEE"/>
      </a:lt2>
      <a:accent1>
        <a:srgbClr val="8DAAC2"/>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2026-01-25T14:08:00Z</dcterms:created>
  <dc:creator>Kimi</dc:creator>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IGC">
    <vt:lpwstr>{"Label":"FPT STUDENT HUB - Project Proposal","ContentProducer":"001191110108MACG2KBH8F10000","ProduceID":"19bf56ed-d2b2-8e3b-8000-000044b72d62","ReservedCode1":"","ContentPropagator":"001191110108MACG2KBH8F20000","PropagateID":"19bf56ed-d2b2-8e3b-8000-000044b72d62","ReservedCode2":""}</vt:lpwstr>
  </property>
</Properties>
</file>